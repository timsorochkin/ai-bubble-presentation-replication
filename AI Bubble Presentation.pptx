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3" r:id="rId2"/>
  </p:sldMasterIdLst>
  <p:notesMasterIdLst>
    <p:notesMasterId r:id="rId32"/>
  </p:notesMasterIdLst>
  <p:sldIdLst>
    <p:sldId id="256" r:id="rId3"/>
    <p:sldId id="259" r:id="rId4"/>
    <p:sldId id="257" r:id="rId5"/>
    <p:sldId id="283" r:id="rId6"/>
    <p:sldId id="258" r:id="rId7"/>
    <p:sldId id="279" r:id="rId8"/>
    <p:sldId id="282" r:id="rId9"/>
    <p:sldId id="281" r:id="rId10"/>
    <p:sldId id="261" r:id="rId11"/>
    <p:sldId id="262" r:id="rId12"/>
    <p:sldId id="274" r:id="rId13"/>
    <p:sldId id="263" r:id="rId14"/>
    <p:sldId id="264" r:id="rId15"/>
    <p:sldId id="600" r:id="rId16"/>
    <p:sldId id="265" r:id="rId17"/>
    <p:sldId id="602" r:id="rId18"/>
    <p:sldId id="605" r:id="rId19"/>
    <p:sldId id="603" r:id="rId20"/>
    <p:sldId id="266" r:id="rId21"/>
    <p:sldId id="275" r:id="rId22"/>
    <p:sldId id="267" r:id="rId23"/>
    <p:sldId id="268" r:id="rId24"/>
    <p:sldId id="276" r:id="rId25"/>
    <p:sldId id="277" r:id="rId26"/>
    <p:sldId id="269" r:id="rId27"/>
    <p:sldId id="273" r:id="rId28"/>
    <p:sldId id="604" r:id="rId29"/>
    <p:sldId id="270" r:id="rId30"/>
    <p:sldId id="271" r:id="rId3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34153" autoAdjust="0"/>
    <p:restoredTop sz="94610"/>
  </p:normalViewPr>
  <p:slideViewPr>
    <p:cSldViewPr snapToGrid="0" snapToObjects="1">
      <p:cViewPr varScale="1">
        <p:scale>
          <a:sx n="87" d="100"/>
          <a:sy n="87" d="100"/>
        </p:scale>
        <p:origin x="64" y="5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viewProps" Target="view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heme" Target="theme/theme1.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01949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BIS Annual Economic Report 2026, Chapter I, Graph 11.C on printed page 23, "Boom-bust cycles are a regular feature of past major innovations". The additional notes to graphs on printed page 35 specify the data series and trough years: canal mania = US canal construction spending, 1835; railway mania = GB real investment, 1843; roaring 20s = US private fixed asset investment, 1921; dotcom boom = US private fixed investment in information processing equipment and software, 1995; AI boom = AI hyperscalers capital expenditure, 2023. AI hyperscalers 2026 capital expenditure comes from earnings calls and press releases. Y-axis is ratio to the starting trough, not dollars, not share of GDP. Both numerator definitions and baselines differ across booms. Use the chart only to illustrate investment surges and historical reversals, not to rank absolute scale.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Research basis and exact scope for this slide:</a:t>
            </a:r>
          </a:p>
          <a:p>
            <a:r>
              <a:t>1. Public-company capital investment: San Francisco Fed Economic Letter, May 18, 2026, Aakash Kalyani and Huiyu Li, Is Optimism for Artificial Intelligence Boosting Investment? https://www.frbsf.org/research-and-insights/publications/economic-letter/2026/05/is-optimism-for-artificial-intelligence-boosting-investment/ . The authors classify a public firm as AI-positive based on positive AI language in earnings calls, with observations through Q3 2025. They say AI-positive firms accounted for all net capital investment growth since Q1 2024; the rest collectively had slightly negative growth. It does NOT mean all of those firms' spending was specifically on AI. Their sample represents approximately 60% of U.S. nonresidential fixed investment.</a:t>
            </a:r>
          </a:p>
          <a:p>
            <a:r>
              <a:t>2. Construction: Census Bureau C30 August 2026 release (Oct. 1, 2026): https://www.census.gov/construction/c30/current/index.html ; series-derived calculations from https://commercialbuildersandcontractors.com/commercial-construction-spending/ . Aug 2026 private nonresidential construction spending $773.0B SAAR, of which data centers $85.0B, equal to 11.0%. Annual-average share in 2019 was about 1.7%. Private nonresidential construction excluding data centers was $688.1B SAAR in Aug 2026 vs $731.4B in Aug 2025, a -5.9% change. Construction is not solely AI; it excludes computing equipment. 2019 average versus Aug 2026 point-in-time comparison.</a:t>
            </a:r>
          </a:p>
          <a:p>
            <a:r>
              <a:t>3. GDP: J.P. Morgan Asset Management, Stephanie Aliaga, Sept. 2, 2026: https://am.jpmorgan.com/us/en/asset-management/institutional/insights/market-insights/market-updates/on-the-minds-of-investors/how-much-of-the-ai-boom-is-adding-to-us-growth/ . AI-investment proxy contributed 0.47 percentage points to 2.1% year-over-year real US GDP growth during the preceding year, net of imported hardware. Ratio is 22.4%. This is an estimate/proxy, not direct BEA AI data. These three indicators have different universes, denominators and date ranges and must not be added together.</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uses the Morgan Stanley circularity map as the visual anchor. The right-hand statistic now uses the more general comparison from BIS Bulletin 137, footnote 4: 15.2% of AI compute/cloud/related-infrastructure customer–supplier relationships also involved financing, versus 3.3% in a broad U.S. sample of more than 10,000 customer–supplier relationships involving direct equity stakes. The comparison is indicative rather than perfectly matched, but it supports the claim that overlapping financing and commercial relationships are unusually common in this part of the AI buildout.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Supporting visual: WSJ / Jonathan Weil (Oct. 22, 2025), graphic citing Morgan Stanley. Use as an intuitive complement to the main Morgan Stanley circularity slide. This version emphasizes the legend and the “two ways to lose” framing: a slowdown can reduce both supplier revenue and the value of supplier-owned customer equity.</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Nvidia FY2027 Q2 Form 10-Q, filed August 2026, especially Note 10 (Additional Commitments and Guarantees) and Management Discussion and Analysis:</a:t>
            </a:r>
          </a:p>
          <a:p>
            <a:r>
              <a:t>https://www.sec.gov/Archives/edgar/data/1045810/000104581026000075/nvda-20260726.htm</a:t>
            </a:r>
          </a:p>
          <a:p>
            <a:endParaRPr/>
          </a:p>
          <a:p>
            <a:r>
              <a:t>Main figures: as of July 26, 2026, $36 billion in AI cloud agreements, typically six-year arrangements. The AI-cloud counterparties buy Nvidia infrastructure and Nvidia commits to cloud service agreements, which providers may stop supplying to Nvidia and sell to third parties at more favorable prices. Commitments decline as capacity is used by third parties or Nvidia research. These are capacity/service-purchase commitments rather than direct loans.</a:t>
            </a:r>
          </a:p>
          <a:p>
            <a:r>
              <a:t>As of July 26, 2026, $20 billion in data-center leases not yet commenced for third-party use, with around fifteen-year terms, expected to commence in FY2028-FY2029 and intended to be reassigned. These are not yet active leases, and they are a different category than the guarantees.</a:t>
            </a:r>
          </a:p>
          <a:p>
            <a:r>
              <a:t>Nvidia disclosed aggregate maximum gross land, power and shell guarantee exposure of $108.5 billion: $105 billion signed August 2026 with SB Energy affiliates relating to OpenAI leases at PORTS Technology Campus in Ohio (approximately 4.25GW IT load across nine data centers), plus $3.5 billion of guarantees for other AI-cloud partners. The SB Energy guarantees generally take effect when leases commence, with the first expected in FY2029, and payments are contingent on specified tenant defaults. Coverage is restricted to defined portions of lease/power payments and declines with OpenAI lease performance. This is NOT outstanding borrowing, accrued loss, or a forecast of ultimate payouts.</a:t>
            </a:r>
          </a:p>
          <a:p>
            <a:endParaRPr/>
          </a:p>
          <a:p>
            <a:r>
              <a:t>Why omit CoreWeave from the headline? The initial $6.3B September 2025 CoreWeave/Nvidia order form is a specific example of residual-capacity purchase support, but the public record does not establish that it is the largest. It is also a differently dated transaction, and it should not be mechanically added to or assumed contained within the $36B portfolio. Primary source: https://www.sec.gov/Archives/edgar/data/1769628/000176962825000047/crwv-20250909.htm</a:t>
            </a:r>
          </a:p>
          <a:p>
            <a:endParaRPr/>
          </a:p>
          <a:p>
            <a:r>
              <a:t>Presentation conclusion: Nvidia supports the buildout through supplier sales alongside commitments to consume capacity, provision long-term leasing relationships for third-party assignment, and guarantee a defined fraction of tenant obligations. These are separate exposures; the figures should not be summed as currently funded spending or economic loss.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GPU competition includes AMD Instinct MI400, emerging Chinese GPU competitors, and Intel GPU D-Series (Crescent Island). Intel D-Series is a prospective inference-focused GPU alternative; customer sampling was reported in October 2026. Do not describe it as an established volume supplier or assert a verified Nvidia-equivalent cost per token. Jon Peddie Research, October 14, 2026, “Intel’s D270 puts inference in ordinary racks”; Futurum Group, October 19, 2026, “Intel D-Series GPUs Make HBM Optional for Agentic Inference.” Intel Gaudi 3 is not included among the slide examples. Right-hand figures and forecasts refer to custom AI ASICs across the industry and not to Intel D-Series GPUs.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PlaceHolder 1"/>
          <p:cNvSpPr>
            <a:spLocks noGrp="1" noRot="1" noChangeAspect="1"/>
          </p:cNvSpPr>
          <p:nvPr>
            <p:ph type="sldImg"/>
          </p:nvPr>
        </p:nvSpPr>
        <p:spPr>
          <a:xfrm>
            <a:off x="0" y="0"/>
            <a:ext cx="0" cy="0"/>
          </a:xfrm>
          <a:prstGeom prst="rect">
            <a:avLst/>
          </a:prstGeom>
          <a:ln w="0">
            <a:noFill/>
          </a:ln>
        </p:spPr>
      </p:sp>
      <p:sp>
        <p:nvSpPr>
          <p:cNvPr id="11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lstStyle/>
          <a:p>
            <a:pPr indent="0" algn="l">
              <a:lnSpc>
                <a:spcPct val="100000"/>
              </a:lnSpc>
              <a:buNone/>
              <a:tabLst>
                <a:tab pos="0" algn="l"/>
              </a:tabLst>
            </a:pPr>
            <a:r>
              <a:rPr lang="en-US" sz="2000" b="0" u="none" strike="noStrike">
                <a:solidFill>
                  <a:srgbClr val="000000"/>
                </a:solidFill>
                <a:effectLst/>
                <a:uFillTx/>
                <a:latin typeface="Arial"/>
                <a:ea typeface="Arial"/>
              </a:rPr>
              <a:t>Primary source: NVIDIA Q2 FY2027 earnings call, August 26, 2026, official corrected transcript: https://investor.nvidia.com/files/content_files/TRANSCRIPT_-NVIDIA-Corp-NVDA-US-Q2-2027-Earnings-Call-26-August-2026-5_00-PM-ET.pdf . Huang quotation about demand and supply capacity appears on printed page 8. He discusses FY2028 revenue growth, not stock returns. Page 8 discusses sovereigns, neoclouds, start-ups and enterprises and the planning needed for land, power and shell. Printed pages 13-14 discuss agents and supply constraints. Summaries explicitly describe management claims, not independently verified demand, a market consensus, a guarantee, or a market-implied requirement to beat consensus. Fiscal 2028 ends January 2028 and largely corresponds to calendar 2027. The word hype denotes the bullish narrative being examined, not an allegation that the quotation or outlook is fabricated. No Yahoo Finance forecast or single-bank revenue forecast is used on these two slides.</a:t>
            </a:r>
            <a:endParaRPr lang="en-US" sz="2000" b="0" u="none" strike="noStrike">
              <a:solidFill>
                <a:srgbClr val="000000"/>
              </a:solidFill>
              <a:effectLst/>
              <a:uFillTx/>
              <a:latin typeface="Arial"/>
            </a:endParaRPr>
          </a:p>
        </p:txBody>
      </p:sp>
      <p:sp>
        <p:nvSpPr>
          <p:cNvPr id="113" name="PlaceHolder 3"/>
          <p:cNvSpPr>
            <a:spLocks noGrp="1"/>
          </p:cNvSpPr>
          <p:nvPr>
            <p:ph type="sldNum" idx="37"/>
          </p:nvPr>
        </p:nvSpPr>
        <p:spPr>
          <a:xfrm>
            <a:off x="0" y="0"/>
            <a:ext cx="0" cy="0"/>
          </a:xfrm>
          <a:prstGeom prst="rect">
            <a:avLst/>
          </a:prstGeom>
          <a:noFill/>
          <a:ln w="0">
            <a:noFill/>
          </a:ln>
        </p:spPr>
        <p:txBody>
          <a:bodyPr lIns="90000" tIns="-45000" rIns="90000" bIns="-45000" anchor="t">
            <a:noAutofit/>
          </a:bodyPr>
          <a:lstStyle/>
          <a:p>
            <a:pPr indent="0" algn="l">
              <a:buNone/>
            </a:pPr>
            <a:endParaRPr lang="en-US" sz="1800" b="0" u="none" strike="noStrike">
              <a:solidFill>
                <a:srgbClr val="000000"/>
              </a:solidFill>
              <a:effectLst/>
              <a:uFillTx/>
              <a:latin typeface="Times New Roman"/>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fitted model is 2-day return (%) = 2.69 * EPS surprise (%) - 17.99, hence zero fitted return at +6.69%. A descriptive OLS estimate from 11 observations, not a deterministic minimum surprise, nor an estimate applicable to zero/negative surprises beyond the sample. All 11 displayed surprises are positive, about 3.46% to 11.40%. The stock reacts to other information including revenue, guidance and risk appetite. Four-quarter EPS values derive from the user-supplied Yahoo Finance yfinance get_earnings_dates output. Chart sourced from user-supplied screenshot and preserved without changing underlying data, except cropping its old title and uniform scaling.</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a:p>
            <a:r>
              <a:t>October 2026 update: Artificial Analysis (October 23, 2026) scored Moonshot Kimi K3.1 Pro 55 on its Intelligence Index versus 53 for GPT-6 Astra (max) and Claude Fable 5.1. K3.1 Pro was fourth overall, behind Claude Opus 5.5 (58), Claude Sonnet 5.5 (56), and Muse Wonder Full (56). The K3.1 Pro weights were not yet public as of October 25; Moonshot announced release by November 4. The Epoch chart ends May 2026; October benchmark is a separate evaluation system and is not shown in that chart. Sources: https://artificialanalysis.ai/articles/kimi-k3-1-pro-launch-benchmarks ; https://artificialanalysis.ai/leaderboards/models ; https://www.kimi.com/en/blog/kimi-k3-1-pro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Latest available market cap for NVDA: $5.094T at the October 23 2026 close ($210.96/share); YCharts NVDA Market Cap; other reference private valuations retained from the deck. Total basket $9.994T. Hypothetical relative-price repricing uses the prior slide regression, not fundamental fair-value estimates. This is not an independently verified bubble kernel.</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FY2029 conservative scenario, not a stock-price forecast. Baseline NVDA market cap $5.094 trillion as of October 23 2026 (YCharts, $210.96 share price). FY2028 sales consensus $692.21B; FY2029 sales consensus $903.19B. Scenario FY2029 revenue $797.700B; miss relative to FY2029 consensus -11.6797%. Previous slide line fitted to 11 observations with *positive EPS surprises*, two-day NVDA returns: r_percent = 2.69 * surprise_percent - 17.99. Mapping a hypothetical annual revenue miss to an EPS surprise is not empirically validated, and extrapolating to negative surprises is outside the observed sample. Mechanical fitted correction -49.4084%; Nvidia value $2.577135T. Other assumptions retained from previous version: Frontier AI residual $1.00T (OpenAI, Anthropic, xAI), SpaceX core $1.68T. Initial basket = NVDA $5.094T + SpaceX/xAI $2T + OpenAI $1.4T + Anthropic $1.5T = $9.994T. Combined scenario value $5.257135T; hypothetical basket mark-to-market loss $4.736865T (47.3971%). This represents a modeled equity haircut relative to latest market values, not a fundamental value estimate, prediction of a two-day crash in 2029, or a statistical confidence bound. Source estimates: YCharts Oct 23 2026, MarketScreener FY2029 consensus, Morgan Stanley Aug 2026 SpaceX space and connectivity $1.68T (conservative), Reuters February 2026 SpaceX $1T pre-xAI benchmark (extreme).</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FY2029 extreme scenario, not a stock-price forecast. Baseline NVDA market cap $5.094 trillion as of October 23 2026 (YCharts, $210.96 share price). FY2028 sales consensus $692.21B; FY2029 sales consensus $903.19B. Scenario FY2029 revenue $692.210B; miss relative to FY2029 consensus -23.3594%. Previous slide line fitted to 11 observations with *positive EPS surprises*, two-day NVDA returns: r_percent = 2.69 * surprise_percent - 17.99. Mapping a hypothetical annual revenue miss to an EPS surprise is not empirically validated, and extrapolating to negative surprises is outside the observed sample. Mechanical fitted correction -80.8269%; Nvidia value $0.976680T. Other assumptions retained from previous version: Frontier AI residual $0.00T (OpenAI, Anthropic, xAI), SpaceX core $1.00T. Initial basket = NVDA $5.094T + SpaceX/xAI $2T + OpenAI $1.4T + Anthropic $1.5T = $9.994T. Combined scenario value $1.976680T; hypothetical basket mark-to-market loss $8.017320T (80.2213%). This represents a modeled equity haircut relative to latest market values, not a fundamental value estimate, prediction of a two-day crash in 2029, or a statistical confidence bound. Source estimates: YCharts Oct 23 2026, MarketScreener FY2029 consensus, Morgan Stanley Aug 2026 SpaceX space and connectivity $1.68T (conservative), Reuters February 2026 SpaceX $1T pre-xAI benchmark (extreme).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U_WHITE">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9D9EB"/>
          </a:solidFill>
          <a:ln w="12700">
            <a:solidFill>
              <a:srgbClr val="B9D9EB"/>
            </a:solidFill>
            <a:prstDash val="solid"/>
          </a:ln>
        </p:spPr>
        <p:txBody>
          <a:bodyPr/>
          <a:lstStyle/>
          <a:p>
            <a:endParaRPr lang="en-US"/>
          </a:p>
        </p:txBody>
      </p:sp>
      <p:pic>
        <p:nvPicPr>
          <p:cNvPr id="3" name="Image 0" descr="/mnt/data/logo.png"/>
          <p:cNvPicPr>
            <a:picLocks noChangeAspect="1"/>
          </p:cNvPicPr>
          <p:nvPr/>
        </p:nvPicPr>
        <p:blipFill>
          <a:blip r:embed="rId2"/>
          <a:stretch>
            <a:fillRect/>
          </a:stretch>
        </p:blipFill>
        <p:spPr>
          <a:xfrm>
            <a:off x="393192" y="182880"/>
            <a:ext cx="292608" cy="347472"/>
          </a:xfrm>
          <a:prstGeom prst="rect">
            <a:avLst/>
          </a:prstGeom>
        </p:spPr>
      </p:pic>
      <p:sp>
        <p:nvSpPr>
          <p:cNvPr id="4" name="Shape 1"/>
          <p:cNvSpPr/>
          <p:nvPr/>
        </p:nvSpPr>
        <p:spPr>
          <a:xfrm>
            <a:off x="850392" y="749808"/>
            <a:ext cx="10899648" cy="0"/>
          </a:xfrm>
          <a:prstGeom prst="line">
            <a:avLst/>
          </a:prstGeom>
          <a:noFill/>
          <a:ln w="13970">
            <a:solidFill>
              <a:srgbClr val="D6E7F0"/>
            </a:solidFill>
            <a:prstDash val="solid"/>
          </a:ln>
        </p:spPr>
        <p:txBody>
          <a:bodyPr/>
          <a:lstStyle/>
          <a:p>
            <a:endParaRPr lang="en-US"/>
          </a:p>
        </p:txBody>
      </p:sp>
      <p:sp>
        <p:nvSpPr>
          <p:cNvPr id="25" name="Slide Number Placeholder 0"/>
          <p:cNvSpPr>
            <a:spLocks noGrp="1"/>
          </p:cNvSpPr>
          <p:nvPr>
            <p:ph type="sldNum" sz="quarter" idx="4294967295"/>
          </p:nvPr>
        </p:nvSpPr>
        <p:spPr>
          <a:xfrm>
            <a:off x="11567160" y="6492240"/>
            <a:ext cx="256032"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U_BLUE">
    <p:bg>
      <p:bgPr>
        <a:solidFill>
          <a:srgbClr val="022169"/>
        </a:solidFill>
        <a:effectLst/>
      </p:bgPr>
    </p:bg>
    <p:spTree>
      <p:nvGrpSpPr>
        <p:cNvPr id="1" name=""/>
        <p:cNvGrpSpPr/>
        <p:nvPr/>
      </p:nvGrpSpPr>
      <p:grpSpPr>
        <a:xfrm>
          <a:off x="0" y="0"/>
          <a:ext cx="0" cy="0"/>
          <a:chOff x="0" y="0"/>
          <a:chExt cx="0" cy="0"/>
        </a:xfrm>
      </p:grpSpPr>
      <p:sp>
        <p:nvSpPr>
          <p:cNvPr id="2" name="Shape 0"/>
          <p:cNvSpPr/>
          <p:nvPr/>
        </p:nvSpPr>
        <p:spPr>
          <a:xfrm>
            <a:off x="0" y="0"/>
            <a:ext cx="12191695" cy="118872"/>
          </a:xfrm>
          <a:prstGeom prst="rect">
            <a:avLst/>
          </a:prstGeom>
          <a:solidFill>
            <a:srgbClr val="B9D9EB"/>
          </a:solidFill>
          <a:ln w="12700">
            <a:solidFill>
              <a:srgbClr val="B9D9EB"/>
            </a:solidFill>
            <a:prstDash val="solid"/>
          </a:ln>
        </p:spPr>
        <p:txBody>
          <a:bodyPr/>
          <a:lstStyle/>
          <a:p>
            <a:endParaRPr lang="en-US"/>
          </a:p>
        </p:txBody>
      </p:sp>
      <p:pic>
        <p:nvPicPr>
          <p:cNvPr id="3" name="Image 0" descr="/mnt/data/logo_inverted.png"/>
          <p:cNvPicPr>
            <a:picLocks noChangeAspect="1"/>
          </p:cNvPicPr>
          <p:nvPr/>
        </p:nvPicPr>
        <p:blipFill>
          <a:blip r:embed="rId2"/>
          <a:stretch>
            <a:fillRect/>
          </a:stretch>
        </p:blipFill>
        <p:spPr>
          <a:xfrm>
            <a:off x="393192" y="182880"/>
            <a:ext cx="292608" cy="347472"/>
          </a:xfrm>
          <a:prstGeom prst="rect">
            <a:avLst/>
          </a:prstGeom>
        </p:spPr>
      </p:pic>
      <p:sp>
        <p:nvSpPr>
          <p:cNvPr id="25" name="Slide Number Placeholder 0"/>
          <p:cNvSpPr>
            <a:spLocks noGrp="1"/>
          </p:cNvSpPr>
          <p:nvPr>
            <p:ph type="sldNum" sz="quarter" idx="4294967295"/>
          </p:nvPr>
        </p:nvSpPr>
        <p:spPr>
          <a:xfrm>
            <a:off x="11567160" y="6492240"/>
            <a:ext cx="256032"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B9D9EB"/>
                </a:solidFill>
                <a:latin typeface="EB Garamond"/>
                <a:ea typeface="EB Garamond"/>
                <a:cs typeface="EB Garamond"/>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Title Slide">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85800" y="2130480"/>
            <a:ext cx="7771680" cy="1469160"/>
          </a:xfrm>
          <a:prstGeom prst="rect">
            <a:avLst/>
          </a:prstGeom>
          <a:noFill/>
          <a:ln w="0">
            <a:noFill/>
          </a:ln>
        </p:spPr>
        <p:txBody>
          <a:bodyPr lIns="91440" tIns="45720" rIns="91440" bIns="45720" anchor="ctr">
            <a:noAutofit/>
          </a:bodyPr>
          <a:lstStyle>
            <a:lvl1pPr indent="0" algn="ctr" defTabSz="457200">
              <a:lnSpc>
                <a:spcPct val="100000"/>
              </a:lnSpc>
              <a:buNone/>
              <a:tabLst>
                <a:tab pos="0" algn="l"/>
              </a:tabLst>
              <a:defRPr lang="en-US" sz="4400" b="0" u="none" strike="noStrike">
                <a:solidFill>
                  <a:schemeClr val="dk1"/>
                </a:solidFill>
                <a:effectLst/>
                <a:uFillTx/>
                <a:latin typeface="Calibri"/>
                <a:ea typeface="Calibri"/>
              </a:defRPr>
            </a:lvl1pPr>
          </a:lstStyle>
          <a:p>
            <a:pPr indent="0" algn="ctr" defTabSz="457200">
              <a:lnSpc>
                <a:spcPct val="100000"/>
              </a:lnSpc>
              <a:buNone/>
              <a:tabLst>
                <a:tab pos="0" algn="l"/>
              </a:tabLst>
            </a:pPr>
            <a:r>
              <a:rPr lang="en-US" sz="4400" b="0" u="none" strike="noStrike">
                <a:solidFill>
                  <a:schemeClr val="dk1"/>
                </a:solidFill>
                <a:effectLst/>
                <a:uFillTx/>
                <a:latin typeface="Calibri"/>
                <a:ea typeface="Calibri"/>
              </a:rPr>
              <a:t>Click to edit Master title style</a:t>
            </a:r>
            <a:endParaRPr lang="en-US" sz="4400" b="0" u="none" strike="noStrike">
              <a:solidFill>
                <a:schemeClr val="dk1"/>
              </a:solidFill>
              <a:effectLst/>
              <a:uFillTx/>
              <a:latin typeface="Calibri"/>
            </a:endParaRPr>
          </a:p>
        </p:txBody>
      </p:sp>
      <p:sp>
        <p:nvSpPr>
          <p:cNvPr id="3" name="PlaceHolder 2"/>
          <p:cNvSpPr>
            <a:spLocks noGrp="1"/>
          </p:cNvSpPr>
          <p:nvPr>
            <p:ph type="dt" idx="1"/>
          </p:nvPr>
        </p:nvSpPr>
        <p:spPr>
          <a:xfrm>
            <a:off x="457200" y="6356520"/>
            <a:ext cx="2133000" cy="364320"/>
          </a:xfrm>
          <a:prstGeom prst="rect">
            <a:avLst/>
          </a:prstGeom>
          <a:noFill/>
          <a:ln w="0">
            <a:noFill/>
          </a:ln>
        </p:spPr>
        <p:txBody>
          <a:bodyPr lIns="91440" tIns="45720" rIns="91440" bIns="45720" anchor="ctr">
            <a:noAutofit/>
          </a:bodyPr>
          <a:lstStyle>
            <a:lvl1pPr indent="0" algn="l" defTabSz="457200">
              <a:lnSpc>
                <a:spcPct val="100000"/>
              </a:lnSpc>
              <a:buNone/>
              <a:tabLst>
                <a:tab pos="0" algn="l"/>
              </a:tabLst>
              <a:defRPr lang="en-US" sz="1200" b="0" u="none" strike="noStrike">
                <a:solidFill>
                  <a:schemeClr val="dk1">
                    <a:tint val="75000"/>
                  </a:schemeClr>
                </a:solidFill>
                <a:effectLst/>
                <a:uFillTx/>
                <a:latin typeface="Calibri"/>
                <a:ea typeface="Calibri"/>
              </a:defRPr>
            </a:lvl1pPr>
          </a:lstStyle>
          <a:p>
            <a:pPr indent="0" algn="l" defTabSz="457200">
              <a:lnSpc>
                <a:spcPct val="100000"/>
              </a:lnSpc>
              <a:buNone/>
              <a:tabLst>
                <a:tab pos="0" algn="l"/>
              </a:tabLst>
            </a:pPr>
            <a:r>
              <a:rPr lang="en-US" sz="1200" b="0" u="none" strike="noStrike">
                <a:solidFill>
                  <a:schemeClr val="dk1">
                    <a:tint val="75000"/>
                  </a:schemeClr>
                </a:solidFill>
                <a:effectLst/>
                <a:uFillTx/>
                <a:latin typeface="Calibri"/>
                <a:ea typeface="Calibri"/>
              </a:rPr>
              <a:t>&lt;date/time&gt;</a:t>
            </a:r>
            <a:endParaRPr lang="en-US" sz="1200" b="0" u="none" strike="noStrike">
              <a:solidFill>
                <a:srgbClr val="000000"/>
              </a:solidFill>
              <a:effectLst/>
              <a:uFillTx/>
              <a:latin typeface="Times New Roman"/>
            </a:endParaRPr>
          </a:p>
        </p:txBody>
      </p:sp>
      <p:sp>
        <p:nvSpPr>
          <p:cNvPr id="4" name="PlaceHolder 3"/>
          <p:cNvSpPr>
            <a:spLocks noGrp="1"/>
          </p:cNvSpPr>
          <p:nvPr>
            <p:ph type="ftr" idx="2"/>
          </p:nvPr>
        </p:nvSpPr>
        <p:spPr>
          <a:xfrm>
            <a:off x="3124080" y="6356520"/>
            <a:ext cx="2894760" cy="364320"/>
          </a:xfrm>
          <a:prstGeom prst="rect">
            <a:avLst/>
          </a:prstGeom>
          <a:noFill/>
          <a:ln w="0">
            <a:noFill/>
          </a:ln>
        </p:spPr>
        <p:txBody>
          <a:bodyPr lIns="91440" tIns="45720" rIns="91440" bIns="45720" anchor="ctr">
            <a:noAutofit/>
          </a:bodyPr>
          <a:lstStyle>
            <a:lvl1pPr indent="0" algn="ctr" defTabSz="914400">
              <a:lnSpc>
                <a:spcPct val="100000"/>
              </a:lnSpc>
              <a:buNone/>
              <a:tabLst>
                <a:tab pos="0" algn="l"/>
              </a:tabLst>
              <a:defRPr lang="en-US" sz="1400" b="0" u="none" strike="noStrike">
                <a:solidFill>
                  <a:srgbClr val="000000"/>
                </a:solidFill>
                <a:effectLst/>
                <a:uFillTx/>
                <a:latin typeface="Times New Roman"/>
                <a:ea typeface="Times New Roman"/>
              </a:defRPr>
            </a:lvl1pPr>
          </a:lstStyle>
          <a:p>
            <a:pPr indent="0" algn="ctr" defTabSz="914400">
              <a:lnSpc>
                <a:spcPct val="100000"/>
              </a:lnSpc>
              <a:buNone/>
              <a:tabLst>
                <a:tab pos="0" algn="l"/>
              </a:tabLst>
            </a:pPr>
            <a:r>
              <a:rPr lang="en-US" sz="1400" b="0" u="none" strike="noStrike">
                <a:solidFill>
                  <a:srgbClr val="000000"/>
                </a:solidFill>
                <a:effectLst/>
                <a:uFillTx/>
                <a:latin typeface="Times New Roman"/>
                <a:ea typeface="Times New Roman"/>
              </a:rPr>
              <a:t>&lt;footer&gt;</a:t>
            </a:r>
            <a:endParaRPr lang="en-US" sz="1400" b="0" u="none" strike="noStrike">
              <a:solidFill>
                <a:srgbClr val="000000"/>
              </a:solidFill>
              <a:effectLst/>
              <a:uFillTx/>
              <a:latin typeface="Times New Roman"/>
            </a:endParaRPr>
          </a:p>
        </p:txBody>
      </p:sp>
      <p:sp>
        <p:nvSpPr>
          <p:cNvPr id="5" name="PlaceHolder 4"/>
          <p:cNvSpPr>
            <a:spLocks noGrp="1"/>
          </p:cNvSpPr>
          <p:nvPr>
            <p:ph type="sldNum" idx="3"/>
          </p:nvPr>
        </p:nvSpPr>
        <p:spPr>
          <a:xfrm>
            <a:off x="6553080" y="6356520"/>
            <a:ext cx="2133000" cy="364320"/>
          </a:xfrm>
          <a:prstGeom prst="rect">
            <a:avLst/>
          </a:prstGeom>
          <a:noFill/>
          <a:ln w="0">
            <a:noFill/>
          </a:ln>
        </p:spPr>
        <p:txBody>
          <a:bodyPr lIns="91440" tIns="45720" rIns="91440" bIns="45720" anchor="ctr">
            <a:noAutofit/>
          </a:bodyPr>
          <a:lstStyle>
            <a:lvl1pPr indent="0" algn="r" defTabSz="457200">
              <a:lnSpc>
                <a:spcPct val="100000"/>
              </a:lnSpc>
              <a:buNone/>
              <a:tabLst>
                <a:tab pos="0" algn="l"/>
              </a:tabLst>
              <a:defRPr lang="en-US" sz="1200" b="0" u="none" strike="noStrike">
                <a:solidFill>
                  <a:schemeClr val="dk1">
                    <a:tint val="75000"/>
                  </a:schemeClr>
                </a:solidFill>
                <a:effectLst/>
                <a:uFillTx/>
                <a:latin typeface="Calibri"/>
                <a:ea typeface="Calibri"/>
              </a:defRPr>
            </a:lvl1pPr>
          </a:lstStyle>
          <a:p>
            <a:pPr indent="0" algn="r" defTabSz="457200">
              <a:lnSpc>
                <a:spcPct val="100000"/>
              </a:lnSpc>
              <a:buNone/>
              <a:tabLst>
                <a:tab pos="0" algn="l"/>
              </a:tabLst>
            </a:pPr>
            <a:fld id="{9A8676F2-9A9B-4FB1-9FBB-A78F45BE4329}" type="slidenum">
              <a:rPr lang="en-US" sz="1200" b="0" u="none" strike="noStrike">
                <a:solidFill>
                  <a:schemeClr val="dk1">
                    <a:tint val="75000"/>
                  </a:schemeClr>
                </a:solidFill>
                <a:effectLst/>
                <a:uFillTx/>
                <a:latin typeface="Calibri"/>
                <a:ea typeface="Calibri"/>
              </a:rPr>
              <a:t>‹#›</a:t>
            </a:fld>
            <a:endParaRPr lang="en-US" sz="1200" b="0" u="none" strike="noStrike">
              <a:solidFill>
                <a:srgbClr val="000000"/>
              </a:solidFill>
              <a:effectLst/>
              <a:uFillTx/>
              <a:latin typeface="Times New Roman"/>
            </a:endParaRPr>
          </a:p>
        </p:txBody>
      </p:sp>
    </p:spTree>
    <p:extLst>
      <p:ext uri="{BB962C8B-B14F-4D97-AF65-F5344CB8AC3E}">
        <p14:creationId xmlns:p14="http://schemas.microsoft.com/office/powerpoint/2010/main" val="8269833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D21A0-522A-40A1-571C-4E649FC0BA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B2348D8-A352-E947-87A0-6070A009A71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C3337C-450B-D164-B1F3-2BDF6EB75916}"/>
              </a:ext>
            </a:extLst>
          </p:cNvPr>
          <p:cNvSpPr>
            <a:spLocks noGrp="1"/>
          </p:cNvSpPr>
          <p:nvPr>
            <p:ph type="dt" sz="half" idx="10"/>
          </p:nvPr>
        </p:nvSpPr>
        <p:spPr/>
        <p:txBody>
          <a:bodyPr/>
          <a:lstStyle/>
          <a:p>
            <a:fld id="{FEC2290C-3BCF-6243-B674-0DC8254A86DD}" type="datetimeFigureOut">
              <a:rPr lang="en-US" smtClean="0"/>
              <a:t>10/28/2026</a:t>
            </a:fld>
            <a:endParaRPr lang="en-US"/>
          </a:p>
        </p:txBody>
      </p:sp>
      <p:sp>
        <p:nvSpPr>
          <p:cNvPr id="5" name="Footer Placeholder 4">
            <a:extLst>
              <a:ext uri="{FF2B5EF4-FFF2-40B4-BE49-F238E27FC236}">
                <a16:creationId xmlns:a16="http://schemas.microsoft.com/office/drawing/2014/main" id="{BE336700-68F5-14F2-0C9F-DCE427A250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EB5EAE-F8BD-7F6B-CF1C-8CBE952AF64B}"/>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360944688"/>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041328-20BE-73ED-035F-80C19EAB43D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DDA1DF5-C14A-E9C2-A8A7-899FCEBDFF8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6759FDB-8016-C527-E727-CB7103735C44}"/>
              </a:ext>
            </a:extLst>
          </p:cNvPr>
          <p:cNvSpPr>
            <a:spLocks noGrp="1"/>
          </p:cNvSpPr>
          <p:nvPr>
            <p:ph type="dt" sz="half" idx="10"/>
          </p:nvPr>
        </p:nvSpPr>
        <p:spPr/>
        <p:txBody>
          <a:bodyPr/>
          <a:lstStyle/>
          <a:p>
            <a:fld id="{FEC2290C-3BCF-6243-B674-0DC8254A86DD}" type="datetimeFigureOut">
              <a:rPr lang="en-US" smtClean="0"/>
              <a:t>10/28/2026</a:t>
            </a:fld>
            <a:endParaRPr lang="en-US"/>
          </a:p>
        </p:txBody>
      </p:sp>
      <p:sp>
        <p:nvSpPr>
          <p:cNvPr id="5" name="Footer Placeholder 4">
            <a:extLst>
              <a:ext uri="{FF2B5EF4-FFF2-40B4-BE49-F238E27FC236}">
                <a16:creationId xmlns:a16="http://schemas.microsoft.com/office/drawing/2014/main" id="{2E432922-C3D1-2D09-76C3-FA6DDC6DAD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E48FC8-EB4C-5E3D-68EA-80C679375BD1}"/>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264735730"/>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102AB-F2BB-534E-3422-0F69999A3B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1CB18AB-ED38-EB0F-0088-C54739E44D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21AA13-2BEB-C8AD-A419-E342198A8BA5}"/>
              </a:ext>
            </a:extLst>
          </p:cNvPr>
          <p:cNvSpPr>
            <a:spLocks noGrp="1"/>
          </p:cNvSpPr>
          <p:nvPr>
            <p:ph type="dt" sz="half" idx="10"/>
          </p:nvPr>
        </p:nvSpPr>
        <p:spPr/>
        <p:txBody>
          <a:bodyPr/>
          <a:lstStyle/>
          <a:p>
            <a:fld id="{FEC2290C-3BCF-6243-B674-0DC8254A86DD}" type="datetimeFigureOut">
              <a:rPr lang="en-US" smtClean="0"/>
              <a:t>10/28/2026</a:t>
            </a:fld>
            <a:endParaRPr lang="en-US"/>
          </a:p>
        </p:txBody>
      </p:sp>
      <p:sp>
        <p:nvSpPr>
          <p:cNvPr id="5" name="Footer Placeholder 4">
            <a:extLst>
              <a:ext uri="{FF2B5EF4-FFF2-40B4-BE49-F238E27FC236}">
                <a16:creationId xmlns:a16="http://schemas.microsoft.com/office/drawing/2014/main" id="{C2E0FA77-35B6-6459-CCC3-0401E94852C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5A05171-F3CA-B8C2-1B05-1E7B865DECEF}"/>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83766444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2B4EA2-FFA3-A7AA-6A1E-1C56849EE7F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175F645-B30A-CB4F-B9C7-56315D9DAD0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1F77997-6153-4B87-377A-ECB802A4743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932A6CE-CB86-F8E2-96C1-22DC8CCEB7EF}"/>
              </a:ext>
            </a:extLst>
          </p:cNvPr>
          <p:cNvSpPr>
            <a:spLocks noGrp="1"/>
          </p:cNvSpPr>
          <p:nvPr>
            <p:ph type="dt" sz="half" idx="10"/>
          </p:nvPr>
        </p:nvSpPr>
        <p:spPr/>
        <p:txBody>
          <a:bodyPr/>
          <a:lstStyle/>
          <a:p>
            <a:fld id="{FEC2290C-3BCF-6243-B674-0DC8254A86DD}" type="datetimeFigureOut">
              <a:rPr lang="en-US" smtClean="0"/>
              <a:t>10/28/2026</a:t>
            </a:fld>
            <a:endParaRPr lang="en-US"/>
          </a:p>
        </p:txBody>
      </p:sp>
      <p:sp>
        <p:nvSpPr>
          <p:cNvPr id="6" name="Footer Placeholder 5">
            <a:extLst>
              <a:ext uri="{FF2B5EF4-FFF2-40B4-BE49-F238E27FC236}">
                <a16:creationId xmlns:a16="http://schemas.microsoft.com/office/drawing/2014/main" id="{291EDCB6-D7D2-CAD1-D4CC-159AA7B1E5D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D2609ED-D56B-A1C9-557C-367BC6D49B9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63587386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CB59DF-1CA5-2FA0-811E-2D415733049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C266853-3312-06FF-0E20-2FD58B3090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2E39E60-C366-DE0B-6B85-448D52401B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F2DB1D37-A2B7-A5FE-32E3-90D7990581E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3C01E77-A06B-BB70-DE9E-FBA8E7BCA72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C99383-AE0E-F158-4D7C-A73B3D185C9A}"/>
              </a:ext>
            </a:extLst>
          </p:cNvPr>
          <p:cNvSpPr>
            <a:spLocks noGrp="1"/>
          </p:cNvSpPr>
          <p:nvPr>
            <p:ph type="dt" sz="half" idx="10"/>
          </p:nvPr>
        </p:nvSpPr>
        <p:spPr/>
        <p:txBody>
          <a:bodyPr/>
          <a:lstStyle/>
          <a:p>
            <a:fld id="{FEC2290C-3BCF-6243-B674-0DC8254A86DD}" type="datetimeFigureOut">
              <a:rPr lang="en-US" smtClean="0"/>
              <a:t>10/28/2026</a:t>
            </a:fld>
            <a:endParaRPr lang="en-US"/>
          </a:p>
        </p:txBody>
      </p:sp>
      <p:sp>
        <p:nvSpPr>
          <p:cNvPr id="8" name="Footer Placeholder 7">
            <a:extLst>
              <a:ext uri="{FF2B5EF4-FFF2-40B4-BE49-F238E27FC236}">
                <a16:creationId xmlns:a16="http://schemas.microsoft.com/office/drawing/2014/main" id="{1BEDEE37-C1F9-E746-0223-8A0EC0282DE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EA7885C-91A9-B6B4-8786-775F773AC057}"/>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786294726"/>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B7E8F6-8D5B-BCCD-B8BD-4D25D4BE165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6D1C8AD-52F2-A782-7BD9-AD8999289B04}"/>
              </a:ext>
            </a:extLst>
          </p:cNvPr>
          <p:cNvSpPr>
            <a:spLocks noGrp="1"/>
          </p:cNvSpPr>
          <p:nvPr>
            <p:ph type="dt" sz="half" idx="10"/>
          </p:nvPr>
        </p:nvSpPr>
        <p:spPr/>
        <p:txBody>
          <a:bodyPr/>
          <a:lstStyle/>
          <a:p>
            <a:fld id="{FEC2290C-3BCF-6243-B674-0DC8254A86DD}" type="datetimeFigureOut">
              <a:rPr lang="en-US" smtClean="0"/>
              <a:t>10/28/2026</a:t>
            </a:fld>
            <a:endParaRPr lang="en-US"/>
          </a:p>
        </p:txBody>
      </p:sp>
      <p:sp>
        <p:nvSpPr>
          <p:cNvPr id="4" name="Footer Placeholder 3">
            <a:extLst>
              <a:ext uri="{FF2B5EF4-FFF2-40B4-BE49-F238E27FC236}">
                <a16:creationId xmlns:a16="http://schemas.microsoft.com/office/drawing/2014/main" id="{7008F810-D65E-9E58-339B-6F43E947FD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A92EF16-2284-FADE-6291-05841F72A11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60010500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E51F993-5964-2C6E-0A96-51930F7876AC}"/>
              </a:ext>
            </a:extLst>
          </p:cNvPr>
          <p:cNvSpPr>
            <a:spLocks noGrp="1"/>
          </p:cNvSpPr>
          <p:nvPr>
            <p:ph type="dt" sz="half" idx="10"/>
          </p:nvPr>
        </p:nvSpPr>
        <p:spPr/>
        <p:txBody>
          <a:bodyPr/>
          <a:lstStyle/>
          <a:p>
            <a:fld id="{FEC2290C-3BCF-6243-B674-0DC8254A86DD}" type="datetimeFigureOut">
              <a:rPr lang="en-US" smtClean="0"/>
              <a:t>10/28/2026</a:t>
            </a:fld>
            <a:endParaRPr lang="en-US"/>
          </a:p>
        </p:txBody>
      </p:sp>
      <p:sp>
        <p:nvSpPr>
          <p:cNvPr id="3" name="Footer Placeholder 2">
            <a:extLst>
              <a:ext uri="{FF2B5EF4-FFF2-40B4-BE49-F238E27FC236}">
                <a16:creationId xmlns:a16="http://schemas.microsoft.com/office/drawing/2014/main" id="{3F480678-D17F-EB47-1D5A-65CC755E40E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F2B317C-72F2-2420-14D0-461EAEC34DA4}"/>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976108124"/>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486EA-6FC5-34B3-F338-0A37452DBE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31CD063-3F00-6AEB-1984-14C15493E2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C7F8C6-F2E5-781E-C20C-8391B9324B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23F4DB-9A8B-33E8-B274-6841FE651F71}"/>
              </a:ext>
            </a:extLst>
          </p:cNvPr>
          <p:cNvSpPr>
            <a:spLocks noGrp="1"/>
          </p:cNvSpPr>
          <p:nvPr>
            <p:ph type="dt" sz="half" idx="10"/>
          </p:nvPr>
        </p:nvSpPr>
        <p:spPr/>
        <p:txBody>
          <a:bodyPr/>
          <a:lstStyle/>
          <a:p>
            <a:fld id="{FEC2290C-3BCF-6243-B674-0DC8254A86DD}" type="datetimeFigureOut">
              <a:rPr lang="en-US" smtClean="0"/>
              <a:t>10/28/2026</a:t>
            </a:fld>
            <a:endParaRPr lang="en-US"/>
          </a:p>
        </p:txBody>
      </p:sp>
      <p:sp>
        <p:nvSpPr>
          <p:cNvPr id="6" name="Footer Placeholder 5">
            <a:extLst>
              <a:ext uri="{FF2B5EF4-FFF2-40B4-BE49-F238E27FC236}">
                <a16:creationId xmlns:a16="http://schemas.microsoft.com/office/drawing/2014/main" id="{B3B8A2C8-B066-1622-3E2E-43AC037F5FE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FCBB677-4C69-A0E3-84AE-04D073BA0806}"/>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512713878"/>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73D1A-FC81-632C-FF9B-B963FB7274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892091B-A92E-B453-DBCE-9F4D521403EB}"/>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C0FF549-E021-117C-4B5A-21304521876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D82D6C-71E0-2D83-4D03-29EF368D90E7}"/>
              </a:ext>
            </a:extLst>
          </p:cNvPr>
          <p:cNvSpPr>
            <a:spLocks noGrp="1"/>
          </p:cNvSpPr>
          <p:nvPr>
            <p:ph type="dt" sz="half" idx="10"/>
          </p:nvPr>
        </p:nvSpPr>
        <p:spPr/>
        <p:txBody>
          <a:bodyPr/>
          <a:lstStyle/>
          <a:p>
            <a:fld id="{FEC2290C-3BCF-6243-B674-0DC8254A86DD}" type="datetimeFigureOut">
              <a:rPr lang="en-US" smtClean="0"/>
              <a:t>10/28/2026</a:t>
            </a:fld>
            <a:endParaRPr lang="en-US"/>
          </a:p>
        </p:txBody>
      </p:sp>
      <p:sp>
        <p:nvSpPr>
          <p:cNvPr id="6" name="Footer Placeholder 5">
            <a:extLst>
              <a:ext uri="{FF2B5EF4-FFF2-40B4-BE49-F238E27FC236}">
                <a16:creationId xmlns:a16="http://schemas.microsoft.com/office/drawing/2014/main" id="{039DE8F9-3080-521E-6EBC-D29D0EB78A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8C2D63-DBC3-2977-C249-2D99F630A627}"/>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90121628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C9787B-AC6A-96FD-579E-8D5BB4FFC74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8AFC988-CE29-6032-2EDF-7EFD5D45342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4BC3DF3-149B-7FA2-8ED1-1424B17A558C}"/>
              </a:ext>
            </a:extLst>
          </p:cNvPr>
          <p:cNvSpPr>
            <a:spLocks noGrp="1"/>
          </p:cNvSpPr>
          <p:nvPr>
            <p:ph type="dt" sz="half" idx="10"/>
          </p:nvPr>
        </p:nvSpPr>
        <p:spPr/>
        <p:txBody>
          <a:bodyPr/>
          <a:lstStyle/>
          <a:p>
            <a:fld id="{FEC2290C-3BCF-6243-B674-0DC8254A86DD}" type="datetimeFigureOut">
              <a:rPr lang="en-US" smtClean="0"/>
              <a:t>10/28/2026</a:t>
            </a:fld>
            <a:endParaRPr lang="en-US"/>
          </a:p>
        </p:txBody>
      </p:sp>
      <p:sp>
        <p:nvSpPr>
          <p:cNvPr id="5" name="Footer Placeholder 4">
            <a:extLst>
              <a:ext uri="{FF2B5EF4-FFF2-40B4-BE49-F238E27FC236}">
                <a16:creationId xmlns:a16="http://schemas.microsoft.com/office/drawing/2014/main" id="{6A201A68-B8C3-0991-9BC3-FD9A9C31E3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25AE5E-AF6E-BF9E-8FF5-ED5FE91624B2}"/>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37142128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467397B-B1A3-158C-818D-6D3C4DEF563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FB1BF81-1536-8A75-1CF0-A9E79FBA994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24F4E7-408A-D387-F2F2-D0DCD48866B5}"/>
              </a:ext>
            </a:extLst>
          </p:cNvPr>
          <p:cNvSpPr>
            <a:spLocks noGrp="1"/>
          </p:cNvSpPr>
          <p:nvPr>
            <p:ph type="dt" sz="half" idx="10"/>
          </p:nvPr>
        </p:nvSpPr>
        <p:spPr/>
        <p:txBody>
          <a:bodyPr/>
          <a:lstStyle/>
          <a:p>
            <a:fld id="{FEC2290C-3BCF-6243-B674-0DC8254A86DD}" type="datetimeFigureOut">
              <a:rPr lang="en-US" smtClean="0"/>
              <a:t>10/28/2026</a:t>
            </a:fld>
            <a:endParaRPr lang="en-US"/>
          </a:p>
        </p:txBody>
      </p:sp>
      <p:sp>
        <p:nvSpPr>
          <p:cNvPr id="5" name="Footer Placeholder 4">
            <a:extLst>
              <a:ext uri="{FF2B5EF4-FFF2-40B4-BE49-F238E27FC236}">
                <a16:creationId xmlns:a16="http://schemas.microsoft.com/office/drawing/2014/main" id="{C628EEA8-39BC-9720-B385-ABA561235F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4095FB-248C-46FF-802A-D33C610F19D1}"/>
              </a:ext>
            </a:extLst>
          </p:cNvPr>
          <p:cNvSpPr>
            <a:spLocks noGrp="1"/>
          </p:cNvSpPr>
          <p:nvPr>
            <p:ph type="sldNum" sz="quarter" idx="12"/>
          </p:nvPr>
        </p:nvSpPr>
        <p:spPr/>
        <p:txBody>
          <a:body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151939137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CU_BLUE">
    <p:bg>
      <p:bgPr>
        <a:solidFill>
          <a:srgbClr val="022169"/>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492240"/>
            <a:ext cx="256032"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B9D9EB"/>
                </a:solidFill>
                <a:latin typeface="EB Garamond"/>
                <a:ea typeface="EB Garamond"/>
                <a:cs typeface="EB Garamond"/>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529903492"/>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theme" Target="../theme/theme2.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567160" y="6492240"/>
            <a:ext cx="256032"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A719ACA-77F2-BB1C-830D-BF177CAE34D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ADF61DD-9954-8952-FE2C-76C92E5AC03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8D76B-B699-47AB-1675-61C0ACFEBB1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EC2290C-3BCF-6243-B674-0DC8254A86DD}" type="datetimeFigureOut">
              <a:rPr lang="en-US" smtClean="0"/>
              <a:t>10/28/2026</a:t>
            </a:fld>
            <a:endParaRPr lang="en-US"/>
          </a:p>
        </p:txBody>
      </p:sp>
      <p:sp>
        <p:nvSpPr>
          <p:cNvPr id="5" name="Footer Placeholder 4">
            <a:extLst>
              <a:ext uri="{FF2B5EF4-FFF2-40B4-BE49-F238E27FC236}">
                <a16:creationId xmlns:a16="http://schemas.microsoft.com/office/drawing/2014/main" id="{C47A74C6-805F-748F-5AE7-FDA53F9A6B3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2F12007-6B16-BF9C-02CC-16D05A41270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pPr algn="r"/>
            <a:fld id="{F7021451-1387-4CA6-816F-3879F97B5CBC}" type="slidenum">
              <a:rPr lang="en-US" b="0" smtClean="0"/>
              <a:t>‹#›</a:t>
            </a:fld>
            <a:endParaRPr lang="en-US"/>
          </a:p>
        </p:txBody>
      </p:sp>
    </p:spTree>
    <p:extLst>
      <p:ext uri="{BB962C8B-B14F-4D97-AF65-F5344CB8AC3E}">
        <p14:creationId xmlns:p14="http://schemas.microsoft.com/office/powerpoint/2010/main" val="2474832559"/>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 id="2147483661" r:id="rId8"/>
    <p:sldLayoutId id="2147483662" r:id="rId9"/>
    <p:sldLayoutId id="2147483663" r:id="rId10"/>
    <p:sldLayoutId id="2147483664" r:id="rId11"/>
    <p:sldLayoutId id="2147483665" r:id="rId12"/>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128016"/>
          </a:xfrm>
          <a:prstGeom prst="rect">
            <a:avLst/>
          </a:prstGeom>
          <a:solidFill>
            <a:srgbClr val="B9D9EB"/>
          </a:solidFill>
          <a:ln w="12700">
            <a:solidFill>
              <a:srgbClr val="B9D9EB"/>
            </a:solidFill>
            <a:prstDash val="solid"/>
          </a:ln>
        </p:spPr>
        <p:txBody>
          <a:bodyPr/>
          <a:lstStyle/>
          <a:p>
            <a:endParaRPr/>
          </a:p>
        </p:txBody>
      </p:sp>
      <p:sp>
        <p:nvSpPr>
          <p:cNvPr id="6" name="Text 2"/>
          <p:cNvSpPr/>
          <p:nvPr/>
        </p:nvSpPr>
        <p:spPr>
          <a:xfrm>
            <a:off x="3192627" y="2011680"/>
            <a:ext cx="5806440" cy="1417320"/>
          </a:xfrm>
          <a:prstGeom prst="rect">
            <a:avLst/>
          </a:prstGeom>
          <a:noFill/>
          <a:ln/>
        </p:spPr>
        <p:txBody>
          <a:bodyPr wrap="square" lIns="0" tIns="0" rIns="0" bIns="0" rtlCol="0" anchor="ctr">
            <a:normAutofit/>
          </a:bodyPr>
          <a:lstStyle/>
          <a:p>
            <a:pPr marL="0" indent="0" algn="ctr">
              <a:buNone/>
            </a:pPr>
            <a:r>
              <a:rPr lang="en-US" sz="3400" b="1" dirty="0">
                <a:solidFill>
                  <a:srgbClr val="022169"/>
                </a:solidFill>
                <a:latin typeface="EB Garamond" pitchFamily="34" charset="0"/>
                <a:ea typeface="EB Garamond" pitchFamily="34" charset="-122"/>
                <a:cs typeface="EB Garamond" pitchFamily="34" charset="-120"/>
              </a:rPr>
              <a:t>Sunday Finance Seminar:</a:t>
            </a:r>
            <a:endParaRPr lang="en-US" sz="3400" dirty="0"/>
          </a:p>
          <a:p>
            <a:pPr marL="0" indent="0" algn="ctr">
              <a:buNone/>
            </a:pPr>
            <a:r>
              <a:rPr lang="en-US" sz="3400" b="1" dirty="0">
                <a:solidFill>
                  <a:srgbClr val="022169"/>
                </a:solidFill>
                <a:latin typeface="EB Garamond" pitchFamily="34" charset="0"/>
                <a:ea typeface="EB Garamond" pitchFamily="34" charset="-122"/>
                <a:cs typeface="EB Garamond" pitchFamily="34" charset="-120"/>
              </a:rPr>
              <a:t>The Case for an AI Bubble</a:t>
            </a:r>
            <a:endParaRPr lang="en-US" sz="3400" dirty="0"/>
          </a:p>
        </p:txBody>
      </p:sp>
      <p:sp>
        <p:nvSpPr>
          <p:cNvPr id="7" name="Shape 3"/>
          <p:cNvSpPr/>
          <p:nvPr/>
        </p:nvSpPr>
        <p:spPr>
          <a:xfrm>
            <a:off x="3444087" y="3296478"/>
            <a:ext cx="5303520" cy="0"/>
          </a:xfrm>
          <a:prstGeom prst="line">
            <a:avLst/>
          </a:prstGeom>
          <a:noFill/>
          <a:ln w="38100">
            <a:solidFill>
              <a:srgbClr val="B9D9EB"/>
            </a:solidFill>
            <a:prstDash val="solid"/>
          </a:ln>
        </p:spPr>
        <p:txBody>
          <a:bodyPr/>
          <a:lstStyle/>
          <a:p>
            <a:endParaRPr/>
          </a:p>
        </p:txBody>
      </p:sp>
      <p:sp>
        <p:nvSpPr>
          <p:cNvPr id="8" name="TextBox 7"/>
          <p:cNvSpPr txBox="1"/>
          <p:nvPr/>
        </p:nvSpPr>
        <p:spPr>
          <a:xfrm>
            <a:off x="11292840" y="6473952"/>
            <a:ext cx="256032" cy="109728"/>
          </a:xfrm>
          <a:prstGeom prst="rect">
            <a:avLst/>
          </a:prstGeom>
          <a:noFill/>
        </p:spPr>
        <p:txBody>
          <a:bodyPr wrap="none" anchor="ctr">
            <a:spAutoFit/>
          </a:bodyPr>
          <a:lstStyle/>
          <a:p>
            <a:pPr algn="r"/>
            <a:r>
              <a:rPr sz="900">
                <a:solidFill>
                  <a:srgbClr val="5F6973"/>
                </a:solidFill>
                <a:latin typeface="Apto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Transformative technologies can still overboom</a:t>
            </a:r>
            <a:endParaRPr lang="en-US" sz="2600" dirty="0"/>
          </a:p>
        </p:txBody>
      </p:sp>
      <p:sp>
        <p:nvSpPr>
          <p:cNvPr id="3" name="Text 1"/>
          <p:cNvSpPr/>
          <p:nvPr/>
        </p:nvSpPr>
        <p:spPr>
          <a:xfrm>
            <a:off x="777240" y="1097280"/>
            <a:ext cx="10607040" cy="548640"/>
          </a:xfrm>
          <a:prstGeom prst="rect">
            <a:avLst/>
          </a:prstGeom>
          <a:noFill/>
          <a:ln/>
        </p:spPr>
        <p:txBody>
          <a:bodyPr wrap="square" lIns="0" tIns="0" rIns="0" bIns="0" rtlCol="0" anchor="ctr">
            <a:normAutofit fontScale="92500"/>
          </a:bodyPr>
          <a:lstStyle/>
          <a:p>
            <a:pPr marL="0" indent="0" algn="ctr">
              <a:buNone/>
            </a:pPr>
            <a:r>
              <a:rPr lang="en-US" sz="2200" b="1" dirty="0">
                <a:solidFill>
                  <a:srgbClr val="022169"/>
                </a:solidFill>
                <a:latin typeface="EB Garamond" pitchFamily="34" charset="0"/>
                <a:ea typeface="EB Garamond" pitchFamily="34" charset="-122"/>
                <a:cs typeface="EB Garamond" pitchFamily="34" charset="-120"/>
              </a:rPr>
              <a:t>“The technology is real” has never implied “the contemporaneous capital allocation was correct.”</a:t>
            </a:r>
            <a:endParaRPr lang="en-US" sz="2200" dirty="0"/>
          </a:p>
        </p:txBody>
      </p:sp>
      <p:sp>
        <p:nvSpPr>
          <p:cNvPr id="4" name="Text 2"/>
          <p:cNvSpPr/>
          <p:nvPr/>
        </p:nvSpPr>
        <p:spPr>
          <a:xfrm>
            <a:off x="822960" y="1965960"/>
            <a:ext cx="5806440" cy="3383280"/>
          </a:xfrm>
          <a:prstGeom prst="rect">
            <a:avLst/>
          </a:prstGeom>
          <a:noFill/>
          <a:ln/>
        </p:spPr>
        <p:txBody>
          <a:bodyPr wrap="square" lIns="381" tIns="381" rIns="381" bIns="381" rtlCol="0" anchor="t">
            <a:normAutofit/>
          </a:bodyPr>
          <a:lstStyle/>
          <a:p>
            <a:pPr marL="215900" indent="-215900">
              <a:buSzPct val="100000"/>
              <a:buChar char="•"/>
            </a:pPr>
            <a:r>
              <a:rPr lang="en-US" sz="1750" dirty="0">
                <a:solidFill>
                  <a:srgbClr val="2F3437"/>
                </a:solidFill>
                <a:latin typeface="EB Garamond" pitchFamily="34" charset="0"/>
                <a:ea typeface="EB Garamond" pitchFamily="34" charset="-122"/>
                <a:cs typeface="EB Garamond" pitchFamily="34" charset="-120"/>
              </a:rPr>
              <a:t>Canals: genuine network infrastructure, followed by speculative financing and failures.</a:t>
            </a:r>
            <a:endParaRPr lang="en-US" sz="1750" dirty="0"/>
          </a:p>
          <a:p>
            <a:pPr marL="215900" indent="-215900">
              <a:buSzPct val="100000"/>
              <a:buChar char="•"/>
            </a:pPr>
            <a:r>
              <a:rPr lang="en-US" sz="1750" dirty="0">
                <a:solidFill>
                  <a:srgbClr val="2F3437"/>
                </a:solidFill>
                <a:latin typeface="EB Garamond" pitchFamily="34" charset="0"/>
                <a:ea typeface="EB Garamond" pitchFamily="34" charset="-122"/>
                <a:cs typeface="EB Garamond" pitchFamily="34" charset="-120"/>
              </a:rPr>
              <a:t>Railroads: world-changing transport, repeated manias, bankruptcies, and restructurings.</a:t>
            </a:r>
            <a:endParaRPr lang="en-US" sz="1750" dirty="0"/>
          </a:p>
          <a:p>
            <a:pPr marL="215900" indent="-215900">
              <a:buSzPct val="100000"/>
              <a:buChar char="•"/>
            </a:pPr>
            <a:r>
              <a:rPr lang="en-US" sz="1750" dirty="0">
                <a:solidFill>
                  <a:srgbClr val="2F3437"/>
                </a:solidFill>
                <a:latin typeface="EB Garamond" pitchFamily="34" charset="0"/>
                <a:ea typeface="EB Garamond" pitchFamily="34" charset="-122"/>
                <a:cs typeface="EB Garamond" pitchFamily="34" charset="-120"/>
              </a:rPr>
              <a:t>1920s electrification / utilities: real productivity revolution, but speculative valuations still corrected violently.</a:t>
            </a:r>
            <a:endParaRPr lang="en-US" sz="1750" dirty="0"/>
          </a:p>
          <a:p>
            <a:pPr marL="215900" indent="-215900">
              <a:buSzPct val="100000"/>
              <a:buChar char="•"/>
            </a:pPr>
            <a:r>
              <a:rPr lang="en-US" sz="1750" dirty="0">
                <a:solidFill>
                  <a:srgbClr val="2F3437"/>
                </a:solidFill>
                <a:latin typeface="EB Garamond" pitchFamily="34" charset="0"/>
                <a:ea typeface="EB Garamond" pitchFamily="34" charset="-122"/>
                <a:cs typeface="EB Garamond" pitchFamily="34" charset="-120"/>
              </a:rPr>
              <a:t>Fiber and dot-com: the internet thesis was right; the amount, timing, and ownership of the capital were often wrong.</a:t>
            </a:r>
            <a:endParaRPr lang="en-US" sz="1750" dirty="0"/>
          </a:p>
        </p:txBody>
      </p:sp>
      <p:sp>
        <p:nvSpPr>
          <p:cNvPr id="25" name="Slide Number Placeholder 0"/>
          <p:cNvSpPr>
            <a:spLocks noGrp="1"/>
          </p:cNvSpPr>
          <p:nvPr>
            <p:ph type="sldNum" sz="quarter" idx="4294967295"/>
          </p:nvPr>
        </p:nvSpPr>
        <p:spPr>
          <a:xfrm>
            <a:off x="11780838" y="6492875"/>
            <a:ext cx="411162" cy="163513"/>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2</a:t>
            </a:r>
          </a:p>
        </p:txBody>
      </p:sp>
      <p:pic>
        <p:nvPicPr>
          <p:cNvPr id="26" name="BIS Graph 11.C - investment multiples" descr="_bis_graph11c_highres_clean.png"/>
          <p:cNvPicPr>
            <a:picLocks noChangeAspect="1"/>
          </p:cNvPicPr>
          <p:nvPr/>
        </p:nvPicPr>
        <p:blipFill>
          <a:blip r:embed="rId3"/>
          <a:stretch>
            <a:fillRect/>
          </a:stretch>
        </p:blipFill>
        <p:spPr>
          <a:xfrm>
            <a:off x="7470647" y="1673352"/>
            <a:ext cx="3088793" cy="4019152"/>
          </a:xfrm>
          <a:prstGeom prst="rect">
            <a:avLst/>
          </a:prstGeom>
        </p:spPr>
      </p:pic>
      <p:sp>
        <p:nvSpPr>
          <p:cNvPr id="27" name="BIS Graph 11.C - methodology caption"/>
          <p:cNvSpPr txBox="1"/>
          <p:nvPr/>
        </p:nvSpPr>
        <p:spPr>
          <a:xfrm>
            <a:off x="6903720" y="5715000"/>
            <a:ext cx="4389120" cy="877824"/>
          </a:xfrm>
          <a:prstGeom prst="rect">
            <a:avLst/>
          </a:prstGeom>
          <a:noFill/>
        </p:spPr>
        <p:txBody>
          <a:bodyPr wrap="square" lIns="18288" tIns="0" rIns="18288" bIns="0" anchor="t">
            <a:spAutoFit/>
          </a:bodyPr>
          <a:lstStyle/>
          <a:p>
            <a:pPr algn="l">
              <a:spcBef>
                <a:spcPts val="0"/>
              </a:spcBef>
              <a:spcAft>
                <a:spcPts val="0"/>
              </a:spcAft>
            </a:pPr>
            <a:r>
              <a:rPr sz="975" i="0" dirty="0">
                <a:solidFill>
                  <a:srgbClr val="54626E"/>
                </a:solidFill>
                <a:latin typeface="EB Garamond"/>
              </a:rPr>
              <a:t>Multiples of each series at its pre-boom trough (1×); x-axis: years since trough. Series / base years: U.S. canals (1835), British real investment (1843), U.S. private fixed assets (1921), U.S. IT/software investment (1995), AI </a:t>
            </a:r>
            <a:r>
              <a:rPr sz="975" i="0" dirty="0" err="1">
                <a:solidFill>
                  <a:srgbClr val="54626E"/>
                </a:solidFill>
                <a:latin typeface="EB Garamond"/>
              </a:rPr>
              <a:t>hyperscaler</a:t>
            </a:r>
            <a:r>
              <a:rPr sz="975" i="0" dirty="0">
                <a:solidFill>
                  <a:srgbClr val="54626E"/>
                </a:solidFill>
                <a:latin typeface="EB Garamond"/>
              </a:rPr>
              <a:t> capex (2023). Different scopes; not shares of GDP.</a:t>
            </a:r>
          </a:p>
        </p:txBody>
      </p:sp>
      <p:sp>
        <p:nvSpPr>
          <p:cNvPr id="28" name="BIS Graph 11.C - source footnote"/>
          <p:cNvSpPr txBox="1"/>
          <p:nvPr/>
        </p:nvSpPr>
        <p:spPr>
          <a:xfrm>
            <a:off x="466344" y="6345936"/>
            <a:ext cx="10671048" cy="246888"/>
          </a:xfrm>
          <a:prstGeom prst="rect">
            <a:avLst/>
          </a:prstGeom>
          <a:noFill/>
        </p:spPr>
        <p:txBody>
          <a:bodyPr wrap="square" lIns="18288" tIns="0" rIns="18288" bIns="0" anchor="t">
            <a:spAutoFit/>
          </a:bodyPr>
          <a:lstStyle/>
          <a:p>
            <a:pPr algn="l">
              <a:spcBef>
                <a:spcPts val="0"/>
              </a:spcBef>
              <a:spcAft>
                <a:spcPts val="0"/>
              </a:spcAft>
            </a:pPr>
            <a:r>
              <a:rPr sz="815" i="0">
                <a:solidFill>
                  <a:srgbClr val="707E89"/>
                </a:solidFill>
                <a:latin typeface="Aptos"/>
              </a:rPr>
              <a:t>Source: BIS, Annual Economic Report 2026, Graph 11.C (p. 23); Additional notes to graphs (p. 35).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The infrastructure bet is historically unprecedented</a:t>
            </a:r>
            <a:endParaRPr lang="en-US" sz="2600" dirty="0"/>
          </a:p>
        </p:txBody>
      </p:sp>
      <p:sp>
        <p:nvSpPr>
          <p:cNvPr id="3" name="Text 1"/>
          <p:cNvSpPr/>
          <p:nvPr/>
        </p:nvSpPr>
        <p:spPr>
          <a:xfrm>
            <a:off x="1005840" y="1115568"/>
            <a:ext cx="10104120" cy="347472"/>
          </a:xfrm>
          <a:prstGeom prst="rect">
            <a:avLst/>
          </a:prstGeom>
          <a:noFill/>
          <a:ln/>
        </p:spPr>
        <p:txBody>
          <a:bodyPr wrap="square" lIns="0" tIns="0" rIns="0" bIns="0" rtlCol="0" anchor="ctr"/>
          <a:lstStyle/>
          <a:p>
            <a:pPr marL="0" indent="0" algn="ctr">
              <a:buNone/>
            </a:pPr>
            <a:r>
              <a:rPr lang="en-US" sz="1800" b="1" dirty="0">
                <a:solidFill>
                  <a:srgbClr val="022169"/>
                </a:solidFill>
                <a:latin typeface="EB Garamond" pitchFamily="34" charset="0"/>
                <a:ea typeface="EB Garamond" pitchFamily="34" charset="-122"/>
                <a:cs typeface="EB Garamond" pitchFamily="34" charset="-120"/>
              </a:rPr>
              <a:t>Average annual infrastructure investment as a share of U.S. GDP</a:t>
            </a:r>
            <a:endParaRPr lang="en-US" sz="1800" dirty="0"/>
          </a:p>
        </p:txBody>
      </p:sp>
      <p:sp>
        <p:nvSpPr>
          <p:cNvPr id="4" name="Text 2"/>
          <p:cNvSpPr/>
          <p:nvPr/>
        </p:nvSpPr>
        <p:spPr>
          <a:xfrm>
            <a:off x="1417320" y="1783080"/>
            <a:ext cx="2194560" cy="274320"/>
          </a:xfrm>
          <a:prstGeom prst="rect">
            <a:avLst/>
          </a:prstGeom>
          <a:noFill/>
          <a:ln/>
        </p:spPr>
        <p:txBody>
          <a:bodyPr wrap="square" lIns="0" tIns="0" rIns="0" bIns="0" rtlCol="0" anchor="ctr">
            <a:normAutofit/>
          </a:bodyPr>
          <a:lstStyle/>
          <a:p>
            <a:pPr marL="0" indent="0">
              <a:buNone/>
            </a:pPr>
            <a:r>
              <a:rPr lang="en-US" sz="1300" dirty="0">
                <a:solidFill>
                  <a:srgbClr val="2F3437"/>
                </a:solidFill>
                <a:latin typeface="EB Garamond" pitchFamily="34" charset="0"/>
                <a:ea typeface="EB Garamond" pitchFamily="34" charset="-122"/>
                <a:cs typeface="EB Garamond" pitchFamily="34" charset="-120"/>
              </a:rPr>
              <a:t>AI buildout, 2025–32</a:t>
            </a:r>
            <a:endParaRPr lang="en-US" sz="1300" dirty="0"/>
          </a:p>
        </p:txBody>
      </p:sp>
      <p:sp>
        <p:nvSpPr>
          <p:cNvPr id="5" name="Shape 3"/>
          <p:cNvSpPr/>
          <p:nvPr/>
        </p:nvSpPr>
        <p:spPr>
          <a:xfrm>
            <a:off x="3749040" y="1819656"/>
            <a:ext cx="6035040" cy="201168"/>
          </a:xfrm>
          <a:prstGeom prst="rect">
            <a:avLst/>
          </a:prstGeom>
          <a:solidFill>
            <a:srgbClr val="E7EEF2"/>
          </a:solidFill>
          <a:ln w="12700">
            <a:solidFill>
              <a:srgbClr val="E7EEF2"/>
            </a:solidFill>
            <a:prstDash val="solid"/>
          </a:ln>
        </p:spPr>
        <p:txBody>
          <a:bodyPr/>
          <a:lstStyle/>
          <a:p>
            <a:endParaRPr/>
          </a:p>
        </p:txBody>
      </p:sp>
      <p:sp>
        <p:nvSpPr>
          <p:cNvPr id="6" name="Shape 4"/>
          <p:cNvSpPr/>
          <p:nvPr/>
        </p:nvSpPr>
        <p:spPr>
          <a:xfrm>
            <a:off x="3749040" y="1819656"/>
            <a:ext cx="5476799" cy="201168"/>
          </a:xfrm>
          <a:prstGeom prst="rect">
            <a:avLst/>
          </a:prstGeom>
          <a:solidFill>
            <a:srgbClr val="022169"/>
          </a:solidFill>
          <a:ln w="12700">
            <a:solidFill>
              <a:srgbClr val="022169"/>
            </a:solidFill>
            <a:prstDash val="solid"/>
          </a:ln>
        </p:spPr>
        <p:txBody>
          <a:bodyPr/>
          <a:lstStyle/>
          <a:p>
            <a:endParaRPr/>
          </a:p>
        </p:txBody>
      </p:sp>
      <p:sp>
        <p:nvSpPr>
          <p:cNvPr id="7" name="Text 5"/>
          <p:cNvSpPr/>
          <p:nvPr/>
        </p:nvSpPr>
        <p:spPr>
          <a:xfrm>
            <a:off x="9857232" y="1773936"/>
            <a:ext cx="658368" cy="274320"/>
          </a:xfrm>
          <a:prstGeom prst="rect">
            <a:avLst/>
          </a:prstGeom>
          <a:noFill/>
          <a:ln/>
        </p:spPr>
        <p:txBody>
          <a:bodyPr wrap="square" lIns="0" tIns="0" rIns="0" bIns="0" rtlCol="0" anchor="ctr"/>
          <a:lstStyle/>
          <a:p>
            <a:pPr marL="0" indent="0" algn="r">
              <a:buNone/>
            </a:pPr>
            <a:r>
              <a:rPr lang="en-US" sz="1300" b="1" dirty="0">
                <a:solidFill>
                  <a:srgbClr val="022169"/>
                </a:solidFill>
                <a:latin typeface="EB Garamond" pitchFamily="34" charset="0"/>
                <a:ea typeface="EB Garamond" pitchFamily="34" charset="-122"/>
                <a:cs typeface="EB Garamond" pitchFamily="34" charset="-120"/>
              </a:rPr>
              <a:t>3.63%</a:t>
            </a:r>
            <a:endParaRPr lang="en-US" sz="1300" dirty="0"/>
          </a:p>
        </p:txBody>
      </p:sp>
      <p:sp>
        <p:nvSpPr>
          <p:cNvPr id="8" name="Text 6"/>
          <p:cNvSpPr/>
          <p:nvPr/>
        </p:nvSpPr>
        <p:spPr>
          <a:xfrm>
            <a:off x="1417320" y="2368296"/>
            <a:ext cx="2194560" cy="274320"/>
          </a:xfrm>
          <a:prstGeom prst="rect">
            <a:avLst/>
          </a:prstGeom>
          <a:noFill/>
          <a:ln/>
        </p:spPr>
        <p:txBody>
          <a:bodyPr wrap="square" lIns="0" tIns="0" rIns="0" bIns="0" rtlCol="0" anchor="ctr">
            <a:normAutofit/>
          </a:bodyPr>
          <a:lstStyle/>
          <a:p>
            <a:pPr marL="0" indent="0">
              <a:buNone/>
            </a:pPr>
            <a:r>
              <a:rPr lang="en-US" sz="1300" dirty="0">
                <a:solidFill>
                  <a:srgbClr val="2F3437"/>
                </a:solidFill>
                <a:latin typeface="EB Garamond" pitchFamily="34" charset="0"/>
                <a:ea typeface="EB Garamond" pitchFamily="34" charset="-122"/>
                <a:cs typeface="EB Garamond" pitchFamily="34" charset="-120"/>
              </a:rPr>
              <a:t>Railroads, 1870–90</a:t>
            </a:r>
            <a:endParaRPr lang="en-US" sz="1300" dirty="0"/>
          </a:p>
        </p:txBody>
      </p:sp>
      <p:sp>
        <p:nvSpPr>
          <p:cNvPr id="9" name="Shape 7"/>
          <p:cNvSpPr/>
          <p:nvPr/>
        </p:nvSpPr>
        <p:spPr>
          <a:xfrm>
            <a:off x="3749040" y="2404872"/>
            <a:ext cx="6035040" cy="201168"/>
          </a:xfrm>
          <a:prstGeom prst="rect">
            <a:avLst/>
          </a:prstGeom>
          <a:solidFill>
            <a:srgbClr val="E7EEF2"/>
          </a:solidFill>
          <a:ln w="12700">
            <a:solidFill>
              <a:srgbClr val="E7EEF2"/>
            </a:solidFill>
            <a:prstDash val="solid"/>
          </a:ln>
        </p:spPr>
        <p:txBody>
          <a:bodyPr/>
          <a:lstStyle/>
          <a:p>
            <a:endParaRPr/>
          </a:p>
        </p:txBody>
      </p:sp>
      <p:sp>
        <p:nvSpPr>
          <p:cNvPr id="10" name="Shape 8"/>
          <p:cNvSpPr/>
          <p:nvPr/>
        </p:nvSpPr>
        <p:spPr>
          <a:xfrm>
            <a:off x="3749040" y="2404872"/>
            <a:ext cx="3379622" cy="201168"/>
          </a:xfrm>
          <a:prstGeom prst="rect">
            <a:avLst/>
          </a:prstGeom>
          <a:solidFill>
            <a:srgbClr val="6CACE4"/>
          </a:solidFill>
          <a:ln w="12700">
            <a:solidFill>
              <a:srgbClr val="6CACE4"/>
            </a:solidFill>
            <a:prstDash val="solid"/>
          </a:ln>
        </p:spPr>
        <p:txBody>
          <a:bodyPr/>
          <a:lstStyle/>
          <a:p>
            <a:endParaRPr/>
          </a:p>
        </p:txBody>
      </p:sp>
      <p:sp>
        <p:nvSpPr>
          <p:cNvPr id="11" name="Text 9"/>
          <p:cNvSpPr/>
          <p:nvPr/>
        </p:nvSpPr>
        <p:spPr>
          <a:xfrm>
            <a:off x="9857232" y="2359152"/>
            <a:ext cx="658368" cy="274320"/>
          </a:xfrm>
          <a:prstGeom prst="rect">
            <a:avLst/>
          </a:prstGeom>
          <a:noFill/>
          <a:ln/>
        </p:spPr>
        <p:txBody>
          <a:bodyPr wrap="square" lIns="0" tIns="0" rIns="0" bIns="0" rtlCol="0" anchor="ctr"/>
          <a:lstStyle/>
          <a:p>
            <a:pPr marL="0" indent="0" algn="r">
              <a:buNone/>
            </a:pPr>
            <a:r>
              <a:rPr lang="en-US" sz="1300" b="1" dirty="0">
                <a:solidFill>
                  <a:srgbClr val="022169"/>
                </a:solidFill>
                <a:latin typeface="EB Garamond" pitchFamily="34" charset="0"/>
                <a:ea typeface="EB Garamond" pitchFamily="34" charset="-122"/>
                <a:cs typeface="EB Garamond" pitchFamily="34" charset="-120"/>
              </a:rPr>
              <a:t>2.24%</a:t>
            </a:r>
            <a:endParaRPr lang="en-US" sz="1300" dirty="0"/>
          </a:p>
        </p:txBody>
      </p:sp>
      <p:sp>
        <p:nvSpPr>
          <p:cNvPr id="12" name="Text 10"/>
          <p:cNvSpPr/>
          <p:nvPr/>
        </p:nvSpPr>
        <p:spPr>
          <a:xfrm>
            <a:off x="1417320" y="2953512"/>
            <a:ext cx="2194560" cy="274320"/>
          </a:xfrm>
          <a:prstGeom prst="rect">
            <a:avLst/>
          </a:prstGeom>
          <a:noFill/>
          <a:ln/>
        </p:spPr>
        <p:txBody>
          <a:bodyPr wrap="square" lIns="0" tIns="0" rIns="0" bIns="0" rtlCol="0" anchor="ctr">
            <a:normAutofit/>
          </a:bodyPr>
          <a:lstStyle/>
          <a:p>
            <a:pPr marL="0" indent="0">
              <a:buNone/>
            </a:pPr>
            <a:r>
              <a:rPr lang="en-US" sz="1300" dirty="0">
                <a:solidFill>
                  <a:srgbClr val="2F3437"/>
                </a:solidFill>
                <a:latin typeface="EB Garamond" pitchFamily="34" charset="0"/>
                <a:ea typeface="EB Garamond" pitchFamily="34" charset="-122"/>
                <a:cs typeface="EB Garamond" pitchFamily="34" charset="-120"/>
              </a:rPr>
              <a:t>Interstate highways</a:t>
            </a:r>
            <a:endParaRPr lang="en-US" sz="1300" dirty="0"/>
          </a:p>
        </p:txBody>
      </p:sp>
      <p:sp>
        <p:nvSpPr>
          <p:cNvPr id="13" name="Shape 11"/>
          <p:cNvSpPr/>
          <p:nvPr/>
        </p:nvSpPr>
        <p:spPr>
          <a:xfrm>
            <a:off x="3749040" y="2990088"/>
            <a:ext cx="6035040" cy="201168"/>
          </a:xfrm>
          <a:prstGeom prst="rect">
            <a:avLst/>
          </a:prstGeom>
          <a:solidFill>
            <a:srgbClr val="E7EEF2"/>
          </a:solidFill>
          <a:ln w="12700">
            <a:solidFill>
              <a:srgbClr val="E7EEF2"/>
            </a:solidFill>
            <a:prstDash val="solid"/>
          </a:ln>
        </p:spPr>
        <p:txBody>
          <a:bodyPr/>
          <a:lstStyle/>
          <a:p>
            <a:endParaRPr/>
          </a:p>
        </p:txBody>
      </p:sp>
      <p:sp>
        <p:nvSpPr>
          <p:cNvPr id="14" name="Shape 12"/>
          <p:cNvSpPr/>
          <p:nvPr/>
        </p:nvSpPr>
        <p:spPr>
          <a:xfrm>
            <a:off x="3749040" y="2990088"/>
            <a:ext cx="1704899" cy="201168"/>
          </a:xfrm>
          <a:prstGeom prst="rect">
            <a:avLst/>
          </a:prstGeom>
          <a:solidFill>
            <a:srgbClr val="6CACE4"/>
          </a:solidFill>
          <a:ln w="12700">
            <a:solidFill>
              <a:srgbClr val="6CACE4"/>
            </a:solidFill>
            <a:prstDash val="solid"/>
          </a:ln>
        </p:spPr>
        <p:txBody>
          <a:bodyPr/>
          <a:lstStyle/>
          <a:p>
            <a:endParaRPr/>
          </a:p>
        </p:txBody>
      </p:sp>
      <p:sp>
        <p:nvSpPr>
          <p:cNvPr id="15" name="Text 13"/>
          <p:cNvSpPr/>
          <p:nvPr/>
        </p:nvSpPr>
        <p:spPr>
          <a:xfrm>
            <a:off x="9857232" y="2944368"/>
            <a:ext cx="658368" cy="274320"/>
          </a:xfrm>
          <a:prstGeom prst="rect">
            <a:avLst/>
          </a:prstGeom>
          <a:noFill/>
          <a:ln/>
        </p:spPr>
        <p:txBody>
          <a:bodyPr wrap="square" lIns="0" tIns="0" rIns="0" bIns="0" rtlCol="0" anchor="ctr"/>
          <a:lstStyle/>
          <a:p>
            <a:pPr marL="0" indent="0" algn="r">
              <a:buNone/>
            </a:pPr>
            <a:r>
              <a:rPr lang="en-US" sz="1300" b="1" dirty="0">
                <a:solidFill>
                  <a:srgbClr val="022169"/>
                </a:solidFill>
                <a:latin typeface="EB Garamond" pitchFamily="34" charset="0"/>
                <a:ea typeface="EB Garamond" pitchFamily="34" charset="-122"/>
                <a:cs typeface="EB Garamond" pitchFamily="34" charset="-120"/>
              </a:rPr>
              <a:t>1.13%</a:t>
            </a:r>
            <a:endParaRPr lang="en-US" sz="1300" dirty="0"/>
          </a:p>
        </p:txBody>
      </p:sp>
      <p:sp>
        <p:nvSpPr>
          <p:cNvPr id="16" name="Text 14"/>
          <p:cNvSpPr/>
          <p:nvPr/>
        </p:nvSpPr>
        <p:spPr>
          <a:xfrm>
            <a:off x="1417320" y="3538728"/>
            <a:ext cx="2194560" cy="274320"/>
          </a:xfrm>
          <a:prstGeom prst="rect">
            <a:avLst/>
          </a:prstGeom>
          <a:noFill/>
          <a:ln/>
        </p:spPr>
        <p:txBody>
          <a:bodyPr wrap="square" lIns="0" tIns="0" rIns="0" bIns="0" rtlCol="0" anchor="ctr">
            <a:normAutofit/>
          </a:bodyPr>
          <a:lstStyle/>
          <a:p>
            <a:pPr marL="0" indent="0">
              <a:buNone/>
            </a:pPr>
            <a:r>
              <a:rPr lang="en-US" sz="1300" dirty="0">
                <a:solidFill>
                  <a:srgbClr val="2F3437"/>
                </a:solidFill>
                <a:latin typeface="EB Garamond" pitchFamily="34" charset="0"/>
                <a:ea typeface="EB Garamond" pitchFamily="34" charset="-122"/>
                <a:cs typeface="EB Garamond" pitchFamily="34" charset="-120"/>
              </a:rPr>
              <a:t>Telecom / fiber</a:t>
            </a:r>
            <a:endParaRPr lang="en-US" sz="1300" dirty="0"/>
          </a:p>
        </p:txBody>
      </p:sp>
      <p:sp>
        <p:nvSpPr>
          <p:cNvPr id="17" name="Shape 15"/>
          <p:cNvSpPr/>
          <p:nvPr/>
        </p:nvSpPr>
        <p:spPr>
          <a:xfrm>
            <a:off x="3749040" y="3575304"/>
            <a:ext cx="6035040" cy="201168"/>
          </a:xfrm>
          <a:prstGeom prst="rect">
            <a:avLst/>
          </a:prstGeom>
          <a:solidFill>
            <a:srgbClr val="E7EEF2"/>
          </a:solidFill>
          <a:ln w="12700">
            <a:solidFill>
              <a:srgbClr val="E7EEF2"/>
            </a:solidFill>
            <a:prstDash val="solid"/>
          </a:ln>
        </p:spPr>
        <p:txBody>
          <a:bodyPr/>
          <a:lstStyle/>
          <a:p>
            <a:endParaRPr/>
          </a:p>
        </p:txBody>
      </p:sp>
      <p:sp>
        <p:nvSpPr>
          <p:cNvPr id="18" name="Shape 16"/>
          <p:cNvSpPr/>
          <p:nvPr/>
        </p:nvSpPr>
        <p:spPr>
          <a:xfrm>
            <a:off x="3749040" y="3575304"/>
            <a:ext cx="1659636" cy="201168"/>
          </a:xfrm>
          <a:prstGeom prst="rect">
            <a:avLst/>
          </a:prstGeom>
          <a:solidFill>
            <a:srgbClr val="6CACE4"/>
          </a:solidFill>
          <a:ln w="12700">
            <a:solidFill>
              <a:srgbClr val="6CACE4"/>
            </a:solidFill>
            <a:prstDash val="solid"/>
          </a:ln>
        </p:spPr>
        <p:txBody>
          <a:bodyPr/>
          <a:lstStyle/>
          <a:p>
            <a:endParaRPr/>
          </a:p>
        </p:txBody>
      </p:sp>
      <p:sp>
        <p:nvSpPr>
          <p:cNvPr id="19" name="Text 17"/>
          <p:cNvSpPr/>
          <p:nvPr/>
        </p:nvSpPr>
        <p:spPr>
          <a:xfrm>
            <a:off x="9857232" y="3529584"/>
            <a:ext cx="658368" cy="274320"/>
          </a:xfrm>
          <a:prstGeom prst="rect">
            <a:avLst/>
          </a:prstGeom>
          <a:noFill/>
          <a:ln/>
        </p:spPr>
        <p:txBody>
          <a:bodyPr wrap="square" lIns="0" tIns="0" rIns="0" bIns="0" rtlCol="0" anchor="ctr"/>
          <a:lstStyle/>
          <a:p>
            <a:pPr marL="0" indent="0" algn="r">
              <a:buNone/>
            </a:pPr>
            <a:r>
              <a:rPr lang="en-US" sz="1300" b="1" dirty="0">
                <a:solidFill>
                  <a:srgbClr val="022169"/>
                </a:solidFill>
                <a:latin typeface="EB Garamond" pitchFamily="34" charset="0"/>
                <a:ea typeface="EB Garamond" pitchFamily="34" charset="-122"/>
                <a:cs typeface="EB Garamond" pitchFamily="34" charset="-120"/>
              </a:rPr>
              <a:t>1.10%</a:t>
            </a:r>
            <a:endParaRPr lang="en-US" sz="1300" dirty="0"/>
          </a:p>
        </p:txBody>
      </p:sp>
      <p:sp>
        <p:nvSpPr>
          <p:cNvPr id="20" name="Text 18"/>
          <p:cNvSpPr/>
          <p:nvPr/>
        </p:nvSpPr>
        <p:spPr>
          <a:xfrm>
            <a:off x="1417320" y="4123944"/>
            <a:ext cx="2194560" cy="274320"/>
          </a:xfrm>
          <a:prstGeom prst="rect">
            <a:avLst/>
          </a:prstGeom>
          <a:noFill/>
          <a:ln/>
        </p:spPr>
        <p:txBody>
          <a:bodyPr wrap="square" lIns="0" tIns="0" rIns="0" bIns="0" rtlCol="0" anchor="ctr">
            <a:normAutofit/>
          </a:bodyPr>
          <a:lstStyle/>
          <a:p>
            <a:pPr marL="0" indent="0">
              <a:buNone/>
            </a:pPr>
            <a:r>
              <a:rPr lang="en-US" sz="1300" dirty="0">
                <a:solidFill>
                  <a:srgbClr val="2F3437"/>
                </a:solidFill>
                <a:latin typeface="EB Garamond" pitchFamily="34" charset="0"/>
                <a:ea typeface="EB Garamond" pitchFamily="34" charset="-122"/>
                <a:cs typeface="EB Garamond" pitchFamily="34" charset="-120"/>
              </a:rPr>
              <a:t>Canals</a:t>
            </a:r>
            <a:endParaRPr lang="en-US" sz="1300" dirty="0"/>
          </a:p>
        </p:txBody>
      </p:sp>
      <p:sp>
        <p:nvSpPr>
          <p:cNvPr id="21" name="Shape 19"/>
          <p:cNvSpPr/>
          <p:nvPr/>
        </p:nvSpPr>
        <p:spPr>
          <a:xfrm>
            <a:off x="3749040" y="4160520"/>
            <a:ext cx="6035040" cy="201168"/>
          </a:xfrm>
          <a:prstGeom prst="rect">
            <a:avLst/>
          </a:prstGeom>
          <a:solidFill>
            <a:srgbClr val="E7EEF2"/>
          </a:solidFill>
          <a:ln w="12700">
            <a:solidFill>
              <a:srgbClr val="E7EEF2"/>
            </a:solidFill>
            <a:prstDash val="solid"/>
          </a:ln>
        </p:spPr>
        <p:txBody>
          <a:bodyPr/>
          <a:lstStyle/>
          <a:p>
            <a:endParaRPr/>
          </a:p>
        </p:txBody>
      </p:sp>
      <p:sp>
        <p:nvSpPr>
          <p:cNvPr id="22" name="Shape 20"/>
          <p:cNvSpPr/>
          <p:nvPr/>
        </p:nvSpPr>
        <p:spPr>
          <a:xfrm>
            <a:off x="3749040" y="4160520"/>
            <a:ext cx="995782" cy="201168"/>
          </a:xfrm>
          <a:prstGeom prst="rect">
            <a:avLst/>
          </a:prstGeom>
          <a:solidFill>
            <a:srgbClr val="B9D9EB"/>
          </a:solidFill>
          <a:ln w="12700">
            <a:solidFill>
              <a:srgbClr val="B9D9EB"/>
            </a:solidFill>
            <a:prstDash val="solid"/>
          </a:ln>
        </p:spPr>
        <p:txBody>
          <a:bodyPr/>
          <a:lstStyle/>
          <a:p>
            <a:endParaRPr/>
          </a:p>
        </p:txBody>
      </p:sp>
      <p:sp>
        <p:nvSpPr>
          <p:cNvPr id="23" name="Text 21"/>
          <p:cNvSpPr/>
          <p:nvPr/>
        </p:nvSpPr>
        <p:spPr>
          <a:xfrm>
            <a:off x="9857232" y="4114800"/>
            <a:ext cx="658368" cy="274320"/>
          </a:xfrm>
          <a:prstGeom prst="rect">
            <a:avLst/>
          </a:prstGeom>
          <a:noFill/>
          <a:ln/>
        </p:spPr>
        <p:txBody>
          <a:bodyPr wrap="square" lIns="0" tIns="0" rIns="0" bIns="0" rtlCol="0" anchor="ctr"/>
          <a:lstStyle/>
          <a:p>
            <a:pPr marL="0" indent="0" algn="r">
              <a:buNone/>
            </a:pPr>
            <a:r>
              <a:rPr lang="en-US" sz="1300" b="1" dirty="0">
                <a:solidFill>
                  <a:srgbClr val="022169"/>
                </a:solidFill>
                <a:latin typeface="EB Garamond" pitchFamily="34" charset="0"/>
                <a:ea typeface="EB Garamond" pitchFamily="34" charset="-122"/>
                <a:cs typeface="EB Garamond" pitchFamily="34" charset="-120"/>
              </a:rPr>
              <a:t>0.66%</a:t>
            </a:r>
            <a:endParaRPr lang="en-US" sz="1300" dirty="0"/>
          </a:p>
        </p:txBody>
      </p:sp>
      <p:sp>
        <p:nvSpPr>
          <p:cNvPr id="24" name="Text 22"/>
          <p:cNvSpPr/>
          <p:nvPr/>
        </p:nvSpPr>
        <p:spPr>
          <a:xfrm>
            <a:off x="1417320" y="4709160"/>
            <a:ext cx="2194560" cy="274320"/>
          </a:xfrm>
          <a:prstGeom prst="rect">
            <a:avLst/>
          </a:prstGeom>
          <a:noFill/>
          <a:ln/>
        </p:spPr>
        <p:txBody>
          <a:bodyPr wrap="square" lIns="0" tIns="0" rIns="0" bIns="0" rtlCol="0" anchor="ctr">
            <a:normAutofit/>
          </a:bodyPr>
          <a:lstStyle/>
          <a:p>
            <a:pPr marL="0" indent="0">
              <a:buNone/>
            </a:pPr>
            <a:r>
              <a:rPr lang="en-US" sz="1300" dirty="0">
                <a:solidFill>
                  <a:srgbClr val="2F3437"/>
                </a:solidFill>
                <a:latin typeface="EB Garamond" pitchFamily="34" charset="0"/>
                <a:ea typeface="EB Garamond" pitchFamily="34" charset="-122"/>
                <a:cs typeface="EB Garamond" pitchFamily="34" charset="-120"/>
              </a:rPr>
              <a:t>Electrification</a:t>
            </a:r>
            <a:endParaRPr lang="en-US" sz="1300" dirty="0"/>
          </a:p>
        </p:txBody>
      </p:sp>
      <p:sp>
        <p:nvSpPr>
          <p:cNvPr id="25" name="Shape 23"/>
          <p:cNvSpPr/>
          <p:nvPr/>
        </p:nvSpPr>
        <p:spPr>
          <a:xfrm>
            <a:off x="3749040" y="4745736"/>
            <a:ext cx="6035040" cy="201168"/>
          </a:xfrm>
          <a:prstGeom prst="rect">
            <a:avLst/>
          </a:prstGeom>
          <a:solidFill>
            <a:srgbClr val="E7EEF2"/>
          </a:solidFill>
          <a:ln w="12700">
            <a:solidFill>
              <a:srgbClr val="E7EEF2"/>
            </a:solidFill>
            <a:prstDash val="solid"/>
          </a:ln>
        </p:spPr>
        <p:txBody>
          <a:bodyPr/>
          <a:lstStyle/>
          <a:p>
            <a:endParaRPr/>
          </a:p>
        </p:txBody>
      </p:sp>
      <p:sp>
        <p:nvSpPr>
          <p:cNvPr id="26" name="Shape 24"/>
          <p:cNvSpPr/>
          <p:nvPr/>
        </p:nvSpPr>
        <p:spPr>
          <a:xfrm>
            <a:off x="3749040" y="4745736"/>
            <a:ext cx="754380" cy="201168"/>
          </a:xfrm>
          <a:prstGeom prst="rect">
            <a:avLst/>
          </a:prstGeom>
          <a:solidFill>
            <a:srgbClr val="B9D9EB"/>
          </a:solidFill>
          <a:ln w="12700">
            <a:solidFill>
              <a:srgbClr val="B9D9EB"/>
            </a:solidFill>
            <a:prstDash val="solid"/>
          </a:ln>
        </p:spPr>
        <p:txBody>
          <a:bodyPr/>
          <a:lstStyle/>
          <a:p>
            <a:endParaRPr/>
          </a:p>
        </p:txBody>
      </p:sp>
      <p:sp>
        <p:nvSpPr>
          <p:cNvPr id="27" name="Text 25"/>
          <p:cNvSpPr/>
          <p:nvPr/>
        </p:nvSpPr>
        <p:spPr>
          <a:xfrm>
            <a:off x="9857232" y="4700016"/>
            <a:ext cx="658368" cy="274320"/>
          </a:xfrm>
          <a:prstGeom prst="rect">
            <a:avLst/>
          </a:prstGeom>
          <a:noFill/>
          <a:ln/>
        </p:spPr>
        <p:txBody>
          <a:bodyPr wrap="square" lIns="0" tIns="0" rIns="0" bIns="0" rtlCol="0" anchor="ctr"/>
          <a:lstStyle/>
          <a:p>
            <a:pPr marL="0" indent="0" algn="r">
              <a:buNone/>
            </a:pPr>
            <a:r>
              <a:rPr lang="en-US" sz="1300" b="1" dirty="0">
                <a:solidFill>
                  <a:srgbClr val="022169"/>
                </a:solidFill>
                <a:latin typeface="EB Garamond" pitchFamily="34" charset="0"/>
                <a:ea typeface="EB Garamond" pitchFamily="34" charset="-122"/>
                <a:cs typeface="EB Garamond" pitchFamily="34" charset="-120"/>
              </a:rPr>
              <a:t>0.50%</a:t>
            </a:r>
            <a:endParaRPr lang="en-US" sz="1300" dirty="0"/>
          </a:p>
        </p:txBody>
      </p:sp>
      <p:sp>
        <p:nvSpPr>
          <p:cNvPr id="28" name="Text 26"/>
          <p:cNvSpPr/>
          <p:nvPr/>
        </p:nvSpPr>
        <p:spPr>
          <a:xfrm>
            <a:off x="1234440" y="5504688"/>
            <a:ext cx="9738360" cy="530352"/>
          </a:xfrm>
          <a:prstGeom prst="rect">
            <a:avLst/>
          </a:prstGeom>
          <a:noFill/>
          <a:ln/>
        </p:spPr>
        <p:txBody>
          <a:bodyPr wrap="square" lIns="0" tIns="0" rIns="0" bIns="0" rtlCol="0" anchor="ctr">
            <a:normAutofit fontScale="92500" lnSpcReduction="10000"/>
          </a:bodyPr>
          <a:lstStyle/>
          <a:p>
            <a:pPr marL="0" indent="0" algn="ctr">
              <a:buNone/>
            </a:pPr>
            <a:r>
              <a:rPr lang="en-US" sz="2000" b="1" dirty="0">
                <a:solidFill>
                  <a:srgbClr val="0072CE"/>
                </a:solidFill>
                <a:latin typeface="EB Garamond" pitchFamily="34" charset="0"/>
                <a:ea typeface="EB Garamond" pitchFamily="34" charset="-122"/>
                <a:cs typeface="EB Garamond" pitchFamily="34" charset="-120"/>
              </a:rPr>
              <a:t>Projected AI infrastructure spending is larger relative to GDP than the major U.S. technology buildouts in this comparison.</a:t>
            </a:r>
            <a:endParaRPr lang="en-US" sz="2000" dirty="0"/>
          </a:p>
        </p:txBody>
      </p:sp>
      <p:sp>
        <p:nvSpPr>
          <p:cNvPr id="29" name="Text 27"/>
          <p:cNvSpPr/>
          <p:nvPr/>
        </p:nvSpPr>
        <p:spPr>
          <a:xfrm>
            <a:off x="438912" y="6345936"/>
            <a:ext cx="10835640" cy="219456"/>
          </a:xfrm>
          <a:prstGeom prst="rect">
            <a:avLst/>
          </a:prstGeom>
          <a:noFill/>
          <a:ln/>
        </p:spPr>
        <p:txBody>
          <a:bodyPr wrap="square" lIns="0" tIns="0" rIns="0" bIns="0" rtlCol="0" anchor="ctr">
            <a:normAutofit/>
          </a:bodyPr>
          <a:lstStyle/>
          <a:p>
            <a:pPr marL="0" indent="0">
              <a:buNone/>
            </a:pPr>
            <a:r>
              <a:rPr lang="en-US" sz="820" i="1" dirty="0">
                <a:solidFill>
                  <a:srgbClr val="78838B"/>
                </a:solidFill>
                <a:latin typeface="EB Garamond" pitchFamily="34" charset="0"/>
                <a:ea typeface="EB Garamond" pitchFamily="34" charset="-122"/>
                <a:cs typeface="EB Garamond" pitchFamily="34" charset="-120"/>
              </a:rPr>
              <a:t>Source: Van Nieuwerburgh, “Financing the AI Buildout” (BPEA / NBER, 2026). AI is projected; historical figures are realized average annual investment shares.</a:t>
            </a:r>
            <a:endParaRPr lang="en-US" sz="820" dirty="0"/>
          </a:p>
        </p:txBody>
      </p:sp>
      <p:sp>
        <p:nvSpPr>
          <p:cNvPr id="30" name="Slide Number Placeholder 0"/>
          <p:cNvSpPr>
            <a:spLocks noGrp="1"/>
          </p:cNvSpPr>
          <p:nvPr>
            <p:ph type="sldNum" sz="quarter" idx="4294967295"/>
          </p:nvPr>
        </p:nvSpPr>
        <p:spPr>
          <a:xfrm>
            <a:off x="11780838" y="6492875"/>
            <a:ext cx="411162" cy="163513"/>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28600"/>
            <a:ext cx="10698480" cy="448056"/>
          </a:xfrm>
          <a:prstGeom prst="rect">
            <a:avLst/>
          </a:prstGeom>
          <a:noFill/>
        </p:spPr>
        <p:txBody>
          <a:bodyPr wrap="square" lIns="13716" tIns="0" rIns="13716" bIns="0" anchor="ctr">
            <a:spAutoFit/>
          </a:bodyPr>
          <a:lstStyle/>
          <a:p>
            <a:pPr>
              <a:spcBef>
                <a:spcPts val="0"/>
              </a:spcBef>
              <a:spcAft>
                <a:spcPts val="0"/>
              </a:spcAft>
            </a:pPr>
            <a:r>
              <a:rPr sz="2420" b="1">
                <a:solidFill>
                  <a:srgbClr val="022169"/>
                </a:solidFill>
                <a:latin typeface="EB Garamond"/>
              </a:rPr>
              <a:t>U.S. investment growth is increasingly concentrated in AI</a:t>
            </a:r>
          </a:p>
        </p:txBody>
      </p:sp>
      <p:sp>
        <p:nvSpPr>
          <p:cNvPr id="3" name="TextBox 2"/>
          <p:cNvSpPr txBox="1"/>
          <p:nvPr/>
        </p:nvSpPr>
        <p:spPr>
          <a:xfrm>
            <a:off x="896112" y="832104"/>
            <a:ext cx="10424160" cy="356616"/>
          </a:xfrm>
          <a:prstGeom prst="rect">
            <a:avLst/>
          </a:prstGeom>
          <a:noFill/>
        </p:spPr>
        <p:txBody>
          <a:bodyPr wrap="square" lIns="13716" tIns="0" rIns="13716" bIns="0" anchor="ctr">
            <a:spAutoFit/>
          </a:bodyPr>
          <a:lstStyle/>
          <a:p>
            <a:pPr>
              <a:spcBef>
                <a:spcPts val="0"/>
              </a:spcBef>
              <a:spcAft>
                <a:spcPts val="0"/>
              </a:spcAft>
            </a:pPr>
            <a:r>
              <a:rPr sz="1510" b="0">
                <a:solidFill>
                  <a:srgbClr val="5F6973"/>
                </a:solidFill>
                <a:latin typeface="EB Garamond"/>
              </a:rPr>
              <a:t>Public-company capex, physical construction and GDP growth point to the same narrow investment impulse.</a:t>
            </a:r>
          </a:p>
        </p:txBody>
      </p:sp>
      <p:sp>
        <p:nvSpPr>
          <p:cNvPr id="4" name="Rounded Rectangle 3"/>
          <p:cNvSpPr/>
          <p:nvPr/>
        </p:nvSpPr>
        <p:spPr>
          <a:xfrm>
            <a:off x="822960" y="1344168"/>
            <a:ext cx="10561320" cy="1335024"/>
          </a:xfrm>
          <a:prstGeom prst="roundRect">
            <a:avLst>
              <a:gd name="adj" fmla="val 12000"/>
            </a:avLst>
          </a:prstGeom>
          <a:solidFill>
            <a:srgbClr val="F0F7FB"/>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822960" y="1344168"/>
            <a:ext cx="64008" cy="1335024"/>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69848" y="1508760"/>
            <a:ext cx="3291840" cy="265176"/>
          </a:xfrm>
          <a:prstGeom prst="rect">
            <a:avLst/>
          </a:prstGeom>
          <a:noFill/>
        </p:spPr>
        <p:txBody>
          <a:bodyPr wrap="square" lIns="13716" tIns="0" rIns="13716" bIns="0" anchor="ctr">
            <a:spAutoFit/>
          </a:bodyPr>
          <a:lstStyle/>
          <a:p>
            <a:pPr>
              <a:spcBef>
                <a:spcPts val="0"/>
              </a:spcBef>
              <a:spcAft>
                <a:spcPts val="0"/>
              </a:spcAft>
            </a:pPr>
            <a:r>
              <a:rPr sz="1400" b="1" dirty="0">
                <a:solidFill>
                  <a:srgbClr val="0072CE"/>
                </a:solidFill>
                <a:latin typeface="Aptos"/>
              </a:rPr>
              <a:t>PUBLIC-FIRM CAPITAL EXPENDITURE</a:t>
            </a:r>
          </a:p>
        </p:txBody>
      </p:sp>
      <p:sp>
        <p:nvSpPr>
          <p:cNvPr id="7" name="TextBox 6"/>
          <p:cNvSpPr txBox="1"/>
          <p:nvPr/>
        </p:nvSpPr>
        <p:spPr>
          <a:xfrm>
            <a:off x="1060704" y="1874519"/>
            <a:ext cx="3236976" cy="493776"/>
          </a:xfrm>
          <a:prstGeom prst="rect">
            <a:avLst/>
          </a:prstGeom>
          <a:noFill/>
        </p:spPr>
        <p:txBody>
          <a:bodyPr wrap="square" lIns="13716" tIns="0" rIns="13716" bIns="0" anchor="ctr">
            <a:spAutoFit/>
          </a:bodyPr>
          <a:lstStyle/>
          <a:p>
            <a:pPr>
              <a:spcBef>
                <a:spcPts val="0"/>
              </a:spcBef>
              <a:spcAft>
                <a:spcPts val="0"/>
              </a:spcAft>
            </a:pPr>
            <a:r>
              <a:rPr sz="2900" b="1">
                <a:solidFill>
                  <a:srgbClr val="022169"/>
                </a:solidFill>
                <a:latin typeface="EB Garamond"/>
              </a:rPr>
              <a:t>Essentially all</a:t>
            </a:r>
          </a:p>
        </p:txBody>
      </p:sp>
      <p:sp>
        <p:nvSpPr>
          <p:cNvPr id="8" name="Rectangle 7"/>
          <p:cNvSpPr/>
          <p:nvPr/>
        </p:nvSpPr>
        <p:spPr>
          <a:xfrm>
            <a:off x="4434840" y="1664208"/>
            <a:ext cx="18288" cy="758952"/>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690872" y="1563624"/>
            <a:ext cx="6336792" cy="932688"/>
          </a:xfrm>
          <a:prstGeom prst="rect">
            <a:avLst/>
          </a:prstGeom>
          <a:noFill/>
        </p:spPr>
        <p:txBody>
          <a:bodyPr wrap="square" lIns="13716" tIns="0" rIns="13716" bIns="0" anchor="ctr">
            <a:spAutoFit/>
          </a:bodyPr>
          <a:lstStyle/>
          <a:p>
            <a:pPr>
              <a:spcBef>
                <a:spcPts val="0"/>
              </a:spcBef>
              <a:spcAft>
                <a:spcPts val="0"/>
              </a:spcAft>
            </a:pPr>
            <a:r>
              <a:rPr sz="1600" b="0">
                <a:solidFill>
                  <a:srgbClr val="1F2A37"/>
                </a:solidFill>
                <a:latin typeface="EB Garamond"/>
              </a:rPr>
              <a:t>Net capex growth since Q1 2024 came from firms classified as AI-positive. Other U.S. public firms collectively reduced investment slightly.</a:t>
            </a:r>
          </a:p>
        </p:txBody>
      </p:sp>
      <p:sp>
        <p:nvSpPr>
          <p:cNvPr id="10" name="Rounded Rectangle 9"/>
          <p:cNvSpPr/>
          <p:nvPr/>
        </p:nvSpPr>
        <p:spPr>
          <a:xfrm>
            <a:off x="822960" y="2898648"/>
            <a:ext cx="5074920" cy="2441448"/>
          </a:xfrm>
          <a:prstGeom prst="roundRect">
            <a:avLst>
              <a:gd name="adj" fmla="val 12000"/>
            </a:avLst>
          </a:prstGeom>
          <a:solidFill>
            <a:srgbClr val="FFFFFF"/>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822960" y="2898648"/>
            <a:ext cx="5074920" cy="640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51560" y="3108960"/>
            <a:ext cx="4480560" cy="265176"/>
          </a:xfrm>
          <a:prstGeom prst="rect">
            <a:avLst/>
          </a:prstGeom>
          <a:noFill/>
        </p:spPr>
        <p:txBody>
          <a:bodyPr wrap="square" lIns="13716" tIns="0" rIns="13716" bIns="0" anchor="ctr">
            <a:spAutoFit/>
          </a:bodyPr>
          <a:lstStyle/>
          <a:p>
            <a:pPr>
              <a:spcBef>
                <a:spcPts val="0"/>
              </a:spcBef>
              <a:spcAft>
                <a:spcPts val="0"/>
              </a:spcAft>
            </a:pPr>
            <a:r>
              <a:rPr sz="1350" b="1">
                <a:solidFill>
                  <a:srgbClr val="0072CE"/>
                </a:solidFill>
                <a:latin typeface="Aptos"/>
              </a:rPr>
              <a:t>PRIVATE NONRESIDENTIAL CONSTRUCTION</a:t>
            </a:r>
          </a:p>
        </p:txBody>
      </p:sp>
      <p:sp>
        <p:nvSpPr>
          <p:cNvPr id="13" name="TextBox 12"/>
          <p:cNvSpPr txBox="1"/>
          <p:nvPr/>
        </p:nvSpPr>
        <p:spPr>
          <a:xfrm>
            <a:off x="1060704" y="3447288"/>
            <a:ext cx="1874519" cy="621792"/>
          </a:xfrm>
          <a:prstGeom prst="rect">
            <a:avLst/>
          </a:prstGeom>
          <a:noFill/>
        </p:spPr>
        <p:txBody>
          <a:bodyPr wrap="square" lIns="13716" tIns="0" rIns="13716" bIns="0" anchor="ctr">
            <a:spAutoFit/>
          </a:bodyPr>
          <a:lstStyle/>
          <a:p>
            <a:pPr>
              <a:spcBef>
                <a:spcPts val="0"/>
              </a:spcBef>
              <a:spcAft>
                <a:spcPts val="0"/>
              </a:spcAft>
            </a:pPr>
            <a:r>
              <a:rPr sz="3350" b="1">
                <a:solidFill>
                  <a:srgbClr val="0072CE"/>
                </a:solidFill>
                <a:latin typeface="EB Garamond"/>
              </a:rPr>
              <a:t>11.0%</a:t>
            </a:r>
          </a:p>
        </p:txBody>
      </p:sp>
      <p:sp>
        <p:nvSpPr>
          <p:cNvPr id="14" name="TextBox 13"/>
          <p:cNvSpPr txBox="1"/>
          <p:nvPr/>
        </p:nvSpPr>
        <p:spPr>
          <a:xfrm>
            <a:off x="2852928" y="3429000"/>
            <a:ext cx="2706624" cy="649224"/>
          </a:xfrm>
          <a:prstGeom prst="rect">
            <a:avLst/>
          </a:prstGeom>
          <a:noFill/>
        </p:spPr>
        <p:txBody>
          <a:bodyPr wrap="square" lIns="13716" tIns="0" rIns="13716" bIns="0" anchor="ctr">
            <a:spAutoFit/>
          </a:bodyPr>
          <a:lstStyle/>
          <a:p>
            <a:pPr>
              <a:spcBef>
                <a:spcPts val="0"/>
              </a:spcBef>
              <a:spcAft>
                <a:spcPts val="0"/>
              </a:spcAft>
            </a:pPr>
            <a:r>
              <a:rPr sz="1490" b="0">
                <a:solidFill>
                  <a:srgbClr val="1F2A37"/>
                </a:solidFill>
                <a:latin typeface="EB Garamond"/>
              </a:rPr>
              <a:t>went to data centers in August 2026, versus 1.7% in 2019.</a:t>
            </a:r>
          </a:p>
        </p:txBody>
      </p:sp>
      <p:sp>
        <p:nvSpPr>
          <p:cNvPr id="15" name="Rectangle 14"/>
          <p:cNvSpPr/>
          <p:nvPr/>
        </p:nvSpPr>
        <p:spPr>
          <a:xfrm>
            <a:off x="1033271" y="4197096"/>
            <a:ext cx="4572000" cy="13716"/>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60704" y="4379976"/>
            <a:ext cx="1874519" cy="576072"/>
          </a:xfrm>
          <a:prstGeom prst="rect">
            <a:avLst/>
          </a:prstGeom>
          <a:noFill/>
        </p:spPr>
        <p:txBody>
          <a:bodyPr wrap="square" lIns="13716" tIns="0" rIns="13716" bIns="0" anchor="ctr">
            <a:spAutoFit/>
          </a:bodyPr>
          <a:lstStyle/>
          <a:p>
            <a:pPr>
              <a:spcBef>
                <a:spcPts val="0"/>
              </a:spcBef>
              <a:spcAft>
                <a:spcPts val="0"/>
              </a:spcAft>
            </a:pPr>
            <a:r>
              <a:rPr sz="2950" b="1">
                <a:solidFill>
                  <a:srgbClr val="022169"/>
                </a:solidFill>
                <a:latin typeface="EB Garamond"/>
              </a:rPr>
              <a:t>−5.9%</a:t>
            </a:r>
          </a:p>
        </p:txBody>
      </p:sp>
      <p:sp>
        <p:nvSpPr>
          <p:cNvPr id="17" name="TextBox 16"/>
          <p:cNvSpPr txBox="1"/>
          <p:nvPr/>
        </p:nvSpPr>
        <p:spPr>
          <a:xfrm>
            <a:off x="2862072" y="4398264"/>
            <a:ext cx="2734056" cy="566928"/>
          </a:xfrm>
          <a:prstGeom prst="rect">
            <a:avLst/>
          </a:prstGeom>
          <a:noFill/>
        </p:spPr>
        <p:txBody>
          <a:bodyPr wrap="square" lIns="13716" tIns="0" rIns="13716" bIns="0" anchor="ctr">
            <a:spAutoFit/>
          </a:bodyPr>
          <a:lstStyle/>
          <a:p>
            <a:pPr>
              <a:spcBef>
                <a:spcPts val="0"/>
              </a:spcBef>
              <a:spcAft>
                <a:spcPts val="0"/>
              </a:spcAft>
            </a:pPr>
            <a:r>
              <a:rPr sz="1480" b="0">
                <a:solidFill>
                  <a:srgbClr val="1F2A37"/>
                </a:solidFill>
                <a:latin typeface="EB Garamond"/>
              </a:rPr>
              <a:t>year-over-year change excluding data-center construction.</a:t>
            </a:r>
          </a:p>
        </p:txBody>
      </p:sp>
      <p:sp>
        <p:nvSpPr>
          <p:cNvPr id="18" name="TextBox 17"/>
          <p:cNvSpPr txBox="1"/>
          <p:nvPr/>
        </p:nvSpPr>
        <p:spPr>
          <a:xfrm>
            <a:off x="1060704" y="5038344"/>
            <a:ext cx="4608576" cy="155448"/>
          </a:xfrm>
          <a:prstGeom prst="rect">
            <a:avLst/>
          </a:prstGeom>
          <a:noFill/>
        </p:spPr>
        <p:txBody>
          <a:bodyPr wrap="square" lIns="13716" tIns="0" rIns="13716" bIns="0" anchor="ctr">
            <a:spAutoFit/>
          </a:bodyPr>
          <a:lstStyle/>
          <a:p>
            <a:pPr>
              <a:spcBef>
                <a:spcPts val="0"/>
              </a:spcBef>
              <a:spcAft>
                <a:spcPts val="0"/>
              </a:spcAft>
            </a:pPr>
            <a:r>
              <a:rPr sz="930" b="0">
                <a:solidFill>
                  <a:srgbClr val="5F6973"/>
                </a:solidFill>
                <a:latin typeface="Aptos"/>
              </a:rPr>
              <a:t>Census construction-spending series; current-dollar annual rates.</a:t>
            </a:r>
          </a:p>
        </p:txBody>
      </p:sp>
      <p:sp>
        <p:nvSpPr>
          <p:cNvPr id="19" name="Rounded Rectangle 18"/>
          <p:cNvSpPr/>
          <p:nvPr/>
        </p:nvSpPr>
        <p:spPr>
          <a:xfrm>
            <a:off x="6172200" y="2898648"/>
            <a:ext cx="5212080" cy="2441448"/>
          </a:xfrm>
          <a:prstGeom prst="roundRect">
            <a:avLst>
              <a:gd name="adj" fmla="val 12000"/>
            </a:avLst>
          </a:prstGeom>
          <a:solidFill>
            <a:srgbClr val="FFFFFF"/>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6172200" y="2898648"/>
            <a:ext cx="5212080" cy="640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00800" y="3108960"/>
            <a:ext cx="4480560" cy="265176"/>
          </a:xfrm>
          <a:prstGeom prst="rect">
            <a:avLst/>
          </a:prstGeom>
          <a:noFill/>
        </p:spPr>
        <p:txBody>
          <a:bodyPr wrap="square" lIns="13716" tIns="0" rIns="13716" bIns="0" anchor="ctr">
            <a:spAutoFit/>
          </a:bodyPr>
          <a:lstStyle/>
          <a:p>
            <a:pPr>
              <a:spcBef>
                <a:spcPts val="0"/>
              </a:spcBef>
              <a:spcAft>
                <a:spcPts val="0"/>
              </a:spcAft>
            </a:pPr>
            <a:r>
              <a:rPr sz="1350" b="1">
                <a:solidFill>
                  <a:srgbClr val="0072CE"/>
                </a:solidFill>
                <a:latin typeface="Aptos"/>
              </a:rPr>
              <a:t>CONTRIBUTION TO REAL GDP GROWTH</a:t>
            </a:r>
          </a:p>
        </p:txBody>
      </p:sp>
      <p:sp>
        <p:nvSpPr>
          <p:cNvPr id="22" name="TextBox 21"/>
          <p:cNvSpPr txBox="1"/>
          <p:nvPr/>
        </p:nvSpPr>
        <p:spPr>
          <a:xfrm>
            <a:off x="6400800" y="3438144"/>
            <a:ext cx="1965960" cy="630936"/>
          </a:xfrm>
          <a:prstGeom prst="rect">
            <a:avLst/>
          </a:prstGeom>
          <a:noFill/>
        </p:spPr>
        <p:txBody>
          <a:bodyPr wrap="square" lIns="13716" tIns="0" rIns="13716" bIns="0" anchor="ctr">
            <a:spAutoFit/>
          </a:bodyPr>
          <a:lstStyle/>
          <a:p>
            <a:pPr>
              <a:spcBef>
                <a:spcPts val="0"/>
              </a:spcBef>
              <a:spcAft>
                <a:spcPts val="0"/>
              </a:spcAft>
            </a:pPr>
            <a:r>
              <a:rPr sz="3350" b="1">
                <a:solidFill>
                  <a:srgbClr val="0072CE"/>
                </a:solidFill>
                <a:latin typeface="EB Garamond"/>
              </a:rPr>
              <a:t>≈22%</a:t>
            </a:r>
          </a:p>
        </p:txBody>
      </p:sp>
      <p:sp>
        <p:nvSpPr>
          <p:cNvPr id="23" name="TextBox 22"/>
          <p:cNvSpPr txBox="1"/>
          <p:nvPr/>
        </p:nvSpPr>
        <p:spPr>
          <a:xfrm>
            <a:off x="8311896" y="3429000"/>
            <a:ext cx="2816352" cy="649224"/>
          </a:xfrm>
          <a:prstGeom prst="rect">
            <a:avLst/>
          </a:prstGeom>
          <a:noFill/>
        </p:spPr>
        <p:txBody>
          <a:bodyPr wrap="square" lIns="13716" tIns="0" rIns="13716" bIns="0" anchor="ctr">
            <a:spAutoFit/>
          </a:bodyPr>
          <a:lstStyle/>
          <a:p>
            <a:pPr>
              <a:spcBef>
                <a:spcPts val="0"/>
              </a:spcBef>
              <a:spcAft>
                <a:spcPts val="0"/>
              </a:spcAft>
            </a:pPr>
            <a:r>
              <a:rPr sz="1490" b="0">
                <a:solidFill>
                  <a:srgbClr val="1F2A37"/>
                </a:solidFill>
                <a:latin typeface="EB Garamond"/>
              </a:rPr>
              <a:t>of U.S. real GDP growth over the preceding year came from a proxy for AI investment.</a:t>
            </a:r>
          </a:p>
        </p:txBody>
      </p:sp>
      <p:sp>
        <p:nvSpPr>
          <p:cNvPr id="24" name="Rectangle 23"/>
          <p:cNvSpPr/>
          <p:nvPr/>
        </p:nvSpPr>
        <p:spPr>
          <a:xfrm>
            <a:off x="6400800" y="4206240"/>
            <a:ext cx="4663440" cy="210312"/>
          </a:xfrm>
          <a:prstGeom prst="rect">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6400800" y="4206240"/>
            <a:ext cx="1043722" cy="210312"/>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4526280"/>
            <a:ext cx="4617720" cy="384048"/>
          </a:xfrm>
          <a:prstGeom prst="rect">
            <a:avLst/>
          </a:prstGeom>
          <a:noFill/>
        </p:spPr>
        <p:txBody>
          <a:bodyPr wrap="square" lIns="13716" tIns="0" rIns="13716" bIns="0" anchor="ctr">
            <a:spAutoFit/>
          </a:bodyPr>
          <a:lstStyle/>
          <a:p>
            <a:pPr>
              <a:spcBef>
                <a:spcPts val="0"/>
              </a:spcBef>
              <a:spcAft>
                <a:spcPts val="0"/>
              </a:spcAft>
            </a:pPr>
            <a:r>
              <a:rPr sz="1500" b="1">
                <a:solidFill>
                  <a:srgbClr val="022169"/>
                </a:solidFill>
                <a:latin typeface="EB Garamond"/>
              </a:rPr>
              <a:t>0.47 percentage points of 2.1% growth after adjustment for imported hardware.</a:t>
            </a:r>
          </a:p>
        </p:txBody>
      </p:sp>
      <p:sp>
        <p:nvSpPr>
          <p:cNvPr id="27" name="TextBox 26"/>
          <p:cNvSpPr txBox="1"/>
          <p:nvPr/>
        </p:nvSpPr>
        <p:spPr>
          <a:xfrm>
            <a:off x="6400800" y="5038344"/>
            <a:ext cx="4645152" cy="155448"/>
          </a:xfrm>
          <a:prstGeom prst="rect">
            <a:avLst/>
          </a:prstGeom>
          <a:noFill/>
        </p:spPr>
        <p:txBody>
          <a:bodyPr wrap="square" lIns="13716" tIns="0" rIns="13716" bIns="0" anchor="ctr">
            <a:spAutoFit/>
          </a:bodyPr>
          <a:lstStyle/>
          <a:p>
            <a:pPr>
              <a:spcBef>
                <a:spcPts val="0"/>
              </a:spcBef>
              <a:spcAft>
                <a:spcPts val="0"/>
              </a:spcAft>
            </a:pPr>
            <a:r>
              <a:rPr sz="930" b="0">
                <a:solidFill>
                  <a:srgbClr val="5F6973"/>
                </a:solidFill>
                <a:latin typeface="Aptos"/>
              </a:rPr>
              <a:t>J.P. Morgan Asset Management estimate, Sept. 2, 2026.</a:t>
            </a:r>
          </a:p>
        </p:txBody>
      </p:sp>
      <p:sp>
        <p:nvSpPr>
          <p:cNvPr id="28" name="Rounded Rectangle 27"/>
          <p:cNvSpPr/>
          <p:nvPr/>
        </p:nvSpPr>
        <p:spPr>
          <a:xfrm>
            <a:off x="822960" y="5550408"/>
            <a:ext cx="10561320" cy="457200"/>
          </a:xfrm>
          <a:prstGeom prst="roundRect">
            <a:avLst>
              <a:gd name="adj" fmla="val 12000"/>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50976" y="5605272"/>
            <a:ext cx="10250424" cy="320040"/>
          </a:xfrm>
          <a:prstGeom prst="rect">
            <a:avLst/>
          </a:prstGeom>
          <a:noFill/>
        </p:spPr>
        <p:txBody>
          <a:bodyPr wrap="square" lIns="13716" tIns="0" rIns="13716" bIns="0" anchor="ctr">
            <a:spAutoFit/>
          </a:bodyPr>
          <a:lstStyle/>
          <a:p>
            <a:pPr algn="ctr">
              <a:spcBef>
                <a:spcPts val="0"/>
              </a:spcBef>
              <a:spcAft>
                <a:spcPts val="0"/>
              </a:spcAft>
            </a:pPr>
            <a:r>
              <a:rPr sz="1720" b="1">
                <a:solidFill>
                  <a:srgbClr val="FFFFFF"/>
                </a:solidFill>
                <a:latin typeface="EB Garamond"/>
              </a:rPr>
              <a:t>Investment growth outside the AI-linked buildout is materially weaker.</a:t>
            </a:r>
          </a:p>
        </p:txBody>
      </p:sp>
      <p:sp>
        <p:nvSpPr>
          <p:cNvPr id="30" name="TextBox 29"/>
          <p:cNvSpPr txBox="1"/>
          <p:nvPr/>
        </p:nvSpPr>
        <p:spPr>
          <a:xfrm>
            <a:off x="438912" y="6227064"/>
            <a:ext cx="10899648" cy="283464"/>
          </a:xfrm>
          <a:prstGeom prst="rect">
            <a:avLst/>
          </a:prstGeom>
          <a:noFill/>
        </p:spPr>
        <p:txBody>
          <a:bodyPr wrap="square" lIns="13716" tIns="0" rIns="13716" bIns="0" anchor="ctr">
            <a:spAutoFit/>
          </a:bodyPr>
          <a:lstStyle/>
          <a:p>
            <a:pPr>
              <a:spcBef>
                <a:spcPts val="0"/>
              </a:spcBef>
              <a:spcAft>
                <a:spcPts val="0"/>
              </a:spcAft>
            </a:pPr>
            <a:r>
              <a:rPr sz="800" b="0">
                <a:solidFill>
                  <a:srgbClr val="78838B"/>
                </a:solidFill>
                <a:latin typeface="EB Garamond"/>
              </a:rPr>
              <a:t>Sources: San Francisco Fed (May 18, 2026; public firms through Q3 2025); U.S. Census (Aug. 2026; CB&amp;C calculations); J.P. Morgan AM (Sept. 2, 2026).</a:t>
            </a:r>
          </a:p>
        </p:txBody>
      </p:sp>
      <p:sp>
        <p:nvSpPr>
          <p:cNvPr id="31" name="TextBox 30"/>
          <p:cNvSpPr txBox="1"/>
          <p:nvPr/>
        </p:nvSpPr>
        <p:spPr>
          <a:xfrm>
            <a:off x="11384280" y="6492240"/>
            <a:ext cx="265176" cy="155448"/>
          </a:xfrm>
          <a:prstGeom prst="rect">
            <a:avLst/>
          </a:prstGeom>
          <a:noFill/>
        </p:spPr>
        <p:txBody>
          <a:bodyPr wrap="square" lIns="13716" tIns="0" rIns="13716" bIns="0" anchor="ctr">
            <a:spAutoFit/>
          </a:bodyPr>
          <a:lstStyle/>
          <a:p>
            <a:pPr algn="r">
              <a:spcBef>
                <a:spcPts val="0"/>
              </a:spcBef>
              <a:spcAft>
                <a:spcPts val="0"/>
              </a:spcAft>
            </a:pPr>
            <a:r>
              <a:rPr sz="900" b="0">
                <a:solidFill>
                  <a:srgbClr val="5F6973"/>
                </a:solidFill>
                <a:latin typeface="EB Garamond"/>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Venture capital is overwhelmingly concentrated in AI</a:t>
            </a:r>
            <a:endParaRPr lang="en-US" sz="2600" dirty="0"/>
          </a:p>
        </p:txBody>
      </p:sp>
      <p:sp>
        <p:nvSpPr>
          <p:cNvPr id="3" name="Text 1"/>
          <p:cNvSpPr/>
          <p:nvPr/>
        </p:nvSpPr>
        <p:spPr>
          <a:xfrm>
            <a:off x="868680" y="1261872"/>
            <a:ext cx="3291840" cy="713232"/>
          </a:xfrm>
          <a:prstGeom prst="rect">
            <a:avLst/>
          </a:prstGeom>
          <a:noFill/>
          <a:ln/>
        </p:spPr>
        <p:txBody>
          <a:bodyPr wrap="square" lIns="0" tIns="0" rIns="0" bIns="0" rtlCol="0" anchor="ctr"/>
          <a:lstStyle/>
          <a:p>
            <a:pPr marL="0" indent="0" algn="ctr">
              <a:buNone/>
            </a:pPr>
            <a:r>
              <a:rPr lang="en-US" sz="4200" b="1" dirty="0">
                <a:solidFill>
                  <a:srgbClr val="0072CE"/>
                </a:solidFill>
                <a:latin typeface="EB Garamond" pitchFamily="34" charset="0"/>
                <a:ea typeface="EB Garamond" pitchFamily="34" charset="-122"/>
                <a:cs typeface="EB Garamond" pitchFamily="34" charset="-120"/>
              </a:rPr>
              <a:t>88.8%</a:t>
            </a:r>
            <a:endParaRPr lang="en-US" sz="4200" dirty="0"/>
          </a:p>
        </p:txBody>
      </p:sp>
      <p:sp>
        <p:nvSpPr>
          <p:cNvPr id="4" name="Text 2"/>
          <p:cNvSpPr/>
          <p:nvPr/>
        </p:nvSpPr>
        <p:spPr>
          <a:xfrm>
            <a:off x="1005840" y="1993392"/>
            <a:ext cx="3017520" cy="640080"/>
          </a:xfrm>
          <a:prstGeom prst="rect">
            <a:avLst/>
          </a:prstGeom>
          <a:noFill/>
          <a:ln/>
        </p:spPr>
        <p:txBody>
          <a:bodyPr wrap="square" lIns="0" tIns="0" rIns="0" bIns="0" rtlCol="0" anchor="ctr">
            <a:normAutofit/>
          </a:bodyPr>
          <a:lstStyle/>
          <a:p>
            <a:pPr marL="0" indent="0" algn="ctr">
              <a:buNone/>
            </a:pPr>
            <a:r>
              <a:rPr lang="en-US" sz="1450" dirty="0">
                <a:solidFill>
                  <a:srgbClr val="2F3437"/>
                </a:solidFill>
                <a:latin typeface="EB Garamond" pitchFamily="34" charset="0"/>
                <a:ea typeface="EB Garamond" pitchFamily="34" charset="-122"/>
                <a:cs typeface="EB Garamond" pitchFamily="34" charset="-120"/>
              </a:rPr>
              <a:t>of U.S. VC deal value went to AI in Q1 2026</a:t>
            </a:r>
            <a:endParaRPr lang="en-US" sz="1450" dirty="0"/>
          </a:p>
        </p:txBody>
      </p:sp>
      <p:sp>
        <p:nvSpPr>
          <p:cNvPr id="5" name="Text 3"/>
          <p:cNvSpPr/>
          <p:nvPr/>
        </p:nvSpPr>
        <p:spPr>
          <a:xfrm>
            <a:off x="4434840" y="1261872"/>
            <a:ext cx="3291840" cy="713232"/>
          </a:xfrm>
          <a:prstGeom prst="rect">
            <a:avLst/>
          </a:prstGeom>
          <a:noFill/>
          <a:ln/>
        </p:spPr>
        <p:txBody>
          <a:bodyPr wrap="square" lIns="0" tIns="0" rIns="0" bIns="0" rtlCol="0" anchor="ctr"/>
          <a:lstStyle/>
          <a:p>
            <a:pPr marL="0" indent="0" algn="ctr">
              <a:buNone/>
            </a:pPr>
            <a:r>
              <a:rPr lang="en-US" sz="4200" b="1" dirty="0">
                <a:solidFill>
                  <a:srgbClr val="022169"/>
                </a:solidFill>
                <a:latin typeface="EB Garamond" pitchFamily="34" charset="0"/>
                <a:ea typeface="EB Garamond" pitchFamily="34" charset="-122"/>
                <a:cs typeface="EB Garamond" pitchFamily="34" charset="-120"/>
              </a:rPr>
              <a:t>63.5%</a:t>
            </a:r>
            <a:endParaRPr lang="en-US" sz="4200" dirty="0"/>
          </a:p>
        </p:txBody>
      </p:sp>
      <p:sp>
        <p:nvSpPr>
          <p:cNvPr id="6" name="Text 4"/>
          <p:cNvSpPr/>
          <p:nvPr/>
        </p:nvSpPr>
        <p:spPr>
          <a:xfrm>
            <a:off x="4572000" y="1993392"/>
            <a:ext cx="3017520" cy="640080"/>
          </a:xfrm>
          <a:prstGeom prst="rect">
            <a:avLst/>
          </a:prstGeom>
          <a:noFill/>
          <a:ln/>
        </p:spPr>
        <p:txBody>
          <a:bodyPr wrap="square" lIns="0" tIns="0" rIns="0" bIns="0" rtlCol="0" anchor="ctr">
            <a:normAutofit/>
          </a:bodyPr>
          <a:lstStyle/>
          <a:p>
            <a:pPr marL="0" indent="0" algn="ctr">
              <a:buNone/>
            </a:pPr>
            <a:r>
              <a:rPr lang="en-US" sz="1450" dirty="0">
                <a:solidFill>
                  <a:srgbClr val="2F3437"/>
                </a:solidFill>
                <a:latin typeface="EB Garamond" pitchFamily="34" charset="0"/>
                <a:ea typeface="EB Garamond" pitchFamily="34" charset="-122"/>
                <a:cs typeface="EB Garamond" pitchFamily="34" charset="-120"/>
              </a:rPr>
              <a:t>of full-year 2025 U.S. VC deal value went to AI</a:t>
            </a:r>
            <a:endParaRPr lang="en-US" sz="1450" dirty="0"/>
          </a:p>
        </p:txBody>
      </p:sp>
      <p:sp>
        <p:nvSpPr>
          <p:cNvPr id="7" name="Text 5"/>
          <p:cNvSpPr/>
          <p:nvPr/>
        </p:nvSpPr>
        <p:spPr>
          <a:xfrm>
            <a:off x="8001000" y="1261872"/>
            <a:ext cx="3291840" cy="713232"/>
          </a:xfrm>
          <a:prstGeom prst="rect">
            <a:avLst/>
          </a:prstGeom>
          <a:noFill/>
          <a:ln/>
        </p:spPr>
        <p:txBody>
          <a:bodyPr wrap="square" lIns="0" tIns="0" rIns="0" bIns="0" rtlCol="0" anchor="ctr"/>
          <a:lstStyle/>
          <a:p>
            <a:pPr marL="0" indent="0" algn="ctr">
              <a:buNone/>
            </a:pPr>
            <a:r>
              <a:rPr lang="en-US" sz="4200" b="1" dirty="0">
                <a:solidFill>
                  <a:srgbClr val="6CACE4"/>
                </a:solidFill>
                <a:latin typeface="EB Garamond" pitchFamily="34" charset="0"/>
                <a:ea typeface="EB Garamond" pitchFamily="34" charset="-122"/>
                <a:cs typeface="EB Garamond" pitchFamily="34" charset="-120"/>
              </a:rPr>
              <a:t>46.4%</a:t>
            </a:r>
            <a:endParaRPr lang="en-US" sz="4200" dirty="0"/>
          </a:p>
        </p:txBody>
      </p:sp>
      <p:sp>
        <p:nvSpPr>
          <p:cNvPr id="8" name="Text 6"/>
          <p:cNvSpPr/>
          <p:nvPr/>
        </p:nvSpPr>
        <p:spPr>
          <a:xfrm>
            <a:off x="8138160" y="1993392"/>
            <a:ext cx="3017520" cy="640080"/>
          </a:xfrm>
          <a:prstGeom prst="rect">
            <a:avLst/>
          </a:prstGeom>
          <a:noFill/>
          <a:ln/>
        </p:spPr>
        <p:txBody>
          <a:bodyPr wrap="square" lIns="0" tIns="0" rIns="0" bIns="0" rtlCol="0" anchor="ctr">
            <a:normAutofit/>
          </a:bodyPr>
          <a:lstStyle/>
          <a:p>
            <a:pPr marL="0" indent="0" algn="ctr">
              <a:buNone/>
            </a:pPr>
            <a:r>
              <a:rPr lang="en-US" sz="1450" dirty="0">
                <a:solidFill>
                  <a:srgbClr val="2F3437"/>
                </a:solidFill>
                <a:latin typeface="EB Garamond" pitchFamily="34" charset="0"/>
                <a:ea typeface="EB Garamond" pitchFamily="34" charset="-122"/>
                <a:cs typeface="EB Garamond" pitchFamily="34" charset="-120"/>
              </a:rPr>
              <a:t>of U.S. VC dollars went to internet-specific firms at the 2000 dot-com peak</a:t>
            </a:r>
            <a:endParaRPr lang="en-US" sz="1450" dirty="0"/>
          </a:p>
        </p:txBody>
      </p:sp>
      <p:sp>
        <p:nvSpPr>
          <p:cNvPr id="10" name="Shape 8"/>
          <p:cNvSpPr/>
          <p:nvPr/>
        </p:nvSpPr>
        <p:spPr>
          <a:xfrm>
            <a:off x="1920240" y="4224528"/>
            <a:ext cx="8321040" cy="1188720"/>
          </a:xfrm>
          <a:prstGeom prst="rect">
            <a:avLst/>
          </a:prstGeom>
          <a:solidFill>
            <a:srgbClr val="F6FAFC"/>
          </a:solidFill>
          <a:ln w="15240">
            <a:solidFill>
              <a:srgbClr val="6CACE4"/>
            </a:solidFill>
            <a:prstDash val="solid"/>
          </a:ln>
        </p:spPr>
        <p:txBody>
          <a:bodyPr/>
          <a:lstStyle/>
          <a:p>
            <a:endParaRPr/>
          </a:p>
        </p:txBody>
      </p:sp>
      <p:sp>
        <p:nvSpPr>
          <p:cNvPr id="11" name="Text 9"/>
          <p:cNvSpPr/>
          <p:nvPr/>
        </p:nvSpPr>
        <p:spPr>
          <a:xfrm>
            <a:off x="2148840" y="4443984"/>
            <a:ext cx="7909560" cy="685800"/>
          </a:xfrm>
          <a:prstGeom prst="rect">
            <a:avLst/>
          </a:prstGeom>
          <a:noFill/>
          <a:ln/>
        </p:spPr>
        <p:txBody>
          <a:bodyPr wrap="square" lIns="0" tIns="0" rIns="0" bIns="0" rtlCol="0" anchor="ctr">
            <a:normAutofit/>
          </a:bodyPr>
          <a:lstStyle/>
          <a:p>
            <a:pPr marL="0" indent="0" algn="ctr">
              <a:buNone/>
            </a:pPr>
            <a:r>
              <a:rPr sz="1720" b="1" i="0">
                <a:solidFill>
                  <a:srgbClr val="022169"/>
                </a:solidFill>
                <a:latin typeface="EB Garamond"/>
              </a:rPr>
              <a:t>AI accounted for 42.5% of deals by count, but 88.8% by value in Q1 2026.</a:t>
            </a:r>
            <a:endParaRPr lang="en-US" sz="1500" dirty="0"/>
          </a:p>
        </p:txBody>
      </p:sp>
      <p:sp>
        <p:nvSpPr>
          <p:cNvPr id="12" name="Text 10"/>
          <p:cNvSpPr/>
          <p:nvPr/>
        </p:nvSpPr>
        <p:spPr>
          <a:xfrm>
            <a:off x="438912" y="6345936"/>
            <a:ext cx="10835640" cy="219456"/>
          </a:xfrm>
          <a:prstGeom prst="rect">
            <a:avLst/>
          </a:prstGeom>
          <a:noFill/>
          <a:ln/>
        </p:spPr>
        <p:txBody>
          <a:bodyPr wrap="square" lIns="0" tIns="0" rIns="0" bIns="0" rtlCol="0" anchor="ctr">
            <a:normAutofit/>
          </a:bodyPr>
          <a:lstStyle/>
          <a:p>
            <a:pPr marL="0" indent="0">
              <a:buNone/>
            </a:pPr>
            <a:r>
              <a:rPr lang="en-US" sz="820" i="1" dirty="0">
                <a:solidFill>
                  <a:srgbClr val="78838B"/>
                </a:solidFill>
                <a:latin typeface="EB Garamond" pitchFamily="34" charset="0"/>
                <a:ea typeface="EB Garamond" pitchFamily="34" charset="-122"/>
                <a:cs typeface="EB Garamond" pitchFamily="34" charset="-120"/>
              </a:rPr>
              <a:t>Sources: PitchBook–NVCA Venture Monitor (Q1 2026; full-year 2025); dot-com comparison uses contemporaneous U.S. VC data for internet-specific firms in 2000.</a:t>
            </a:r>
            <a:endParaRPr lang="en-US" sz="820" dirty="0"/>
          </a:p>
        </p:txBody>
      </p:sp>
      <p:sp>
        <p:nvSpPr>
          <p:cNvPr id="25" name="Slide Number Placeholder 0"/>
          <p:cNvSpPr>
            <a:spLocks noGrp="1"/>
          </p:cNvSpPr>
          <p:nvPr>
            <p:ph type="sldNum" sz="quarter" idx="4294967295"/>
          </p:nvPr>
        </p:nvSpPr>
        <p:spPr>
          <a:xfrm>
            <a:off x="11780838" y="6492875"/>
            <a:ext cx="411162" cy="163513"/>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4923" y="233172"/>
            <a:ext cx="10972800" cy="365760"/>
          </a:xfrm>
          <a:prstGeom prst="rect">
            <a:avLst/>
          </a:prstGeom>
          <a:noFill/>
        </p:spPr>
        <p:txBody>
          <a:bodyPr wrap="square" lIns="18288" tIns="0" rIns="18288" bIns="0" anchor="ctr">
            <a:spAutoFit/>
          </a:bodyPr>
          <a:lstStyle/>
          <a:p>
            <a:pPr>
              <a:spcBef>
                <a:spcPts val="0"/>
              </a:spcBef>
              <a:spcAft>
                <a:spcPts val="0"/>
              </a:spcAft>
            </a:pPr>
            <a:r>
              <a:rPr sz="2500" b="1" i="0" dirty="0">
                <a:solidFill>
                  <a:srgbClr val="172D73"/>
                </a:solidFill>
                <a:latin typeface="EB Garamond"/>
              </a:rPr>
              <a:t>Circular financing ties AI suppliers to their customers</a:t>
            </a:r>
          </a:p>
        </p:txBody>
      </p:sp>
      <p:sp>
        <p:nvSpPr>
          <p:cNvPr id="3" name="TextBox 2"/>
          <p:cNvSpPr txBox="1"/>
          <p:nvPr/>
        </p:nvSpPr>
        <p:spPr>
          <a:xfrm>
            <a:off x="640080" y="749808"/>
            <a:ext cx="10972800" cy="256032"/>
          </a:xfrm>
          <a:prstGeom prst="rect">
            <a:avLst/>
          </a:prstGeom>
          <a:noFill/>
        </p:spPr>
        <p:txBody>
          <a:bodyPr wrap="square" lIns="18288" tIns="0" rIns="18288" bIns="0" anchor="ctr">
            <a:spAutoFit/>
          </a:bodyPr>
          <a:lstStyle/>
          <a:p>
            <a:pPr>
              <a:spcBef>
                <a:spcPts val="0"/>
              </a:spcBef>
              <a:spcAft>
                <a:spcPts val="0"/>
              </a:spcAft>
            </a:pPr>
            <a:r>
              <a:rPr sz="1500" b="0" i="0">
                <a:solidFill>
                  <a:srgbClr val="5F6973"/>
                </a:solidFill>
                <a:latin typeface="Aptos"/>
              </a:rPr>
              <a:t>The same companies appear as suppliers, customers, investors and revenue-sharing counterparties.</a:t>
            </a:r>
          </a:p>
        </p:txBody>
      </p:sp>
      <p:sp>
        <p:nvSpPr>
          <p:cNvPr id="4" name="Rectangle 3"/>
          <p:cNvSpPr/>
          <p:nvPr/>
        </p:nvSpPr>
        <p:spPr>
          <a:xfrm>
            <a:off x="566928" y="1042415"/>
            <a:ext cx="10972800" cy="13716"/>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11480" y="1261872"/>
            <a:ext cx="5852160" cy="5074920"/>
          </a:xfrm>
          <a:prstGeom prst="roundRect">
            <a:avLst>
              <a:gd name="adj" fmla="val 11000"/>
            </a:avLst>
          </a:prstGeom>
          <a:solidFill>
            <a:srgbClr val="FFFFFF"/>
          </a:solidFill>
          <a:ln w="1270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3"/>
          <a:stretch>
            <a:fillRect/>
          </a:stretch>
        </p:blipFill>
        <p:spPr>
          <a:xfrm>
            <a:off x="512064" y="1399032"/>
            <a:ext cx="5669280" cy="4637775"/>
          </a:xfrm>
          <a:prstGeom prst="rect">
            <a:avLst/>
          </a:prstGeom>
        </p:spPr>
      </p:pic>
      <p:sp>
        <p:nvSpPr>
          <p:cNvPr id="7" name="Rounded Rectangle 6"/>
          <p:cNvSpPr/>
          <p:nvPr/>
        </p:nvSpPr>
        <p:spPr>
          <a:xfrm>
            <a:off x="6537960" y="1353312"/>
            <a:ext cx="4828032" cy="4846320"/>
          </a:xfrm>
          <a:prstGeom prst="roundRect">
            <a:avLst>
              <a:gd name="adj" fmla="val 11000"/>
            </a:avLst>
          </a:prstGeom>
          <a:solidFill>
            <a:srgbClr val="F0F7FB"/>
          </a:solidFill>
          <a:ln w="1270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537960" y="1353312"/>
            <a:ext cx="4828032" cy="73152"/>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12280" y="1627632"/>
            <a:ext cx="4160520" cy="182880"/>
          </a:xfrm>
          <a:prstGeom prst="rect">
            <a:avLst/>
          </a:prstGeom>
          <a:noFill/>
        </p:spPr>
        <p:txBody>
          <a:bodyPr wrap="square" lIns="18288" tIns="0" rIns="18288" bIns="0" anchor="ctr">
            <a:spAutoFit/>
          </a:bodyPr>
          <a:lstStyle/>
          <a:p>
            <a:pPr>
              <a:spcBef>
                <a:spcPts val="0"/>
              </a:spcBef>
              <a:spcAft>
                <a:spcPts val="0"/>
              </a:spcAft>
            </a:pPr>
            <a:r>
              <a:rPr sz="1180" b="1" i="0">
                <a:solidFill>
                  <a:srgbClr val="0072CE"/>
                </a:solidFill>
                <a:latin typeface="Aptos"/>
              </a:rPr>
              <a:t>BIS: CUSTOMER–SUPPLIER RELATIONSHIPS WITH FINANCING</a:t>
            </a:r>
          </a:p>
        </p:txBody>
      </p:sp>
      <p:sp>
        <p:nvSpPr>
          <p:cNvPr id="10" name="TextBox 9"/>
          <p:cNvSpPr txBox="1"/>
          <p:nvPr/>
        </p:nvSpPr>
        <p:spPr>
          <a:xfrm>
            <a:off x="6876288" y="2029968"/>
            <a:ext cx="1737360" cy="512064"/>
          </a:xfrm>
          <a:prstGeom prst="rect">
            <a:avLst/>
          </a:prstGeom>
          <a:noFill/>
        </p:spPr>
        <p:txBody>
          <a:bodyPr wrap="square" lIns="18288" tIns="0" rIns="18288" bIns="0" anchor="ctr">
            <a:spAutoFit/>
          </a:bodyPr>
          <a:lstStyle/>
          <a:p>
            <a:pPr>
              <a:spcBef>
                <a:spcPts val="0"/>
              </a:spcBef>
              <a:spcAft>
                <a:spcPts val="0"/>
              </a:spcAft>
            </a:pPr>
            <a:r>
              <a:rPr sz="3400" b="1" i="0">
                <a:solidFill>
                  <a:srgbClr val="0072CE"/>
                </a:solidFill>
                <a:latin typeface="EB Garamond"/>
              </a:rPr>
              <a:t>15.2%</a:t>
            </a:r>
          </a:p>
        </p:txBody>
      </p:sp>
      <p:sp>
        <p:nvSpPr>
          <p:cNvPr id="11" name="TextBox 10"/>
          <p:cNvSpPr txBox="1"/>
          <p:nvPr/>
        </p:nvSpPr>
        <p:spPr>
          <a:xfrm>
            <a:off x="6858000" y="2560320"/>
            <a:ext cx="4069080" cy="868680"/>
          </a:xfrm>
          <a:prstGeom prst="rect">
            <a:avLst/>
          </a:prstGeom>
          <a:noFill/>
        </p:spPr>
        <p:txBody>
          <a:bodyPr wrap="square" lIns="18288" tIns="0" rIns="18288" bIns="0" anchor="t">
            <a:spAutoFit/>
          </a:bodyPr>
          <a:lstStyle/>
          <a:p>
            <a:pPr>
              <a:spcBef>
                <a:spcPts val="0"/>
              </a:spcBef>
              <a:spcAft>
                <a:spcPts val="0"/>
              </a:spcAft>
            </a:pPr>
            <a:r>
              <a:rPr sz="1639" b="0" i="0">
                <a:solidFill>
                  <a:srgbClr val="1F2A37"/>
                </a:solidFill>
                <a:latin typeface="EB Garamond"/>
              </a:rPr>
              <a:t>of AI compute, cloud and related infrastructure</a:t>
            </a:r>
          </a:p>
          <a:p>
            <a:pPr>
              <a:spcBef>
                <a:spcPts val="0"/>
              </a:spcBef>
              <a:spcAft>
                <a:spcPts val="0"/>
              </a:spcAft>
            </a:pPr>
            <a:r>
              <a:rPr sz="1639" b="0" i="0">
                <a:solidFill>
                  <a:srgbClr val="1F2A37"/>
                </a:solidFill>
                <a:latin typeface="EB Garamond"/>
              </a:rPr>
              <a:t>customer–supplier relationships also involved</a:t>
            </a:r>
          </a:p>
          <a:p>
            <a:pPr>
              <a:spcBef>
                <a:spcPts val="0"/>
              </a:spcBef>
              <a:spcAft>
                <a:spcPts val="0"/>
              </a:spcAft>
            </a:pPr>
            <a:r>
              <a:rPr sz="1639" b="0" i="0">
                <a:solidFill>
                  <a:srgbClr val="1F2A37"/>
                </a:solidFill>
                <a:latin typeface="EB Garamond"/>
              </a:rPr>
              <a:t>financing.</a:t>
            </a:r>
          </a:p>
        </p:txBody>
      </p:sp>
      <p:sp>
        <p:nvSpPr>
          <p:cNvPr id="12" name="Rectangle 11"/>
          <p:cNvSpPr/>
          <p:nvPr/>
        </p:nvSpPr>
        <p:spPr>
          <a:xfrm>
            <a:off x="6858000" y="3822191"/>
            <a:ext cx="3931920" cy="10972"/>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812280" y="4096512"/>
            <a:ext cx="4160520" cy="164592"/>
          </a:xfrm>
          <a:prstGeom prst="rect">
            <a:avLst/>
          </a:prstGeom>
          <a:noFill/>
        </p:spPr>
        <p:txBody>
          <a:bodyPr wrap="square" lIns="18288" tIns="0" rIns="18288" bIns="0" anchor="ctr">
            <a:spAutoFit/>
          </a:bodyPr>
          <a:lstStyle/>
          <a:p>
            <a:pPr>
              <a:spcBef>
                <a:spcPts val="0"/>
              </a:spcBef>
              <a:spcAft>
                <a:spcPts val="0"/>
              </a:spcAft>
            </a:pPr>
            <a:r>
              <a:rPr sz="1180" b="1" i="0">
                <a:solidFill>
                  <a:srgbClr val="0072CE"/>
                </a:solidFill>
                <a:latin typeface="Aptos"/>
              </a:rPr>
              <a:t>BROAD U.S. COMPARISON</a:t>
            </a:r>
          </a:p>
        </p:txBody>
      </p:sp>
      <p:sp>
        <p:nvSpPr>
          <p:cNvPr id="14" name="TextBox 13"/>
          <p:cNvSpPr txBox="1"/>
          <p:nvPr/>
        </p:nvSpPr>
        <p:spPr>
          <a:xfrm>
            <a:off x="6876288" y="4462272"/>
            <a:ext cx="1417320" cy="411480"/>
          </a:xfrm>
          <a:prstGeom prst="rect">
            <a:avLst/>
          </a:prstGeom>
          <a:noFill/>
        </p:spPr>
        <p:txBody>
          <a:bodyPr wrap="square" lIns="18288" tIns="0" rIns="18288" bIns="0" anchor="ctr">
            <a:spAutoFit/>
          </a:bodyPr>
          <a:lstStyle/>
          <a:p>
            <a:pPr>
              <a:spcBef>
                <a:spcPts val="0"/>
              </a:spcBef>
              <a:spcAft>
                <a:spcPts val="0"/>
              </a:spcAft>
            </a:pPr>
            <a:r>
              <a:rPr sz="2800" b="1" i="0">
                <a:solidFill>
                  <a:srgbClr val="172D73"/>
                </a:solidFill>
                <a:latin typeface="EB Garamond"/>
              </a:rPr>
              <a:t>3.3%</a:t>
            </a:r>
          </a:p>
        </p:txBody>
      </p:sp>
      <p:sp>
        <p:nvSpPr>
          <p:cNvPr id="15" name="TextBox 14"/>
          <p:cNvSpPr txBox="1"/>
          <p:nvPr/>
        </p:nvSpPr>
        <p:spPr>
          <a:xfrm>
            <a:off x="7982712" y="4425696"/>
            <a:ext cx="2926080" cy="749808"/>
          </a:xfrm>
          <a:prstGeom prst="rect">
            <a:avLst/>
          </a:prstGeom>
          <a:noFill/>
        </p:spPr>
        <p:txBody>
          <a:bodyPr wrap="square" lIns="18288" tIns="0" rIns="18288" bIns="0" anchor="t">
            <a:spAutoFit/>
          </a:bodyPr>
          <a:lstStyle/>
          <a:p>
            <a:pPr>
              <a:spcBef>
                <a:spcPts val="0"/>
              </a:spcBef>
              <a:spcAft>
                <a:spcPts val="0"/>
              </a:spcAft>
            </a:pPr>
            <a:r>
              <a:rPr sz="1500" b="0" i="0">
                <a:solidFill>
                  <a:srgbClr val="1F2A37"/>
                </a:solidFill>
                <a:latin typeface="EB Garamond"/>
              </a:rPr>
              <a:t>of customer–supplier relationships</a:t>
            </a:r>
          </a:p>
          <a:p>
            <a:pPr>
              <a:spcBef>
                <a:spcPts val="0"/>
              </a:spcBef>
              <a:spcAft>
                <a:spcPts val="0"/>
              </a:spcAft>
            </a:pPr>
            <a:r>
              <a:rPr sz="1500" b="0" i="0">
                <a:solidFill>
                  <a:srgbClr val="1F2A37"/>
                </a:solidFill>
                <a:latin typeface="EB Garamond"/>
              </a:rPr>
              <a:t>in a broad U.S. sample involved</a:t>
            </a:r>
          </a:p>
          <a:p>
            <a:pPr>
              <a:spcBef>
                <a:spcPts val="0"/>
              </a:spcBef>
              <a:spcAft>
                <a:spcPts val="0"/>
              </a:spcAft>
            </a:pPr>
            <a:r>
              <a:rPr sz="1500" b="0" i="0">
                <a:solidFill>
                  <a:srgbClr val="1F2A37"/>
                </a:solidFill>
                <a:latin typeface="EB Garamond"/>
              </a:rPr>
              <a:t>direct equity stakes.</a:t>
            </a:r>
          </a:p>
        </p:txBody>
      </p:sp>
      <p:sp>
        <p:nvSpPr>
          <p:cNvPr id="17" name="TextBox 16"/>
          <p:cNvSpPr txBox="1"/>
          <p:nvPr/>
        </p:nvSpPr>
        <p:spPr>
          <a:xfrm>
            <a:off x="438912" y="6373368"/>
            <a:ext cx="10835640" cy="164592"/>
          </a:xfrm>
          <a:prstGeom prst="rect">
            <a:avLst/>
          </a:prstGeom>
          <a:noFill/>
        </p:spPr>
        <p:txBody>
          <a:bodyPr wrap="square" lIns="18288" tIns="0" rIns="18288" bIns="0" anchor="t">
            <a:spAutoFit/>
          </a:bodyPr>
          <a:lstStyle/>
          <a:p>
            <a:pPr>
              <a:spcBef>
                <a:spcPts val="0"/>
              </a:spcBef>
              <a:spcAft>
                <a:spcPts val="0"/>
              </a:spcAft>
            </a:pPr>
            <a:r>
              <a:rPr sz="760" b="0" i="0">
                <a:solidFill>
                  <a:srgbClr val="78838B"/>
                </a:solidFill>
                <a:latin typeface="Aptos"/>
              </a:rPr>
              <a:t>Sources: Morgan Stanley, “AI: Mapping Circularity” (Oct. 8, 2025), graphic via Barron's. BIS: Frost et al., “Circular relationships among AI firms,” BIS Bulletin No. 137 (Oct. 1, 2026), footnote 4.</a:t>
            </a:r>
          </a:p>
        </p:txBody>
      </p:sp>
      <p:sp>
        <p:nvSpPr>
          <p:cNvPr id="18" name="TextBox 17"/>
          <p:cNvSpPr txBox="1"/>
          <p:nvPr/>
        </p:nvSpPr>
        <p:spPr>
          <a:xfrm>
            <a:off x="11301984" y="6483096"/>
            <a:ext cx="256032" cy="109728"/>
          </a:xfrm>
          <a:prstGeom prst="rect">
            <a:avLst/>
          </a:prstGeom>
          <a:noFill/>
        </p:spPr>
        <p:txBody>
          <a:bodyPr wrap="square" lIns="18288" tIns="0" rIns="18288" bIns="0" anchor="ctr">
            <a:spAutoFit/>
          </a:bodyPr>
          <a:lstStyle/>
          <a:p>
            <a:pPr algn="r">
              <a:spcBef>
                <a:spcPts val="0"/>
              </a:spcBef>
              <a:spcAft>
                <a:spcPts val="0"/>
              </a:spcAft>
            </a:pPr>
            <a:r>
              <a:rPr sz="900" b="0" i="0">
                <a:solidFill>
                  <a:srgbClr val="5F6973"/>
                </a:solidFill>
                <a:latin typeface="Aptos"/>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 name="Slide title">
            <a:extLst>
              <a:ext uri="{FF2B5EF4-FFF2-40B4-BE49-F238E27FC236}">
                <a16:creationId xmlns:a16="http://schemas.microsoft.com/office/drawing/2014/main" id="{55B8AD5B-EAA5-4041-9165-06D672CCA9D5}"/>
              </a:ext>
            </a:extLst>
          </p:cNvPr>
          <p:cNvSpPr>
            <a:spLocks noGrp="1"/>
          </p:cNvSpPr>
          <p:nvPr/>
        </p:nvSpPr>
        <p:spPr>
          <a:xfrm>
            <a:off x="783009" y="265409"/>
            <a:ext cx="11111386" cy="488335"/>
          </a:xfrm>
          <a:prstGeom prst="rect">
            <a:avLst/>
          </a:prstGeom>
          <a:noFill/>
          <a:ln w="0">
            <a:noFill/>
            <a:prstDash val="solid"/>
          </a:ln>
        </p:spPr>
        <p:txBody>
          <a:bodyPr lIns="0" tIns="0" rIns="0" bIns="0" anchor="t"/>
          <a:lstStyle>
            <a:defPPr>
              <a:defRPr sz="2675" b="1">
                <a:solidFill>
                  <a:srgbClr val="12264B"/>
                </a:solidFill>
                <a:latin typeface="Georgia"/>
                <a:ea typeface="Georgia"/>
                <a:cs typeface="Georgia"/>
              </a:defRPr>
            </a:defPPr>
            <a:lvl1pPr>
              <a:defRPr sz="2675" b="1">
                <a:solidFill>
                  <a:srgbClr val="12264B"/>
                </a:solidFill>
                <a:latin typeface="Georgia"/>
                <a:ea typeface="Georgia"/>
                <a:cs typeface="Georgia"/>
              </a:defRPr>
            </a:lvl1pPr>
            <a:lvl2pPr>
              <a:defRPr sz="2675" b="1">
                <a:solidFill>
                  <a:srgbClr val="12264B"/>
                </a:solidFill>
                <a:latin typeface="Georgia"/>
                <a:ea typeface="Georgia"/>
                <a:cs typeface="Georgia"/>
              </a:defRPr>
            </a:lvl2pPr>
            <a:lvl3pPr>
              <a:defRPr sz="2675" b="1">
                <a:solidFill>
                  <a:srgbClr val="12264B"/>
                </a:solidFill>
                <a:latin typeface="Georgia"/>
                <a:ea typeface="Georgia"/>
                <a:cs typeface="Georgia"/>
              </a:defRPr>
            </a:lvl3pPr>
            <a:lvl4pPr>
              <a:defRPr sz="2675" b="1">
                <a:solidFill>
                  <a:srgbClr val="12264B"/>
                </a:solidFill>
                <a:latin typeface="Georgia"/>
                <a:ea typeface="Georgia"/>
                <a:cs typeface="Georgia"/>
              </a:defRPr>
            </a:lvl4pPr>
            <a:lvl5pPr>
              <a:defRPr sz="2675" b="1">
                <a:solidFill>
                  <a:srgbClr val="12264B"/>
                </a:solidFill>
                <a:latin typeface="Georgia"/>
                <a:ea typeface="Georgia"/>
                <a:cs typeface="Georgia"/>
              </a:defRPr>
            </a:lvl5pPr>
            <a:lvl6pPr>
              <a:defRPr sz="2675" b="1">
                <a:solidFill>
                  <a:srgbClr val="12264B"/>
                </a:solidFill>
                <a:latin typeface="Georgia"/>
                <a:ea typeface="Georgia"/>
                <a:cs typeface="Georgia"/>
              </a:defRPr>
            </a:lvl6pPr>
            <a:lvl7pPr>
              <a:defRPr sz="2675" b="1">
                <a:solidFill>
                  <a:srgbClr val="12264B"/>
                </a:solidFill>
                <a:latin typeface="Georgia"/>
                <a:ea typeface="Georgia"/>
                <a:cs typeface="Georgia"/>
              </a:defRPr>
            </a:lvl7pPr>
            <a:lvl8pPr>
              <a:defRPr sz="2675" b="1">
                <a:solidFill>
                  <a:srgbClr val="12264B"/>
                </a:solidFill>
                <a:latin typeface="Georgia"/>
                <a:ea typeface="Georgia"/>
                <a:cs typeface="Georgia"/>
              </a:defRPr>
            </a:lvl8pPr>
            <a:lvl9pPr>
              <a:defRPr sz="2675" b="1">
                <a:solidFill>
                  <a:srgbClr val="12264B"/>
                </a:solidFill>
                <a:latin typeface="Georgia"/>
                <a:ea typeface="Georgia"/>
                <a:cs typeface="Georgia"/>
              </a:defRPr>
            </a:lvl9pPr>
          </a:lstStyle>
          <a:p>
            <a:pPr>
              <a:defRPr sz="2675" b="1">
                <a:solidFill>
                  <a:srgbClr val="12264B"/>
                </a:solidFill>
                <a:latin typeface="Georgia"/>
                <a:ea typeface="Georgia"/>
                <a:cs typeface="Georgia"/>
              </a:defRPr>
            </a:pPr>
            <a:r>
              <a:rPr sz="2675" b="1">
                <a:solidFill>
                  <a:srgbClr val="12264B"/>
                </a:solidFill>
                <a:latin typeface="Georgia"/>
                <a:ea typeface="Georgia"/>
                <a:cs typeface="Georgia"/>
              </a:rPr>
              <a:t>Circular financing ties AI suppliers to their customers</a:t>
            </a:r>
          </a:p>
        </p:txBody>
      </p:sp>
      <p:sp>
        <p:nvSpPr>
          <p:cNvPr id="2" name="Subtitle">
            <a:extLst>
              <a:ext uri="{FF2B5EF4-FFF2-40B4-BE49-F238E27FC236}">
                <a16:creationId xmlns:a16="http://schemas.microsoft.com/office/drawing/2014/main" id="{8DBD2045-6DDE-4AB8-8A6E-7DA688C99389}"/>
              </a:ext>
            </a:extLst>
          </p:cNvPr>
          <p:cNvSpPr>
            <a:spLocks noGrp="1"/>
          </p:cNvSpPr>
          <p:nvPr/>
        </p:nvSpPr>
        <p:spPr>
          <a:xfrm>
            <a:off x="790087" y="923599"/>
            <a:ext cx="11217546" cy="261861"/>
          </a:xfrm>
          <a:prstGeom prst="rect">
            <a:avLst/>
          </a:prstGeom>
          <a:noFill/>
          <a:ln w="0">
            <a:noFill/>
            <a:prstDash val="solid"/>
          </a:ln>
        </p:spPr>
        <p:txBody>
          <a:bodyPr lIns="0" tIns="0" rIns="0" bIns="0" anchor="t"/>
          <a:lstStyle>
            <a:defPPr>
              <a:defRPr sz="1393" b="0">
                <a:solidFill>
                  <a:srgbClr val="81898D"/>
                </a:solidFill>
                <a:latin typeface="Arial"/>
                <a:ea typeface="Arial"/>
                <a:cs typeface="Arial"/>
              </a:defRPr>
            </a:defPPr>
            <a:lvl1pPr>
              <a:defRPr sz="1393" b="0">
                <a:solidFill>
                  <a:srgbClr val="81898D"/>
                </a:solidFill>
                <a:latin typeface="Arial"/>
                <a:ea typeface="Arial"/>
                <a:cs typeface="Arial"/>
              </a:defRPr>
            </a:lvl1pPr>
            <a:lvl2pPr>
              <a:defRPr sz="1393" b="0">
                <a:solidFill>
                  <a:srgbClr val="81898D"/>
                </a:solidFill>
                <a:latin typeface="Arial"/>
                <a:ea typeface="Arial"/>
                <a:cs typeface="Arial"/>
              </a:defRPr>
            </a:lvl2pPr>
            <a:lvl3pPr>
              <a:defRPr sz="1393" b="0">
                <a:solidFill>
                  <a:srgbClr val="81898D"/>
                </a:solidFill>
                <a:latin typeface="Arial"/>
                <a:ea typeface="Arial"/>
                <a:cs typeface="Arial"/>
              </a:defRPr>
            </a:lvl3pPr>
            <a:lvl4pPr>
              <a:defRPr sz="1393" b="0">
                <a:solidFill>
                  <a:srgbClr val="81898D"/>
                </a:solidFill>
                <a:latin typeface="Arial"/>
                <a:ea typeface="Arial"/>
                <a:cs typeface="Arial"/>
              </a:defRPr>
            </a:lvl4pPr>
            <a:lvl5pPr>
              <a:defRPr sz="1393" b="0">
                <a:solidFill>
                  <a:srgbClr val="81898D"/>
                </a:solidFill>
                <a:latin typeface="Arial"/>
                <a:ea typeface="Arial"/>
                <a:cs typeface="Arial"/>
              </a:defRPr>
            </a:lvl5pPr>
            <a:lvl6pPr>
              <a:defRPr sz="1393" b="0">
                <a:solidFill>
                  <a:srgbClr val="81898D"/>
                </a:solidFill>
                <a:latin typeface="Arial"/>
                <a:ea typeface="Arial"/>
                <a:cs typeface="Arial"/>
              </a:defRPr>
            </a:lvl6pPr>
            <a:lvl7pPr>
              <a:defRPr sz="1393" b="0">
                <a:solidFill>
                  <a:srgbClr val="81898D"/>
                </a:solidFill>
                <a:latin typeface="Arial"/>
                <a:ea typeface="Arial"/>
                <a:cs typeface="Arial"/>
              </a:defRPr>
            </a:lvl7pPr>
            <a:lvl8pPr>
              <a:defRPr sz="1393" b="0">
                <a:solidFill>
                  <a:srgbClr val="81898D"/>
                </a:solidFill>
                <a:latin typeface="Arial"/>
                <a:ea typeface="Arial"/>
                <a:cs typeface="Arial"/>
              </a:defRPr>
            </a:lvl8pPr>
            <a:lvl9pPr>
              <a:defRPr sz="1393" b="0">
                <a:solidFill>
                  <a:srgbClr val="81898D"/>
                </a:solidFill>
                <a:latin typeface="Arial"/>
                <a:ea typeface="Arial"/>
                <a:cs typeface="Arial"/>
              </a:defRPr>
            </a:lvl9pPr>
          </a:lstStyle>
          <a:p>
            <a:pPr>
              <a:defRPr sz="1393" b="0">
                <a:solidFill>
                  <a:srgbClr val="81898D"/>
                </a:solidFill>
                <a:latin typeface="Arial"/>
                <a:ea typeface="Arial"/>
                <a:cs typeface="Arial"/>
              </a:defRPr>
            </a:pPr>
            <a:r>
              <a:rPr sz="1393" b="0">
                <a:solidFill>
                  <a:srgbClr val="81898D"/>
                </a:solidFill>
                <a:latin typeface="Arial"/>
                <a:ea typeface="Arial"/>
                <a:cs typeface="Arial"/>
              </a:rPr>
              <a:t>Investments, chip purchases, cloud contracts and revenue sharing form a highly interconnected network.</a:t>
            </a:r>
          </a:p>
        </p:txBody>
      </p:sp>
      <p:sp>
        <p:nvSpPr>
          <p:cNvPr id="3" name="Header divider">
            <a:extLst>
              <a:ext uri="{FF2B5EF4-FFF2-40B4-BE49-F238E27FC236}">
                <a16:creationId xmlns:a16="http://schemas.microsoft.com/office/drawing/2014/main" id="{48059FD2-0405-4B19-A330-DEB542B0AABE}"/>
              </a:ext>
            </a:extLst>
          </p:cNvPr>
          <p:cNvSpPr>
            <a:spLocks noGrp="1"/>
          </p:cNvSpPr>
          <p:nvPr/>
        </p:nvSpPr>
        <p:spPr>
          <a:xfrm>
            <a:off x="790087" y="1206692"/>
            <a:ext cx="11111386" cy="14155"/>
          </a:xfrm>
          <a:prstGeom prst="rect">
            <a:avLst/>
          </a:prstGeom>
          <a:solidFill>
            <a:srgbClr val="E2E7E8"/>
          </a:solidFill>
          <a:ln w="0">
            <a:noFill/>
            <a:prstDash val="solid"/>
          </a:ln>
        </p:spPr>
        <p:txBody>
          <a:bodyPr/>
          <a:lstStyle/>
          <a:p>
            <a:endParaRPr lang="en-US"/>
          </a:p>
        </p:txBody>
      </p:sp>
      <p:sp>
        <p:nvSpPr>
          <p:cNvPr id="4" name="Network diagram frame">
            <a:extLst>
              <a:ext uri="{FF2B5EF4-FFF2-40B4-BE49-F238E27FC236}">
                <a16:creationId xmlns:a16="http://schemas.microsoft.com/office/drawing/2014/main" id="{7D185047-8CC1-4107-A3EE-5512D937B082}"/>
              </a:ext>
            </a:extLst>
          </p:cNvPr>
          <p:cNvSpPr>
            <a:spLocks noGrp="1"/>
          </p:cNvSpPr>
          <p:nvPr/>
        </p:nvSpPr>
        <p:spPr>
          <a:xfrm>
            <a:off x="506994" y="1298697"/>
            <a:ext cx="6836687" cy="5031972"/>
          </a:xfrm>
          <a:prstGeom prst="roundRect">
            <a:avLst>
              <a:gd name="adj" fmla="val 5907"/>
            </a:avLst>
          </a:prstGeom>
          <a:solidFill>
            <a:srgbClr val="FFFFFF"/>
          </a:solidFill>
          <a:ln w="14155">
            <a:solidFill>
              <a:srgbClr val="E2E7E8"/>
            </a:solidFill>
            <a:prstDash val="solid"/>
          </a:ln>
        </p:spPr>
        <p:txBody>
          <a:bodyPr/>
          <a:lstStyle/>
          <a:p>
            <a:endParaRPr lang="en-US"/>
          </a:p>
        </p:txBody>
      </p:sp>
      <p:sp>
        <p:nvSpPr>
          <p:cNvPr id="5" name="Explanation panel">
            <a:extLst>
              <a:ext uri="{FF2B5EF4-FFF2-40B4-BE49-F238E27FC236}">
                <a16:creationId xmlns:a16="http://schemas.microsoft.com/office/drawing/2014/main" id="{D5D4BFB6-C130-4BF6-B6A8-A2FCA0E748CF}"/>
              </a:ext>
            </a:extLst>
          </p:cNvPr>
          <p:cNvSpPr>
            <a:spLocks noGrp="1"/>
          </p:cNvSpPr>
          <p:nvPr/>
        </p:nvSpPr>
        <p:spPr>
          <a:xfrm>
            <a:off x="7605542" y="1305774"/>
            <a:ext cx="4175616" cy="5031972"/>
          </a:xfrm>
          <a:prstGeom prst="roundRect">
            <a:avLst>
              <a:gd name="adj" fmla="val 5932"/>
            </a:avLst>
          </a:prstGeom>
          <a:solidFill>
            <a:srgbClr val="F4F8FA"/>
          </a:solidFill>
          <a:ln w="14155">
            <a:solidFill>
              <a:srgbClr val="E2E7E8"/>
            </a:solidFill>
            <a:prstDash val="solid"/>
          </a:ln>
        </p:spPr>
        <p:txBody>
          <a:bodyPr/>
          <a:lstStyle/>
          <a:p>
            <a:endParaRPr lang="en-US"/>
          </a:p>
        </p:txBody>
      </p:sp>
      <p:sp>
        <p:nvSpPr>
          <p:cNvPr id="6" name="Panel top rule">
            <a:extLst>
              <a:ext uri="{FF2B5EF4-FFF2-40B4-BE49-F238E27FC236}">
                <a16:creationId xmlns:a16="http://schemas.microsoft.com/office/drawing/2014/main" id="{80878BB2-EE54-4A97-B57A-668C87FFE365}"/>
              </a:ext>
            </a:extLst>
          </p:cNvPr>
          <p:cNvSpPr>
            <a:spLocks noGrp="1"/>
          </p:cNvSpPr>
          <p:nvPr/>
        </p:nvSpPr>
        <p:spPr>
          <a:xfrm>
            <a:off x="7605542" y="1298697"/>
            <a:ext cx="4175616" cy="84928"/>
          </a:xfrm>
          <a:prstGeom prst="rect">
            <a:avLst/>
          </a:prstGeom>
          <a:solidFill>
            <a:srgbClr val="2E6A9D"/>
          </a:solidFill>
          <a:ln w="0">
            <a:noFill/>
            <a:prstDash val="solid"/>
          </a:ln>
        </p:spPr>
        <p:txBody>
          <a:bodyPr/>
          <a:lstStyle/>
          <a:p>
            <a:endParaRPr lang="en-US"/>
          </a:p>
        </p:txBody>
      </p:sp>
      <p:sp>
        <p:nvSpPr>
          <p:cNvPr id="7" name="OpenAI to Oracle infrastructure">
            <a:extLst>
              <a:ext uri="{FF2B5EF4-FFF2-40B4-BE49-F238E27FC236}">
                <a16:creationId xmlns:a16="http://schemas.microsoft.com/office/drawing/2014/main" id="{F7B8E006-508B-4AA7-9B39-C597075EF3D6}"/>
              </a:ext>
            </a:extLst>
          </p:cNvPr>
          <p:cNvSpPr>
            <a:spLocks noGrp="1"/>
          </p:cNvSpPr>
          <p:nvPr/>
        </p:nvSpPr>
        <p:spPr>
          <a:xfrm>
            <a:off x="301752" y="138017"/>
            <a:ext cx="12024360" cy="6390816"/>
          </a:xfrm>
          <a:custGeom>
            <a:avLst/>
            <a:gdLst/>
            <a:ahLst/>
            <a:cxnLst/>
            <a:rect l="0" t="0" r="0" b="0"/>
            <a:pathLst>
              <a:path w="16182975" h="8601075">
                <a:moveTo>
                  <a:pt x="1304925" y="5676900"/>
                </a:moveTo>
                <a:cubicBezTo>
                  <a:pt x="1876425" y="1117600"/>
                  <a:pt x="7877175" y="1117600"/>
                  <a:pt x="8448675" y="5676900"/>
                </a:cubicBezTo>
              </a:path>
            </a:pathLst>
          </a:custGeom>
          <a:noFill/>
          <a:ln w="70773">
            <a:solidFill>
              <a:srgbClr val="548C97"/>
            </a:solidFill>
            <a:prstDash val="solid"/>
          </a:ln>
        </p:spPr>
        <p:txBody>
          <a:bodyPr/>
          <a:lstStyle/>
          <a:p>
            <a:endParaRPr lang="en-US"/>
          </a:p>
        </p:txBody>
      </p:sp>
      <p:sp>
        <p:nvSpPr>
          <p:cNvPr id="8" name="OpenAI to Oracle infrastructure arrowhead">
            <a:extLst>
              <a:ext uri="{FF2B5EF4-FFF2-40B4-BE49-F238E27FC236}">
                <a16:creationId xmlns:a16="http://schemas.microsoft.com/office/drawing/2014/main" id="{4A7928E5-032F-419C-8107-18DA3A6D9FA8}"/>
              </a:ext>
            </a:extLst>
          </p:cNvPr>
          <p:cNvSpPr>
            <a:spLocks noGrp="1"/>
          </p:cNvSpPr>
          <p:nvPr/>
        </p:nvSpPr>
        <p:spPr>
          <a:xfrm>
            <a:off x="6515636" y="4235783"/>
            <a:ext cx="127392" cy="127392"/>
          </a:xfrm>
          <a:custGeom>
            <a:avLst/>
            <a:gdLst/>
            <a:ahLst/>
            <a:cxnLst/>
            <a:rect l="0" t="0" r="0" b="0"/>
            <a:pathLst>
              <a:path w="171450" h="171450">
                <a:moveTo>
                  <a:pt x="0" y="0"/>
                </a:moveTo>
                <a:lnTo>
                  <a:pt x="171450" y="0"/>
                </a:lnTo>
                <a:lnTo>
                  <a:pt x="85725" y="171450"/>
                </a:lnTo>
                <a:close/>
              </a:path>
            </a:pathLst>
          </a:custGeom>
          <a:solidFill>
            <a:srgbClr val="548C97"/>
          </a:solidFill>
          <a:ln w="0">
            <a:noFill/>
          </a:ln>
        </p:spPr>
        <p:txBody>
          <a:bodyPr/>
          <a:lstStyle/>
          <a:p>
            <a:endParaRPr lang="en-US"/>
          </a:p>
        </p:txBody>
      </p:sp>
      <p:sp>
        <p:nvSpPr>
          <p:cNvPr id="9" name="OpenAI to AMD chip purchases">
            <a:extLst>
              <a:ext uri="{FF2B5EF4-FFF2-40B4-BE49-F238E27FC236}">
                <a16:creationId xmlns:a16="http://schemas.microsoft.com/office/drawing/2014/main" id="{24505F94-25FF-4880-BF9B-98C707DCE5C3}"/>
              </a:ext>
            </a:extLst>
          </p:cNvPr>
          <p:cNvSpPr>
            <a:spLocks noGrp="1"/>
          </p:cNvSpPr>
          <p:nvPr/>
        </p:nvSpPr>
        <p:spPr>
          <a:xfrm>
            <a:off x="301752" y="138017"/>
            <a:ext cx="12024360" cy="6390816"/>
          </a:xfrm>
          <a:custGeom>
            <a:avLst/>
            <a:gdLst/>
            <a:ahLst/>
            <a:cxnLst/>
            <a:rect l="0" t="0" r="0" b="0"/>
            <a:pathLst>
              <a:path w="16182975" h="8601075">
                <a:moveTo>
                  <a:pt x="1295400" y="5676900"/>
                </a:moveTo>
                <a:cubicBezTo>
                  <a:pt x="1758696" y="2032000"/>
                  <a:pt x="6623304" y="2032000"/>
                  <a:pt x="7086600" y="5676900"/>
                </a:cubicBezTo>
              </a:path>
            </a:pathLst>
          </a:custGeom>
          <a:noFill/>
          <a:ln w="63696">
            <a:solidFill>
              <a:srgbClr val="A4CCD8"/>
            </a:solidFill>
            <a:prstDash val="solid"/>
          </a:ln>
        </p:spPr>
        <p:txBody>
          <a:bodyPr/>
          <a:lstStyle/>
          <a:p>
            <a:endParaRPr lang="en-US"/>
          </a:p>
        </p:txBody>
      </p:sp>
      <p:sp>
        <p:nvSpPr>
          <p:cNvPr id="10" name="OpenAI to AMD chip purchases arrowhead">
            <a:extLst>
              <a:ext uri="{FF2B5EF4-FFF2-40B4-BE49-F238E27FC236}">
                <a16:creationId xmlns:a16="http://schemas.microsoft.com/office/drawing/2014/main" id="{CBDB8073-316A-4CE4-A7BA-1AF179977BE8}"/>
              </a:ext>
            </a:extLst>
          </p:cNvPr>
          <p:cNvSpPr>
            <a:spLocks noGrp="1"/>
          </p:cNvSpPr>
          <p:nvPr/>
        </p:nvSpPr>
        <p:spPr>
          <a:xfrm>
            <a:off x="5503579" y="4235783"/>
            <a:ext cx="127392" cy="127392"/>
          </a:xfrm>
          <a:custGeom>
            <a:avLst/>
            <a:gdLst/>
            <a:ahLst/>
            <a:cxnLst/>
            <a:rect l="0" t="0" r="0" b="0"/>
            <a:pathLst>
              <a:path w="171450" h="171450">
                <a:moveTo>
                  <a:pt x="0" y="0"/>
                </a:moveTo>
                <a:lnTo>
                  <a:pt x="171450" y="0"/>
                </a:lnTo>
                <a:lnTo>
                  <a:pt x="85725" y="171450"/>
                </a:lnTo>
                <a:close/>
              </a:path>
            </a:pathLst>
          </a:custGeom>
          <a:solidFill>
            <a:srgbClr val="A4CCD8"/>
          </a:solidFill>
          <a:ln w="0">
            <a:noFill/>
          </a:ln>
        </p:spPr>
        <p:txBody>
          <a:bodyPr/>
          <a:lstStyle/>
          <a:p>
            <a:endParaRPr lang="en-US"/>
          </a:p>
        </p:txBody>
      </p:sp>
      <p:sp>
        <p:nvSpPr>
          <p:cNvPr id="11" name="OpenAI to AMD equity investment">
            <a:extLst>
              <a:ext uri="{FF2B5EF4-FFF2-40B4-BE49-F238E27FC236}">
                <a16:creationId xmlns:a16="http://schemas.microsoft.com/office/drawing/2014/main" id="{3A19B7F7-7016-47F3-A831-939C003AE3EF}"/>
              </a:ext>
            </a:extLst>
          </p:cNvPr>
          <p:cNvSpPr>
            <a:spLocks noGrp="1"/>
          </p:cNvSpPr>
          <p:nvPr/>
        </p:nvSpPr>
        <p:spPr>
          <a:xfrm>
            <a:off x="301752" y="138017"/>
            <a:ext cx="12024360" cy="6390816"/>
          </a:xfrm>
          <a:custGeom>
            <a:avLst/>
            <a:gdLst/>
            <a:ahLst/>
            <a:cxnLst/>
            <a:rect l="0" t="0" r="0" b="0"/>
            <a:pathLst>
              <a:path w="16182975" h="8601075">
                <a:moveTo>
                  <a:pt x="1314450" y="5676900"/>
                </a:moveTo>
                <a:cubicBezTo>
                  <a:pt x="1767840" y="2146300"/>
                  <a:pt x="6528435" y="2146300"/>
                  <a:pt x="6981825" y="5676900"/>
                </a:cubicBezTo>
              </a:path>
            </a:pathLst>
          </a:custGeom>
          <a:noFill/>
          <a:ln w="63696">
            <a:solidFill>
              <a:srgbClr val="CDA379"/>
            </a:solidFill>
            <a:prstDash val="solid"/>
          </a:ln>
        </p:spPr>
        <p:txBody>
          <a:bodyPr/>
          <a:lstStyle/>
          <a:p>
            <a:endParaRPr lang="en-US"/>
          </a:p>
        </p:txBody>
      </p:sp>
      <p:sp>
        <p:nvSpPr>
          <p:cNvPr id="12" name="OpenAI to AMD equity investment arrowhead">
            <a:extLst>
              <a:ext uri="{FF2B5EF4-FFF2-40B4-BE49-F238E27FC236}">
                <a16:creationId xmlns:a16="http://schemas.microsoft.com/office/drawing/2014/main" id="{825844A6-141D-4DD7-B9A5-AB517842189D}"/>
              </a:ext>
            </a:extLst>
          </p:cNvPr>
          <p:cNvSpPr>
            <a:spLocks noGrp="1"/>
          </p:cNvSpPr>
          <p:nvPr/>
        </p:nvSpPr>
        <p:spPr>
          <a:xfrm>
            <a:off x="5425729" y="4235783"/>
            <a:ext cx="127392" cy="127392"/>
          </a:xfrm>
          <a:custGeom>
            <a:avLst/>
            <a:gdLst/>
            <a:ahLst/>
            <a:cxnLst/>
            <a:rect l="0" t="0" r="0" b="0"/>
            <a:pathLst>
              <a:path w="171450" h="171450">
                <a:moveTo>
                  <a:pt x="0" y="0"/>
                </a:moveTo>
                <a:lnTo>
                  <a:pt x="171450" y="0"/>
                </a:lnTo>
                <a:lnTo>
                  <a:pt x="85725" y="171450"/>
                </a:lnTo>
                <a:close/>
              </a:path>
            </a:pathLst>
          </a:custGeom>
          <a:solidFill>
            <a:srgbClr val="CDA379"/>
          </a:solidFill>
          <a:ln w="0">
            <a:noFill/>
          </a:ln>
        </p:spPr>
        <p:txBody>
          <a:bodyPr/>
          <a:lstStyle/>
          <a:p>
            <a:endParaRPr lang="en-US"/>
          </a:p>
        </p:txBody>
      </p:sp>
      <p:sp>
        <p:nvSpPr>
          <p:cNvPr id="13" name="Microsoft to AMD chip purchases">
            <a:extLst>
              <a:ext uri="{FF2B5EF4-FFF2-40B4-BE49-F238E27FC236}">
                <a16:creationId xmlns:a16="http://schemas.microsoft.com/office/drawing/2014/main" id="{C93746DA-EC72-4A20-901C-553D7DD4FED6}"/>
              </a:ext>
            </a:extLst>
          </p:cNvPr>
          <p:cNvSpPr>
            <a:spLocks noGrp="1"/>
          </p:cNvSpPr>
          <p:nvPr/>
        </p:nvSpPr>
        <p:spPr>
          <a:xfrm>
            <a:off x="301752" y="138017"/>
            <a:ext cx="12024360" cy="6390816"/>
          </a:xfrm>
          <a:custGeom>
            <a:avLst/>
            <a:gdLst/>
            <a:ahLst/>
            <a:cxnLst/>
            <a:rect l="0" t="0" r="0" b="0"/>
            <a:pathLst>
              <a:path w="16182975" h="8601075">
                <a:moveTo>
                  <a:pt x="2781300" y="5676900"/>
                </a:moveTo>
                <a:cubicBezTo>
                  <a:pt x="3121152" y="3251200"/>
                  <a:pt x="6689598" y="3251200"/>
                  <a:pt x="7029450" y="5676900"/>
                </a:cubicBezTo>
              </a:path>
            </a:pathLst>
          </a:custGeom>
          <a:noFill/>
          <a:ln w="63696">
            <a:solidFill>
              <a:srgbClr val="A4CCD8"/>
            </a:solidFill>
            <a:prstDash val="solid"/>
          </a:ln>
        </p:spPr>
        <p:txBody>
          <a:bodyPr/>
          <a:lstStyle/>
          <a:p>
            <a:endParaRPr lang="en-US"/>
          </a:p>
        </p:txBody>
      </p:sp>
      <p:sp>
        <p:nvSpPr>
          <p:cNvPr id="14" name="Microsoft to AMD chip purchases arrowhead">
            <a:extLst>
              <a:ext uri="{FF2B5EF4-FFF2-40B4-BE49-F238E27FC236}">
                <a16:creationId xmlns:a16="http://schemas.microsoft.com/office/drawing/2014/main" id="{511EF374-330B-4D42-9FD7-382C43DD7476}"/>
              </a:ext>
            </a:extLst>
          </p:cNvPr>
          <p:cNvSpPr>
            <a:spLocks noGrp="1"/>
          </p:cNvSpPr>
          <p:nvPr/>
        </p:nvSpPr>
        <p:spPr>
          <a:xfrm>
            <a:off x="5461115" y="4235783"/>
            <a:ext cx="127392" cy="127392"/>
          </a:xfrm>
          <a:custGeom>
            <a:avLst/>
            <a:gdLst/>
            <a:ahLst/>
            <a:cxnLst/>
            <a:rect l="0" t="0" r="0" b="0"/>
            <a:pathLst>
              <a:path w="171450" h="171450">
                <a:moveTo>
                  <a:pt x="0" y="0"/>
                </a:moveTo>
                <a:lnTo>
                  <a:pt x="171450" y="0"/>
                </a:lnTo>
                <a:lnTo>
                  <a:pt x="85725" y="171450"/>
                </a:lnTo>
                <a:close/>
              </a:path>
            </a:pathLst>
          </a:custGeom>
          <a:solidFill>
            <a:srgbClr val="A4CCD8"/>
          </a:solidFill>
          <a:ln w="0">
            <a:noFill/>
          </a:ln>
        </p:spPr>
        <p:txBody>
          <a:bodyPr/>
          <a:lstStyle/>
          <a:p>
            <a:endParaRPr lang="en-US"/>
          </a:p>
        </p:txBody>
      </p:sp>
      <p:sp>
        <p:nvSpPr>
          <p:cNvPr id="15" name="OpenAI to CoreWeave infrastructure">
            <a:extLst>
              <a:ext uri="{FF2B5EF4-FFF2-40B4-BE49-F238E27FC236}">
                <a16:creationId xmlns:a16="http://schemas.microsoft.com/office/drawing/2014/main" id="{4A563B5E-44FA-4094-81FE-90B730301674}"/>
              </a:ext>
            </a:extLst>
          </p:cNvPr>
          <p:cNvSpPr>
            <a:spLocks noGrp="1"/>
          </p:cNvSpPr>
          <p:nvPr/>
        </p:nvSpPr>
        <p:spPr>
          <a:xfrm>
            <a:off x="301752" y="138017"/>
            <a:ext cx="12024360" cy="6390816"/>
          </a:xfrm>
          <a:custGeom>
            <a:avLst/>
            <a:gdLst/>
            <a:ahLst/>
            <a:cxnLst/>
            <a:rect l="0" t="0" r="0" b="0"/>
            <a:pathLst>
              <a:path w="16182975" h="8601075">
                <a:moveTo>
                  <a:pt x="1285875" y="5676900"/>
                </a:moveTo>
                <a:cubicBezTo>
                  <a:pt x="1640967" y="3035300"/>
                  <a:pt x="5369433" y="3035300"/>
                  <a:pt x="5724525" y="5676900"/>
                </a:cubicBezTo>
              </a:path>
            </a:pathLst>
          </a:custGeom>
          <a:noFill/>
          <a:ln w="63696">
            <a:solidFill>
              <a:srgbClr val="548C97"/>
            </a:solidFill>
            <a:prstDash val="solid"/>
          </a:ln>
        </p:spPr>
        <p:txBody>
          <a:bodyPr/>
          <a:lstStyle/>
          <a:p>
            <a:endParaRPr lang="en-US"/>
          </a:p>
        </p:txBody>
      </p:sp>
      <p:sp>
        <p:nvSpPr>
          <p:cNvPr id="16" name="OpenAI to CoreWeave infrastructure arrowhead">
            <a:extLst>
              <a:ext uri="{FF2B5EF4-FFF2-40B4-BE49-F238E27FC236}">
                <a16:creationId xmlns:a16="http://schemas.microsoft.com/office/drawing/2014/main" id="{42C10406-63A3-44A4-9B40-279DA930D1D2}"/>
              </a:ext>
            </a:extLst>
          </p:cNvPr>
          <p:cNvSpPr>
            <a:spLocks noGrp="1"/>
          </p:cNvSpPr>
          <p:nvPr/>
        </p:nvSpPr>
        <p:spPr>
          <a:xfrm>
            <a:off x="4491523" y="4235783"/>
            <a:ext cx="127392" cy="127392"/>
          </a:xfrm>
          <a:custGeom>
            <a:avLst/>
            <a:gdLst/>
            <a:ahLst/>
            <a:cxnLst/>
            <a:rect l="0" t="0" r="0" b="0"/>
            <a:pathLst>
              <a:path w="171450" h="171450">
                <a:moveTo>
                  <a:pt x="0" y="0"/>
                </a:moveTo>
                <a:lnTo>
                  <a:pt x="171450" y="0"/>
                </a:lnTo>
                <a:lnTo>
                  <a:pt x="85725" y="171450"/>
                </a:lnTo>
                <a:close/>
              </a:path>
            </a:pathLst>
          </a:custGeom>
          <a:solidFill>
            <a:srgbClr val="548C97"/>
          </a:solidFill>
          <a:ln w="0">
            <a:noFill/>
          </a:ln>
        </p:spPr>
        <p:txBody>
          <a:bodyPr/>
          <a:lstStyle/>
          <a:p>
            <a:endParaRPr lang="en-US"/>
          </a:p>
        </p:txBody>
      </p:sp>
      <p:sp>
        <p:nvSpPr>
          <p:cNvPr id="17" name="OpenAI to CoreWeave equity investment">
            <a:extLst>
              <a:ext uri="{FF2B5EF4-FFF2-40B4-BE49-F238E27FC236}">
                <a16:creationId xmlns:a16="http://schemas.microsoft.com/office/drawing/2014/main" id="{328A6422-5903-4A85-8052-9706194CE9BB}"/>
              </a:ext>
            </a:extLst>
          </p:cNvPr>
          <p:cNvSpPr>
            <a:spLocks noGrp="1"/>
          </p:cNvSpPr>
          <p:nvPr/>
        </p:nvSpPr>
        <p:spPr>
          <a:xfrm>
            <a:off x="301752" y="138017"/>
            <a:ext cx="12024360" cy="6390816"/>
          </a:xfrm>
          <a:custGeom>
            <a:avLst/>
            <a:gdLst/>
            <a:ahLst/>
            <a:cxnLst/>
            <a:rect l="0" t="0" r="0" b="0"/>
            <a:pathLst>
              <a:path w="16182975" h="8601075">
                <a:moveTo>
                  <a:pt x="1304925" y="5676900"/>
                </a:moveTo>
                <a:cubicBezTo>
                  <a:pt x="1650111" y="3162300"/>
                  <a:pt x="5274564" y="3162300"/>
                  <a:pt x="5619750" y="5676900"/>
                </a:cubicBezTo>
              </a:path>
            </a:pathLst>
          </a:custGeom>
          <a:noFill/>
          <a:ln w="63696">
            <a:solidFill>
              <a:srgbClr val="CDA379"/>
            </a:solidFill>
            <a:prstDash val="solid"/>
          </a:ln>
        </p:spPr>
        <p:txBody>
          <a:bodyPr/>
          <a:lstStyle/>
          <a:p>
            <a:endParaRPr lang="en-US"/>
          </a:p>
        </p:txBody>
      </p:sp>
      <p:sp>
        <p:nvSpPr>
          <p:cNvPr id="18" name="OpenAI to CoreWeave equity investment arrowhead">
            <a:extLst>
              <a:ext uri="{FF2B5EF4-FFF2-40B4-BE49-F238E27FC236}">
                <a16:creationId xmlns:a16="http://schemas.microsoft.com/office/drawing/2014/main" id="{91144616-5EC6-4459-BE70-04F83B90C9F9}"/>
              </a:ext>
            </a:extLst>
          </p:cNvPr>
          <p:cNvSpPr>
            <a:spLocks noGrp="1"/>
          </p:cNvSpPr>
          <p:nvPr/>
        </p:nvSpPr>
        <p:spPr>
          <a:xfrm>
            <a:off x="4413673" y="4235783"/>
            <a:ext cx="127392" cy="127392"/>
          </a:xfrm>
          <a:custGeom>
            <a:avLst/>
            <a:gdLst/>
            <a:ahLst/>
            <a:cxnLst/>
            <a:rect l="0" t="0" r="0" b="0"/>
            <a:pathLst>
              <a:path w="171450" h="171450">
                <a:moveTo>
                  <a:pt x="0" y="0"/>
                </a:moveTo>
                <a:lnTo>
                  <a:pt x="171450" y="0"/>
                </a:lnTo>
                <a:lnTo>
                  <a:pt x="85725" y="171450"/>
                </a:lnTo>
                <a:close/>
              </a:path>
            </a:pathLst>
          </a:custGeom>
          <a:solidFill>
            <a:srgbClr val="CDA379"/>
          </a:solidFill>
          <a:ln w="0">
            <a:noFill/>
          </a:ln>
        </p:spPr>
        <p:txBody>
          <a:bodyPr/>
          <a:lstStyle/>
          <a:p>
            <a:endParaRPr lang="en-US"/>
          </a:p>
        </p:txBody>
      </p:sp>
      <p:sp>
        <p:nvSpPr>
          <p:cNvPr id="19" name="OpenAI to Nvidia chip purchases">
            <a:extLst>
              <a:ext uri="{FF2B5EF4-FFF2-40B4-BE49-F238E27FC236}">
                <a16:creationId xmlns:a16="http://schemas.microsoft.com/office/drawing/2014/main" id="{0B790335-03BA-4B6E-BB79-E5D69AE1E0A9}"/>
              </a:ext>
            </a:extLst>
          </p:cNvPr>
          <p:cNvSpPr>
            <a:spLocks noGrp="1"/>
          </p:cNvSpPr>
          <p:nvPr/>
        </p:nvSpPr>
        <p:spPr>
          <a:xfrm>
            <a:off x="301752" y="138017"/>
            <a:ext cx="12024360" cy="6390816"/>
          </a:xfrm>
          <a:custGeom>
            <a:avLst/>
            <a:gdLst/>
            <a:ahLst/>
            <a:cxnLst/>
            <a:rect l="0" t="0" r="0" b="0"/>
            <a:pathLst>
              <a:path w="16182975" h="8601075">
                <a:moveTo>
                  <a:pt x="1304925" y="5676900"/>
                </a:moveTo>
                <a:cubicBezTo>
                  <a:pt x="1535049" y="4064000"/>
                  <a:pt x="3951351" y="4064000"/>
                  <a:pt x="4181475" y="5676900"/>
                </a:cubicBezTo>
              </a:path>
            </a:pathLst>
          </a:custGeom>
          <a:noFill/>
          <a:ln w="63696">
            <a:solidFill>
              <a:srgbClr val="A4CCD8"/>
            </a:solidFill>
            <a:prstDash val="solid"/>
          </a:ln>
        </p:spPr>
        <p:txBody>
          <a:bodyPr/>
          <a:lstStyle/>
          <a:p>
            <a:endParaRPr lang="en-US"/>
          </a:p>
        </p:txBody>
      </p:sp>
      <p:sp>
        <p:nvSpPr>
          <p:cNvPr id="20" name="OpenAI to Nvidia chip purchases arrowhead">
            <a:extLst>
              <a:ext uri="{FF2B5EF4-FFF2-40B4-BE49-F238E27FC236}">
                <a16:creationId xmlns:a16="http://schemas.microsoft.com/office/drawing/2014/main" id="{709A77FE-F71D-40B6-80AD-6BE83BC6E89B}"/>
              </a:ext>
            </a:extLst>
          </p:cNvPr>
          <p:cNvSpPr>
            <a:spLocks noGrp="1"/>
          </p:cNvSpPr>
          <p:nvPr/>
        </p:nvSpPr>
        <p:spPr>
          <a:xfrm>
            <a:off x="3344998" y="4235783"/>
            <a:ext cx="127392" cy="127392"/>
          </a:xfrm>
          <a:custGeom>
            <a:avLst/>
            <a:gdLst/>
            <a:ahLst/>
            <a:cxnLst/>
            <a:rect l="0" t="0" r="0" b="0"/>
            <a:pathLst>
              <a:path w="171450" h="171450">
                <a:moveTo>
                  <a:pt x="0" y="0"/>
                </a:moveTo>
                <a:lnTo>
                  <a:pt x="171450" y="0"/>
                </a:lnTo>
                <a:lnTo>
                  <a:pt x="85725" y="171450"/>
                </a:lnTo>
                <a:close/>
              </a:path>
            </a:pathLst>
          </a:custGeom>
          <a:solidFill>
            <a:srgbClr val="A4CCD8"/>
          </a:solidFill>
          <a:ln w="0">
            <a:noFill/>
          </a:ln>
        </p:spPr>
        <p:txBody>
          <a:bodyPr/>
          <a:lstStyle/>
          <a:p>
            <a:endParaRPr lang="en-US"/>
          </a:p>
        </p:txBody>
      </p:sp>
      <p:sp>
        <p:nvSpPr>
          <p:cNvPr id="21" name="Microsoft to CoreWeave infrastructure">
            <a:extLst>
              <a:ext uri="{FF2B5EF4-FFF2-40B4-BE49-F238E27FC236}">
                <a16:creationId xmlns:a16="http://schemas.microsoft.com/office/drawing/2014/main" id="{31353D2A-5C7E-481F-AB79-8826608A0DD6}"/>
              </a:ext>
            </a:extLst>
          </p:cNvPr>
          <p:cNvSpPr>
            <a:spLocks noGrp="1"/>
          </p:cNvSpPr>
          <p:nvPr/>
        </p:nvSpPr>
        <p:spPr>
          <a:xfrm>
            <a:off x="301752" y="138017"/>
            <a:ext cx="12024360" cy="6390816"/>
          </a:xfrm>
          <a:custGeom>
            <a:avLst/>
            <a:gdLst/>
            <a:ahLst/>
            <a:cxnLst/>
            <a:rect l="0" t="0" r="0" b="0"/>
            <a:pathLst>
              <a:path w="16182975" h="8601075">
                <a:moveTo>
                  <a:pt x="2781300" y="5676900"/>
                </a:moveTo>
                <a:cubicBezTo>
                  <a:pt x="3006090" y="4140200"/>
                  <a:pt x="5366385" y="4140200"/>
                  <a:pt x="5591175" y="5676900"/>
                </a:cubicBezTo>
              </a:path>
            </a:pathLst>
          </a:custGeom>
          <a:noFill/>
          <a:ln w="63696">
            <a:solidFill>
              <a:srgbClr val="548C97"/>
            </a:solidFill>
            <a:prstDash val="solid"/>
          </a:ln>
        </p:spPr>
        <p:txBody>
          <a:bodyPr/>
          <a:lstStyle/>
          <a:p>
            <a:endParaRPr lang="en-US"/>
          </a:p>
        </p:txBody>
      </p:sp>
      <p:sp>
        <p:nvSpPr>
          <p:cNvPr id="22" name="Microsoft to CoreWeave infrastructure arrowhead">
            <a:extLst>
              <a:ext uri="{FF2B5EF4-FFF2-40B4-BE49-F238E27FC236}">
                <a16:creationId xmlns:a16="http://schemas.microsoft.com/office/drawing/2014/main" id="{35FCEE37-AFBA-4D15-9680-0D9BBEDE46F7}"/>
              </a:ext>
            </a:extLst>
          </p:cNvPr>
          <p:cNvSpPr>
            <a:spLocks noGrp="1"/>
          </p:cNvSpPr>
          <p:nvPr/>
        </p:nvSpPr>
        <p:spPr>
          <a:xfrm>
            <a:off x="4392441" y="4235783"/>
            <a:ext cx="127392" cy="127392"/>
          </a:xfrm>
          <a:custGeom>
            <a:avLst/>
            <a:gdLst/>
            <a:ahLst/>
            <a:cxnLst/>
            <a:rect l="0" t="0" r="0" b="0"/>
            <a:pathLst>
              <a:path w="171450" h="171450">
                <a:moveTo>
                  <a:pt x="0" y="0"/>
                </a:moveTo>
                <a:lnTo>
                  <a:pt x="171450" y="0"/>
                </a:lnTo>
                <a:lnTo>
                  <a:pt x="85725" y="171450"/>
                </a:lnTo>
                <a:close/>
              </a:path>
            </a:pathLst>
          </a:custGeom>
          <a:solidFill>
            <a:srgbClr val="548C97"/>
          </a:solidFill>
          <a:ln w="0">
            <a:noFill/>
          </a:ln>
        </p:spPr>
        <p:txBody>
          <a:bodyPr/>
          <a:lstStyle/>
          <a:p>
            <a:endParaRPr lang="en-US"/>
          </a:p>
        </p:txBody>
      </p:sp>
      <p:sp>
        <p:nvSpPr>
          <p:cNvPr id="23" name="Microsoft to Nvidia chip purchases">
            <a:extLst>
              <a:ext uri="{FF2B5EF4-FFF2-40B4-BE49-F238E27FC236}">
                <a16:creationId xmlns:a16="http://schemas.microsoft.com/office/drawing/2014/main" id="{79455CBA-EECD-4B76-9A18-AFB1291D7D67}"/>
              </a:ext>
            </a:extLst>
          </p:cNvPr>
          <p:cNvSpPr>
            <a:spLocks noGrp="1"/>
          </p:cNvSpPr>
          <p:nvPr/>
        </p:nvSpPr>
        <p:spPr>
          <a:xfrm>
            <a:off x="301752" y="138017"/>
            <a:ext cx="12024360" cy="6390816"/>
          </a:xfrm>
          <a:custGeom>
            <a:avLst/>
            <a:gdLst/>
            <a:ahLst/>
            <a:cxnLst/>
            <a:rect l="0" t="0" r="0" b="0"/>
            <a:pathLst>
              <a:path w="16182975" h="8601075">
                <a:moveTo>
                  <a:pt x="2781300" y="5676900"/>
                </a:moveTo>
                <a:cubicBezTo>
                  <a:pt x="2887218" y="5105400"/>
                  <a:pt x="3999357" y="5105400"/>
                  <a:pt x="4105275" y="5676900"/>
                </a:cubicBezTo>
              </a:path>
            </a:pathLst>
          </a:custGeom>
          <a:noFill/>
          <a:ln w="63696">
            <a:solidFill>
              <a:srgbClr val="A4CCD8"/>
            </a:solidFill>
            <a:prstDash val="solid"/>
          </a:ln>
        </p:spPr>
        <p:txBody>
          <a:bodyPr/>
          <a:lstStyle/>
          <a:p>
            <a:endParaRPr lang="en-US"/>
          </a:p>
        </p:txBody>
      </p:sp>
      <p:sp>
        <p:nvSpPr>
          <p:cNvPr id="24" name="Microsoft to Nvidia chip purchases arrowhead">
            <a:extLst>
              <a:ext uri="{FF2B5EF4-FFF2-40B4-BE49-F238E27FC236}">
                <a16:creationId xmlns:a16="http://schemas.microsoft.com/office/drawing/2014/main" id="{0AF88312-DF1F-4415-9588-126CFC2461F4}"/>
              </a:ext>
            </a:extLst>
          </p:cNvPr>
          <p:cNvSpPr>
            <a:spLocks noGrp="1"/>
          </p:cNvSpPr>
          <p:nvPr/>
        </p:nvSpPr>
        <p:spPr>
          <a:xfrm>
            <a:off x="3288379" y="4235783"/>
            <a:ext cx="127392" cy="127392"/>
          </a:xfrm>
          <a:custGeom>
            <a:avLst/>
            <a:gdLst/>
            <a:ahLst/>
            <a:cxnLst/>
            <a:rect l="0" t="0" r="0" b="0"/>
            <a:pathLst>
              <a:path w="171450" h="171450">
                <a:moveTo>
                  <a:pt x="0" y="0"/>
                </a:moveTo>
                <a:lnTo>
                  <a:pt x="171450" y="0"/>
                </a:lnTo>
                <a:lnTo>
                  <a:pt x="85725" y="171450"/>
                </a:lnTo>
                <a:close/>
              </a:path>
            </a:pathLst>
          </a:custGeom>
          <a:solidFill>
            <a:srgbClr val="A4CCD8"/>
          </a:solidFill>
          <a:ln w="0">
            <a:noFill/>
          </a:ln>
        </p:spPr>
        <p:txBody>
          <a:bodyPr/>
          <a:lstStyle/>
          <a:p>
            <a:endParaRPr lang="en-US"/>
          </a:p>
        </p:txBody>
      </p:sp>
      <p:sp>
        <p:nvSpPr>
          <p:cNvPr id="25" name="Nvidia to CoreWeave equity investment">
            <a:extLst>
              <a:ext uri="{FF2B5EF4-FFF2-40B4-BE49-F238E27FC236}">
                <a16:creationId xmlns:a16="http://schemas.microsoft.com/office/drawing/2014/main" id="{299C4431-0AC2-431E-BD31-821CB3183B3D}"/>
              </a:ext>
            </a:extLst>
          </p:cNvPr>
          <p:cNvSpPr>
            <a:spLocks noGrp="1"/>
          </p:cNvSpPr>
          <p:nvPr/>
        </p:nvSpPr>
        <p:spPr>
          <a:xfrm>
            <a:off x="301752" y="138017"/>
            <a:ext cx="12024360" cy="6390816"/>
          </a:xfrm>
          <a:custGeom>
            <a:avLst/>
            <a:gdLst/>
            <a:ahLst/>
            <a:cxnLst/>
            <a:rect l="0" t="0" r="0" b="0"/>
            <a:pathLst>
              <a:path w="16182975" h="8601075">
                <a:moveTo>
                  <a:pt x="4191000" y="5676900"/>
                </a:moveTo>
                <a:cubicBezTo>
                  <a:pt x="4292346" y="5130800"/>
                  <a:pt x="5356479" y="5130800"/>
                  <a:pt x="5457825" y="5676900"/>
                </a:cubicBezTo>
              </a:path>
            </a:pathLst>
          </a:custGeom>
          <a:noFill/>
          <a:ln w="63696">
            <a:solidFill>
              <a:srgbClr val="CDA379"/>
            </a:solidFill>
            <a:prstDash val="solid"/>
          </a:ln>
        </p:spPr>
        <p:txBody>
          <a:bodyPr/>
          <a:lstStyle/>
          <a:p>
            <a:endParaRPr lang="en-US"/>
          </a:p>
        </p:txBody>
      </p:sp>
      <p:sp>
        <p:nvSpPr>
          <p:cNvPr id="26" name="Nvidia to CoreWeave equity investment arrowhead">
            <a:extLst>
              <a:ext uri="{FF2B5EF4-FFF2-40B4-BE49-F238E27FC236}">
                <a16:creationId xmlns:a16="http://schemas.microsoft.com/office/drawing/2014/main" id="{2E0ADFDA-C098-4705-9FC5-B7CC220EA387}"/>
              </a:ext>
            </a:extLst>
          </p:cNvPr>
          <p:cNvSpPr>
            <a:spLocks noGrp="1"/>
          </p:cNvSpPr>
          <p:nvPr/>
        </p:nvSpPr>
        <p:spPr>
          <a:xfrm>
            <a:off x="4293358" y="4235783"/>
            <a:ext cx="127392" cy="127392"/>
          </a:xfrm>
          <a:custGeom>
            <a:avLst/>
            <a:gdLst/>
            <a:ahLst/>
            <a:cxnLst/>
            <a:rect l="0" t="0" r="0" b="0"/>
            <a:pathLst>
              <a:path w="171450" h="171450">
                <a:moveTo>
                  <a:pt x="0" y="0"/>
                </a:moveTo>
                <a:lnTo>
                  <a:pt x="171450" y="0"/>
                </a:lnTo>
                <a:lnTo>
                  <a:pt x="85725" y="171450"/>
                </a:lnTo>
                <a:close/>
              </a:path>
            </a:pathLst>
          </a:custGeom>
          <a:solidFill>
            <a:srgbClr val="CDA379"/>
          </a:solidFill>
          <a:ln w="0">
            <a:noFill/>
          </a:ln>
        </p:spPr>
        <p:txBody>
          <a:bodyPr/>
          <a:lstStyle/>
          <a:p>
            <a:endParaRPr lang="en-US"/>
          </a:p>
        </p:txBody>
      </p:sp>
      <p:sp>
        <p:nvSpPr>
          <p:cNvPr id="27" name="OpenAI to Microsoft revenue sharing">
            <a:extLst>
              <a:ext uri="{FF2B5EF4-FFF2-40B4-BE49-F238E27FC236}">
                <a16:creationId xmlns:a16="http://schemas.microsoft.com/office/drawing/2014/main" id="{389E9053-C867-4E3A-A114-BF4E9C7B0B34}"/>
              </a:ext>
            </a:extLst>
          </p:cNvPr>
          <p:cNvSpPr>
            <a:spLocks noGrp="1"/>
          </p:cNvSpPr>
          <p:nvPr/>
        </p:nvSpPr>
        <p:spPr>
          <a:xfrm>
            <a:off x="301752" y="138017"/>
            <a:ext cx="12024360" cy="6390816"/>
          </a:xfrm>
          <a:custGeom>
            <a:avLst/>
            <a:gdLst/>
            <a:ahLst/>
            <a:cxnLst/>
            <a:rect l="0" t="0" r="0" b="0"/>
            <a:pathLst>
              <a:path w="16182975" h="8601075">
                <a:moveTo>
                  <a:pt x="1352550" y="5676900"/>
                </a:moveTo>
                <a:cubicBezTo>
                  <a:pt x="1462278" y="5080000"/>
                  <a:pt x="2614422" y="5080000"/>
                  <a:pt x="2724150" y="5676900"/>
                </a:cubicBezTo>
              </a:path>
            </a:pathLst>
          </a:custGeom>
          <a:noFill/>
          <a:ln w="63696">
            <a:solidFill>
              <a:srgbClr val="B4B8BA"/>
            </a:solidFill>
            <a:prstDash val="solid"/>
          </a:ln>
        </p:spPr>
        <p:txBody>
          <a:bodyPr/>
          <a:lstStyle/>
          <a:p>
            <a:endParaRPr lang="en-US"/>
          </a:p>
        </p:txBody>
      </p:sp>
      <p:sp>
        <p:nvSpPr>
          <p:cNvPr id="28" name="OpenAI to Microsoft revenue sharing arrowhead">
            <a:extLst>
              <a:ext uri="{FF2B5EF4-FFF2-40B4-BE49-F238E27FC236}">
                <a16:creationId xmlns:a16="http://schemas.microsoft.com/office/drawing/2014/main" id="{530C95BF-3A22-4EAE-8DC7-D762D401BF52}"/>
              </a:ext>
            </a:extLst>
          </p:cNvPr>
          <p:cNvSpPr>
            <a:spLocks noGrp="1"/>
          </p:cNvSpPr>
          <p:nvPr/>
        </p:nvSpPr>
        <p:spPr>
          <a:xfrm>
            <a:off x="2262169" y="4235783"/>
            <a:ext cx="127392" cy="127392"/>
          </a:xfrm>
          <a:custGeom>
            <a:avLst/>
            <a:gdLst/>
            <a:ahLst/>
            <a:cxnLst/>
            <a:rect l="0" t="0" r="0" b="0"/>
            <a:pathLst>
              <a:path w="171450" h="171450">
                <a:moveTo>
                  <a:pt x="0" y="0"/>
                </a:moveTo>
                <a:lnTo>
                  <a:pt x="171450" y="0"/>
                </a:lnTo>
                <a:lnTo>
                  <a:pt x="85725" y="171450"/>
                </a:lnTo>
                <a:close/>
              </a:path>
            </a:pathLst>
          </a:custGeom>
          <a:solidFill>
            <a:srgbClr val="B4B8BA"/>
          </a:solidFill>
          <a:ln w="0">
            <a:noFill/>
          </a:ln>
        </p:spPr>
        <p:txBody>
          <a:bodyPr/>
          <a:lstStyle/>
          <a:p>
            <a:endParaRPr lang="en-US"/>
          </a:p>
        </p:txBody>
      </p:sp>
      <p:sp>
        <p:nvSpPr>
          <p:cNvPr id="29" name="OpenAI to Microsoft infrastructure">
            <a:extLst>
              <a:ext uri="{FF2B5EF4-FFF2-40B4-BE49-F238E27FC236}">
                <a16:creationId xmlns:a16="http://schemas.microsoft.com/office/drawing/2014/main" id="{E144EBBB-5CCD-4E1F-B8AB-ACB8A5E30F64}"/>
              </a:ext>
            </a:extLst>
          </p:cNvPr>
          <p:cNvSpPr>
            <a:spLocks noGrp="1"/>
          </p:cNvSpPr>
          <p:nvPr/>
        </p:nvSpPr>
        <p:spPr>
          <a:xfrm>
            <a:off x="301752" y="138017"/>
            <a:ext cx="12024360" cy="6390816"/>
          </a:xfrm>
          <a:custGeom>
            <a:avLst/>
            <a:gdLst/>
            <a:ahLst/>
            <a:cxnLst/>
            <a:rect l="0" t="0" r="0" b="0"/>
            <a:pathLst>
              <a:path w="16182975" h="8601075">
                <a:moveTo>
                  <a:pt x="1266825" y="5676900"/>
                </a:moveTo>
                <a:cubicBezTo>
                  <a:pt x="1387983" y="4953000"/>
                  <a:pt x="2660142" y="4953000"/>
                  <a:pt x="2781300" y="5676900"/>
                </a:cubicBezTo>
              </a:path>
            </a:pathLst>
          </a:custGeom>
          <a:noFill/>
          <a:ln w="70773">
            <a:solidFill>
              <a:srgbClr val="548C97"/>
            </a:solidFill>
            <a:prstDash val="solid"/>
          </a:ln>
        </p:spPr>
        <p:txBody>
          <a:bodyPr/>
          <a:lstStyle/>
          <a:p>
            <a:endParaRPr lang="en-US"/>
          </a:p>
        </p:txBody>
      </p:sp>
      <p:sp>
        <p:nvSpPr>
          <p:cNvPr id="30" name="OpenAI to Microsoft infrastructure arrowhead">
            <a:extLst>
              <a:ext uri="{FF2B5EF4-FFF2-40B4-BE49-F238E27FC236}">
                <a16:creationId xmlns:a16="http://schemas.microsoft.com/office/drawing/2014/main" id="{95C1C67A-1A6D-4E50-9E94-917EB2B94AF0}"/>
              </a:ext>
            </a:extLst>
          </p:cNvPr>
          <p:cNvSpPr>
            <a:spLocks noGrp="1"/>
          </p:cNvSpPr>
          <p:nvPr/>
        </p:nvSpPr>
        <p:spPr>
          <a:xfrm>
            <a:off x="2304632" y="4235783"/>
            <a:ext cx="127392" cy="127392"/>
          </a:xfrm>
          <a:custGeom>
            <a:avLst/>
            <a:gdLst/>
            <a:ahLst/>
            <a:cxnLst/>
            <a:rect l="0" t="0" r="0" b="0"/>
            <a:pathLst>
              <a:path w="171450" h="171450">
                <a:moveTo>
                  <a:pt x="0" y="0"/>
                </a:moveTo>
                <a:lnTo>
                  <a:pt x="171450" y="0"/>
                </a:lnTo>
                <a:lnTo>
                  <a:pt x="85725" y="171450"/>
                </a:lnTo>
                <a:close/>
              </a:path>
            </a:pathLst>
          </a:custGeom>
          <a:solidFill>
            <a:srgbClr val="548C97"/>
          </a:solidFill>
          <a:ln w="0">
            <a:noFill/>
          </a:ln>
        </p:spPr>
        <p:txBody>
          <a:bodyPr/>
          <a:lstStyle/>
          <a:p>
            <a:endParaRPr lang="en-US"/>
          </a:p>
        </p:txBody>
      </p:sp>
      <p:sp>
        <p:nvSpPr>
          <p:cNvPr id="31" name="Microsoft to OpenAI revenue sharing">
            <a:extLst>
              <a:ext uri="{FF2B5EF4-FFF2-40B4-BE49-F238E27FC236}">
                <a16:creationId xmlns:a16="http://schemas.microsoft.com/office/drawing/2014/main" id="{0348462B-D796-4473-BBED-86B28F648467}"/>
              </a:ext>
            </a:extLst>
          </p:cNvPr>
          <p:cNvSpPr>
            <a:spLocks noGrp="1"/>
          </p:cNvSpPr>
          <p:nvPr/>
        </p:nvSpPr>
        <p:spPr>
          <a:xfrm>
            <a:off x="301752" y="138017"/>
            <a:ext cx="12024360" cy="6390816"/>
          </a:xfrm>
          <a:custGeom>
            <a:avLst/>
            <a:gdLst/>
            <a:ahLst/>
            <a:cxnLst/>
            <a:rect l="0" t="0" r="0" b="0"/>
            <a:pathLst>
              <a:path w="16182975" h="8601075">
                <a:moveTo>
                  <a:pt x="1438275" y="6143625"/>
                </a:moveTo>
                <a:cubicBezTo>
                  <a:pt x="1537335" y="6778625"/>
                  <a:pt x="2577465" y="6778625"/>
                  <a:pt x="2676525" y="6143625"/>
                </a:cubicBezTo>
              </a:path>
            </a:pathLst>
          </a:custGeom>
          <a:noFill/>
          <a:ln w="63696">
            <a:solidFill>
              <a:srgbClr val="B4B8BA"/>
            </a:solidFill>
            <a:prstDash val="solid"/>
          </a:ln>
        </p:spPr>
        <p:txBody>
          <a:bodyPr/>
          <a:lstStyle/>
          <a:p>
            <a:endParaRPr lang="en-US"/>
          </a:p>
        </p:txBody>
      </p:sp>
      <p:sp>
        <p:nvSpPr>
          <p:cNvPr id="32" name="Microsoft to OpenAI revenue sharing arrowhead">
            <a:extLst>
              <a:ext uri="{FF2B5EF4-FFF2-40B4-BE49-F238E27FC236}">
                <a16:creationId xmlns:a16="http://schemas.microsoft.com/office/drawing/2014/main" id="{4C4BFB87-114D-44E5-98E2-6AB596831B5C}"/>
              </a:ext>
            </a:extLst>
          </p:cNvPr>
          <p:cNvSpPr>
            <a:spLocks noGrp="1"/>
          </p:cNvSpPr>
          <p:nvPr/>
        </p:nvSpPr>
        <p:spPr>
          <a:xfrm>
            <a:off x="1306731" y="4702886"/>
            <a:ext cx="127392" cy="127392"/>
          </a:xfrm>
          <a:custGeom>
            <a:avLst/>
            <a:gdLst/>
            <a:ahLst/>
            <a:cxnLst/>
            <a:rect l="0" t="0" r="0" b="0"/>
            <a:pathLst>
              <a:path w="171450" h="171450">
                <a:moveTo>
                  <a:pt x="0" y="171450"/>
                </a:moveTo>
                <a:lnTo>
                  <a:pt x="171450" y="171450"/>
                </a:lnTo>
                <a:lnTo>
                  <a:pt x="85725" y="0"/>
                </a:lnTo>
                <a:close/>
              </a:path>
            </a:pathLst>
          </a:custGeom>
          <a:solidFill>
            <a:srgbClr val="B4B8BA"/>
          </a:solidFill>
          <a:ln w="0">
            <a:noFill/>
          </a:ln>
        </p:spPr>
        <p:txBody>
          <a:bodyPr/>
          <a:lstStyle/>
          <a:p>
            <a:endParaRPr lang="en-US"/>
          </a:p>
        </p:txBody>
      </p:sp>
      <p:sp>
        <p:nvSpPr>
          <p:cNvPr id="33" name="Microsoft to OpenAI equity investment">
            <a:extLst>
              <a:ext uri="{FF2B5EF4-FFF2-40B4-BE49-F238E27FC236}">
                <a16:creationId xmlns:a16="http://schemas.microsoft.com/office/drawing/2014/main" id="{24803C30-3B12-478C-A922-2A9AF254C8C1}"/>
              </a:ext>
            </a:extLst>
          </p:cNvPr>
          <p:cNvSpPr>
            <a:spLocks noGrp="1"/>
          </p:cNvSpPr>
          <p:nvPr/>
        </p:nvSpPr>
        <p:spPr>
          <a:xfrm>
            <a:off x="301752" y="138017"/>
            <a:ext cx="12024360" cy="6390816"/>
          </a:xfrm>
          <a:custGeom>
            <a:avLst/>
            <a:gdLst/>
            <a:ahLst/>
            <a:cxnLst/>
            <a:rect l="0" t="0" r="0" b="0"/>
            <a:pathLst>
              <a:path w="16182975" h="8601075">
                <a:moveTo>
                  <a:pt x="1343025" y="6143625"/>
                </a:moveTo>
                <a:cubicBezTo>
                  <a:pt x="1453515" y="6918325"/>
                  <a:pt x="2613660" y="6918325"/>
                  <a:pt x="2724150" y="6143625"/>
                </a:cubicBezTo>
              </a:path>
            </a:pathLst>
          </a:custGeom>
          <a:noFill/>
          <a:ln w="63696">
            <a:solidFill>
              <a:srgbClr val="CDA379"/>
            </a:solidFill>
            <a:prstDash val="solid"/>
          </a:ln>
        </p:spPr>
        <p:txBody>
          <a:bodyPr/>
          <a:lstStyle/>
          <a:p>
            <a:endParaRPr lang="en-US"/>
          </a:p>
        </p:txBody>
      </p:sp>
      <p:sp>
        <p:nvSpPr>
          <p:cNvPr id="34" name="Microsoft to OpenAI equity investment arrowhead">
            <a:extLst>
              <a:ext uri="{FF2B5EF4-FFF2-40B4-BE49-F238E27FC236}">
                <a16:creationId xmlns:a16="http://schemas.microsoft.com/office/drawing/2014/main" id="{2F219DA3-F0C8-4A81-A1DE-31BB7D792C07}"/>
              </a:ext>
            </a:extLst>
          </p:cNvPr>
          <p:cNvSpPr>
            <a:spLocks noGrp="1"/>
          </p:cNvSpPr>
          <p:nvPr/>
        </p:nvSpPr>
        <p:spPr>
          <a:xfrm>
            <a:off x="1235958" y="4702886"/>
            <a:ext cx="127392" cy="127392"/>
          </a:xfrm>
          <a:custGeom>
            <a:avLst/>
            <a:gdLst/>
            <a:ahLst/>
            <a:cxnLst/>
            <a:rect l="0" t="0" r="0" b="0"/>
            <a:pathLst>
              <a:path w="171450" h="171450">
                <a:moveTo>
                  <a:pt x="0" y="171450"/>
                </a:moveTo>
                <a:lnTo>
                  <a:pt x="171450" y="171450"/>
                </a:lnTo>
                <a:lnTo>
                  <a:pt x="85725" y="0"/>
                </a:lnTo>
                <a:close/>
              </a:path>
            </a:pathLst>
          </a:custGeom>
          <a:solidFill>
            <a:srgbClr val="CDA379"/>
          </a:solidFill>
          <a:ln w="0">
            <a:noFill/>
          </a:ln>
        </p:spPr>
        <p:txBody>
          <a:bodyPr/>
          <a:lstStyle/>
          <a:p>
            <a:endParaRPr lang="en-US"/>
          </a:p>
        </p:txBody>
      </p:sp>
      <p:sp>
        <p:nvSpPr>
          <p:cNvPr id="35" name="Nvidia to OpenAI equity investment">
            <a:extLst>
              <a:ext uri="{FF2B5EF4-FFF2-40B4-BE49-F238E27FC236}">
                <a16:creationId xmlns:a16="http://schemas.microsoft.com/office/drawing/2014/main" id="{958610CB-73A6-4764-9531-4156D54F8E69}"/>
              </a:ext>
            </a:extLst>
          </p:cNvPr>
          <p:cNvSpPr>
            <a:spLocks noGrp="1"/>
          </p:cNvSpPr>
          <p:nvPr/>
        </p:nvSpPr>
        <p:spPr>
          <a:xfrm>
            <a:off x="301752" y="138017"/>
            <a:ext cx="12024360" cy="6390816"/>
          </a:xfrm>
          <a:custGeom>
            <a:avLst/>
            <a:gdLst/>
            <a:ahLst/>
            <a:cxnLst/>
            <a:rect l="0" t="0" r="0" b="0"/>
            <a:pathLst>
              <a:path w="16182975" h="8601075">
                <a:moveTo>
                  <a:pt x="1257300" y="6143625"/>
                </a:moveTo>
                <a:cubicBezTo>
                  <a:pt x="1491234" y="7985125"/>
                  <a:pt x="3947541" y="7985125"/>
                  <a:pt x="4181475" y="6143625"/>
                </a:cubicBezTo>
              </a:path>
            </a:pathLst>
          </a:custGeom>
          <a:noFill/>
          <a:ln w="63696">
            <a:solidFill>
              <a:srgbClr val="CDA379"/>
            </a:solidFill>
            <a:prstDash val="solid"/>
          </a:ln>
        </p:spPr>
        <p:txBody>
          <a:bodyPr/>
          <a:lstStyle/>
          <a:p>
            <a:endParaRPr lang="en-US"/>
          </a:p>
        </p:txBody>
      </p:sp>
      <p:sp>
        <p:nvSpPr>
          <p:cNvPr id="36" name="Nvidia to OpenAI equity investment arrowhead">
            <a:extLst>
              <a:ext uri="{FF2B5EF4-FFF2-40B4-BE49-F238E27FC236}">
                <a16:creationId xmlns:a16="http://schemas.microsoft.com/office/drawing/2014/main" id="{9005B5D3-C975-4DE4-9E31-3B407B48A5C6}"/>
              </a:ext>
            </a:extLst>
          </p:cNvPr>
          <p:cNvSpPr>
            <a:spLocks noGrp="1"/>
          </p:cNvSpPr>
          <p:nvPr/>
        </p:nvSpPr>
        <p:spPr>
          <a:xfrm>
            <a:off x="1172262" y="4702886"/>
            <a:ext cx="127392" cy="127392"/>
          </a:xfrm>
          <a:custGeom>
            <a:avLst/>
            <a:gdLst/>
            <a:ahLst/>
            <a:cxnLst/>
            <a:rect l="0" t="0" r="0" b="0"/>
            <a:pathLst>
              <a:path w="171450" h="171450">
                <a:moveTo>
                  <a:pt x="0" y="171450"/>
                </a:moveTo>
                <a:lnTo>
                  <a:pt x="171450" y="171450"/>
                </a:lnTo>
                <a:lnTo>
                  <a:pt x="85725" y="0"/>
                </a:lnTo>
                <a:close/>
              </a:path>
            </a:pathLst>
          </a:custGeom>
          <a:solidFill>
            <a:srgbClr val="CDA379"/>
          </a:solidFill>
          <a:ln w="0">
            <a:noFill/>
          </a:ln>
        </p:spPr>
        <p:txBody>
          <a:bodyPr/>
          <a:lstStyle/>
          <a:p>
            <a:endParaRPr lang="en-US"/>
          </a:p>
        </p:txBody>
      </p:sp>
      <p:sp>
        <p:nvSpPr>
          <p:cNvPr id="37" name="CoreWeave to Nvidia chip purchases">
            <a:extLst>
              <a:ext uri="{FF2B5EF4-FFF2-40B4-BE49-F238E27FC236}">
                <a16:creationId xmlns:a16="http://schemas.microsoft.com/office/drawing/2014/main" id="{57655915-7AEC-4DE4-915E-D690D15A7F64}"/>
              </a:ext>
            </a:extLst>
          </p:cNvPr>
          <p:cNvSpPr>
            <a:spLocks noGrp="1"/>
          </p:cNvSpPr>
          <p:nvPr/>
        </p:nvSpPr>
        <p:spPr>
          <a:xfrm>
            <a:off x="301752" y="138017"/>
            <a:ext cx="12024360" cy="6390816"/>
          </a:xfrm>
          <a:custGeom>
            <a:avLst/>
            <a:gdLst/>
            <a:ahLst/>
            <a:cxnLst/>
            <a:rect l="0" t="0" r="0" b="0"/>
            <a:pathLst>
              <a:path w="16182975" h="8601075">
                <a:moveTo>
                  <a:pt x="4286250" y="6143625"/>
                </a:moveTo>
                <a:cubicBezTo>
                  <a:pt x="4392168" y="6791325"/>
                  <a:pt x="5504307" y="6791325"/>
                  <a:pt x="5610225" y="6143625"/>
                </a:cubicBezTo>
              </a:path>
            </a:pathLst>
          </a:custGeom>
          <a:noFill/>
          <a:ln w="63696">
            <a:solidFill>
              <a:srgbClr val="A4CCD8"/>
            </a:solidFill>
            <a:prstDash val="solid"/>
          </a:ln>
        </p:spPr>
        <p:txBody>
          <a:bodyPr/>
          <a:lstStyle/>
          <a:p>
            <a:endParaRPr lang="en-US"/>
          </a:p>
        </p:txBody>
      </p:sp>
      <p:sp>
        <p:nvSpPr>
          <p:cNvPr id="38" name="CoreWeave to Nvidia chip purchases arrowhead">
            <a:extLst>
              <a:ext uri="{FF2B5EF4-FFF2-40B4-BE49-F238E27FC236}">
                <a16:creationId xmlns:a16="http://schemas.microsoft.com/office/drawing/2014/main" id="{B923D51B-84B4-47AA-93E1-104F2668B942}"/>
              </a:ext>
            </a:extLst>
          </p:cNvPr>
          <p:cNvSpPr>
            <a:spLocks noGrp="1"/>
          </p:cNvSpPr>
          <p:nvPr/>
        </p:nvSpPr>
        <p:spPr>
          <a:xfrm>
            <a:off x="3422848" y="4702886"/>
            <a:ext cx="127392" cy="127392"/>
          </a:xfrm>
          <a:custGeom>
            <a:avLst/>
            <a:gdLst/>
            <a:ahLst/>
            <a:cxnLst/>
            <a:rect l="0" t="0" r="0" b="0"/>
            <a:pathLst>
              <a:path w="171450" h="171450">
                <a:moveTo>
                  <a:pt x="0" y="171450"/>
                </a:moveTo>
                <a:lnTo>
                  <a:pt x="171450" y="171450"/>
                </a:lnTo>
                <a:lnTo>
                  <a:pt x="85725" y="0"/>
                </a:lnTo>
                <a:close/>
              </a:path>
            </a:pathLst>
          </a:custGeom>
          <a:solidFill>
            <a:srgbClr val="A4CCD8"/>
          </a:solidFill>
          <a:ln w="0">
            <a:noFill/>
          </a:ln>
        </p:spPr>
        <p:txBody>
          <a:bodyPr/>
          <a:lstStyle/>
          <a:p>
            <a:endParaRPr lang="en-US"/>
          </a:p>
        </p:txBody>
      </p:sp>
      <p:sp>
        <p:nvSpPr>
          <p:cNvPr id="39" name="Oracle to AMD chip purchases">
            <a:extLst>
              <a:ext uri="{FF2B5EF4-FFF2-40B4-BE49-F238E27FC236}">
                <a16:creationId xmlns:a16="http://schemas.microsoft.com/office/drawing/2014/main" id="{320F1641-DF5E-47B0-9CEA-9D18B833B043}"/>
              </a:ext>
            </a:extLst>
          </p:cNvPr>
          <p:cNvSpPr>
            <a:spLocks noGrp="1"/>
          </p:cNvSpPr>
          <p:nvPr/>
        </p:nvSpPr>
        <p:spPr>
          <a:xfrm>
            <a:off x="301752" y="138017"/>
            <a:ext cx="12024360" cy="6390816"/>
          </a:xfrm>
          <a:custGeom>
            <a:avLst/>
            <a:gdLst/>
            <a:ahLst/>
            <a:cxnLst/>
            <a:rect l="0" t="0" r="0" b="0"/>
            <a:pathLst>
              <a:path w="16182975" h="8601075">
                <a:moveTo>
                  <a:pt x="7058025" y="6143625"/>
                </a:moveTo>
                <a:cubicBezTo>
                  <a:pt x="7166991" y="6905625"/>
                  <a:pt x="8311134" y="6905625"/>
                  <a:pt x="8420100" y="6143625"/>
                </a:cubicBezTo>
              </a:path>
            </a:pathLst>
          </a:custGeom>
          <a:noFill/>
          <a:ln w="63696">
            <a:solidFill>
              <a:srgbClr val="A4CCD8"/>
            </a:solidFill>
            <a:prstDash val="solid"/>
          </a:ln>
        </p:spPr>
        <p:txBody>
          <a:bodyPr/>
          <a:lstStyle/>
          <a:p>
            <a:endParaRPr lang="en-US"/>
          </a:p>
        </p:txBody>
      </p:sp>
      <p:sp>
        <p:nvSpPr>
          <p:cNvPr id="40" name="Oracle to AMD chip purchases arrowhead">
            <a:extLst>
              <a:ext uri="{FF2B5EF4-FFF2-40B4-BE49-F238E27FC236}">
                <a16:creationId xmlns:a16="http://schemas.microsoft.com/office/drawing/2014/main" id="{3E5BA583-6FCF-4110-8E5A-40E054BD678C}"/>
              </a:ext>
            </a:extLst>
          </p:cNvPr>
          <p:cNvSpPr>
            <a:spLocks noGrp="1"/>
          </p:cNvSpPr>
          <p:nvPr/>
        </p:nvSpPr>
        <p:spPr>
          <a:xfrm>
            <a:off x="5482347" y="4702886"/>
            <a:ext cx="127392" cy="127392"/>
          </a:xfrm>
          <a:custGeom>
            <a:avLst/>
            <a:gdLst/>
            <a:ahLst/>
            <a:cxnLst/>
            <a:rect l="0" t="0" r="0" b="0"/>
            <a:pathLst>
              <a:path w="171450" h="171450">
                <a:moveTo>
                  <a:pt x="0" y="171450"/>
                </a:moveTo>
                <a:lnTo>
                  <a:pt x="171450" y="171450"/>
                </a:lnTo>
                <a:lnTo>
                  <a:pt x="85725" y="0"/>
                </a:lnTo>
                <a:close/>
              </a:path>
            </a:pathLst>
          </a:custGeom>
          <a:solidFill>
            <a:srgbClr val="A4CCD8"/>
          </a:solidFill>
          <a:ln w="0">
            <a:noFill/>
          </a:ln>
        </p:spPr>
        <p:txBody>
          <a:bodyPr/>
          <a:lstStyle/>
          <a:p>
            <a:endParaRPr lang="en-US"/>
          </a:p>
        </p:txBody>
      </p:sp>
      <p:sp>
        <p:nvSpPr>
          <p:cNvPr id="41" name="Oracle to Nvidia chip purchases">
            <a:extLst>
              <a:ext uri="{FF2B5EF4-FFF2-40B4-BE49-F238E27FC236}">
                <a16:creationId xmlns:a16="http://schemas.microsoft.com/office/drawing/2014/main" id="{6D21C38C-5D4F-428B-9FAF-1942FADD7897}"/>
              </a:ext>
            </a:extLst>
          </p:cNvPr>
          <p:cNvSpPr>
            <a:spLocks noGrp="1"/>
          </p:cNvSpPr>
          <p:nvPr/>
        </p:nvSpPr>
        <p:spPr>
          <a:xfrm>
            <a:off x="301752" y="138017"/>
            <a:ext cx="12024360" cy="6390816"/>
          </a:xfrm>
          <a:custGeom>
            <a:avLst/>
            <a:gdLst/>
            <a:ahLst/>
            <a:cxnLst/>
            <a:rect l="0" t="0" r="0" b="0"/>
            <a:pathLst>
              <a:path w="16182975" h="8601075">
                <a:moveTo>
                  <a:pt x="4191000" y="6143625"/>
                </a:moveTo>
                <a:cubicBezTo>
                  <a:pt x="4530852" y="8734425"/>
                  <a:pt x="8099298" y="8734425"/>
                  <a:pt x="8439150" y="6143625"/>
                </a:cubicBezTo>
              </a:path>
            </a:pathLst>
          </a:custGeom>
          <a:noFill/>
          <a:ln w="63696">
            <a:solidFill>
              <a:srgbClr val="A4CCD8"/>
            </a:solidFill>
            <a:prstDash val="solid"/>
          </a:ln>
        </p:spPr>
        <p:txBody>
          <a:bodyPr/>
          <a:lstStyle/>
          <a:p>
            <a:endParaRPr lang="en-US"/>
          </a:p>
        </p:txBody>
      </p:sp>
      <p:sp>
        <p:nvSpPr>
          <p:cNvPr id="42" name="Oracle to Nvidia chip purchases arrowhead">
            <a:extLst>
              <a:ext uri="{FF2B5EF4-FFF2-40B4-BE49-F238E27FC236}">
                <a16:creationId xmlns:a16="http://schemas.microsoft.com/office/drawing/2014/main" id="{BFA1A546-00B7-44D2-8644-25FA5EB06F70}"/>
              </a:ext>
            </a:extLst>
          </p:cNvPr>
          <p:cNvSpPr>
            <a:spLocks noGrp="1"/>
          </p:cNvSpPr>
          <p:nvPr/>
        </p:nvSpPr>
        <p:spPr>
          <a:xfrm>
            <a:off x="3352075" y="4702886"/>
            <a:ext cx="127392" cy="127392"/>
          </a:xfrm>
          <a:custGeom>
            <a:avLst/>
            <a:gdLst/>
            <a:ahLst/>
            <a:cxnLst/>
            <a:rect l="0" t="0" r="0" b="0"/>
            <a:pathLst>
              <a:path w="171450" h="171450">
                <a:moveTo>
                  <a:pt x="0" y="171450"/>
                </a:moveTo>
                <a:lnTo>
                  <a:pt x="171450" y="171450"/>
                </a:lnTo>
                <a:lnTo>
                  <a:pt x="85725" y="0"/>
                </a:lnTo>
                <a:close/>
              </a:path>
            </a:pathLst>
          </a:custGeom>
          <a:solidFill>
            <a:srgbClr val="A4CCD8"/>
          </a:solidFill>
          <a:ln w="0">
            <a:noFill/>
          </a:ln>
        </p:spPr>
        <p:txBody>
          <a:bodyPr/>
          <a:lstStyle/>
          <a:p>
            <a:endParaRPr lang="en-US"/>
          </a:p>
        </p:txBody>
      </p:sp>
      <p:sp>
        <p:nvSpPr>
          <p:cNvPr id="43" name="OpenAI label background">
            <a:extLst>
              <a:ext uri="{FF2B5EF4-FFF2-40B4-BE49-F238E27FC236}">
                <a16:creationId xmlns:a16="http://schemas.microsoft.com/office/drawing/2014/main" id="{13DC5FF9-FAF0-4526-A302-835FD7B2E14C}"/>
              </a:ext>
            </a:extLst>
          </p:cNvPr>
          <p:cNvSpPr>
            <a:spLocks noGrp="1"/>
          </p:cNvSpPr>
          <p:nvPr/>
        </p:nvSpPr>
        <p:spPr>
          <a:xfrm>
            <a:off x="952865" y="4370252"/>
            <a:ext cx="636958" cy="332634"/>
          </a:xfrm>
          <a:prstGeom prst="rect">
            <a:avLst/>
          </a:prstGeom>
          <a:solidFill>
            <a:srgbClr val="FFFFFF"/>
          </a:solidFill>
          <a:ln w="0">
            <a:noFill/>
            <a:prstDash val="solid"/>
          </a:ln>
        </p:spPr>
        <p:txBody>
          <a:bodyPr/>
          <a:lstStyle/>
          <a:p>
            <a:endParaRPr lang="en-US"/>
          </a:p>
        </p:txBody>
      </p:sp>
      <p:sp>
        <p:nvSpPr>
          <p:cNvPr id="44" name="OpenAI upper guide">
            <a:extLst>
              <a:ext uri="{FF2B5EF4-FFF2-40B4-BE49-F238E27FC236}">
                <a16:creationId xmlns:a16="http://schemas.microsoft.com/office/drawing/2014/main" id="{51330607-A4E3-4121-9C54-A0A2F42F6FD3}"/>
              </a:ext>
            </a:extLst>
          </p:cNvPr>
          <p:cNvSpPr>
            <a:spLocks noGrp="1"/>
          </p:cNvSpPr>
          <p:nvPr/>
        </p:nvSpPr>
        <p:spPr>
          <a:xfrm>
            <a:off x="952865" y="4377330"/>
            <a:ext cx="636958" cy="14155"/>
          </a:xfrm>
          <a:prstGeom prst="rect">
            <a:avLst/>
          </a:prstGeom>
          <a:solidFill>
            <a:srgbClr val="EFF1F2"/>
          </a:solidFill>
          <a:ln w="0">
            <a:noFill/>
            <a:prstDash val="solid"/>
          </a:ln>
        </p:spPr>
        <p:txBody>
          <a:bodyPr/>
          <a:lstStyle/>
          <a:p>
            <a:endParaRPr lang="en-US"/>
          </a:p>
        </p:txBody>
      </p:sp>
      <p:sp>
        <p:nvSpPr>
          <p:cNvPr id="45" name="OpenAI lower guide">
            <a:extLst>
              <a:ext uri="{FF2B5EF4-FFF2-40B4-BE49-F238E27FC236}">
                <a16:creationId xmlns:a16="http://schemas.microsoft.com/office/drawing/2014/main" id="{B22348FC-3108-48FA-9616-6D6C6E795589}"/>
              </a:ext>
            </a:extLst>
          </p:cNvPr>
          <p:cNvSpPr>
            <a:spLocks noGrp="1"/>
          </p:cNvSpPr>
          <p:nvPr/>
        </p:nvSpPr>
        <p:spPr>
          <a:xfrm>
            <a:off x="952865" y="4681654"/>
            <a:ext cx="636958" cy="14155"/>
          </a:xfrm>
          <a:prstGeom prst="rect">
            <a:avLst/>
          </a:prstGeom>
          <a:solidFill>
            <a:srgbClr val="EFF1F2"/>
          </a:solidFill>
          <a:ln w="0">
            <a:noFill/>
            <a:prstDash val="solid"/>
          </a:ln>
        </p:spPr>
        <p:txBody>
          <a:bodyPr/>
          <a:lstStyle/>
          <a:p>
            <a:endParaRPr lang="en-US"/>
          </a:p>
        </p:txBody>
      </p:sp>
      <p:sp>
        <p:nvSpPr>
          <p:cNvPr id="46" name="OpenAI company label">
            <a:extLst>
              <a:ext uri="{FF2B5EF4-FFF2-40B4-BE49-F238E27FC236}">
                <a16:creationId xmlns:a16="http://schemas.microsoft.com/office/drawing/2014/main" id="{9C1C0655-30F1-4FD6-BCC5-BA88480707DF}"/>
              </a:ext>
            </a:extLst>
          </p:cNvPr>
          <p:cNvSpPr>
            <a:spLocks noGrp="1"/>
          </p:cNvSpPr>
          <p:nvPr/>
        </p:nvSpPr>
        <p:spPr>
          <a:xfrm>
            <a:off x="896247" y="4441025"/>
            <a:ext cx="750196" cy="212319"/>
          </a:xfrm>
          <a:prstGeom prst="rect">
            <a:avLst/>
          </a:prstGeom>
          <a:noFill/>
          <a:ln w="0">
            <a:noFill/>
            <a:prstDash val="solid"/>
          </a:ln>
        </p:spPr>
        <p:txBody>
          <a:bodyPr lIns="0" tIns="0" rIns="0" bIns="0" anchor="t"/>
          <a:lstStyle>
            <a:defPPr algn="ctr">
              <a:defRPr sz="1226" b="0">
                <a:solidFill>
                  <a:srgbClr val="383E41"/>
                </a:solidFill>
                <a:latin typeface="Arial"/>
                <a:ea typeface="Arial"/>
                <a:cs typeface="Arial"/>
              </a:defRPr>
            </a:defPPr>
            <a:lvl1pPr algn="ctr">
              <a:defRPr sz="1226" b="0">
                <a:solidFill>
                  <a:srgbClr val="383E41"/>
                </a:solidFill>
                <a:latin typeface="Arial"/>
                <a:ea typeface="Arial"/>
                <a:cs typeface="Arial"/>
              </a:defRPr>
            </a:lvl1pPr>
            <a:lvl2pPr algn="ctr">
              <a:defRPr sz="1226" b="0">
                <a:solidFill>
                  <a:srgbClr val="383E41"/>
                </a:solidFill>
                <a:latin typeface="Arial"/>
                <a:ea typeface="Arial"/>
                <a:cs typeface="Arial"/>
              </a:defRPr>
            </a:lvl2pPr>
            <a:lvl3pPr algn="ctr">
              <a:defRPr sz="1226" b="0">
                <a:solidFill>
                  <a:srgbClr val="383E41"/>
                </a:solidFill>
                <a:latin typeface="Arial"/>
                <a:ea typeface="Arial"/>
                <a:cs typeface="Arial"/>
              </a:defRPr>
            </a:lvl3pPr>
            <a:lvl4pPr algn="ctr">
              <a:defRPr sz="1226" b="0">
                <a:solidFill>
                  <a:srgbClr val="383E41"/>
                </a:solidFill>
                <a:latin typeface="Arial"/>
                <a:ea typeface="Arial"/>
                <a:cs typeface="Arial"/>
              </a:defRPr>
            </a:lvl4pPr>
            <a:lvl5pPr algn="ctr">
              <a:defRPr sz="1226" b="0">
                <a:solidFill>
                  <a:srgbClr val="383E41"/>
                </a:solidFill>
                <a:latin typeface="Arial"/>
                <a:ea typeface="Arial"/>
                <a:cs typeface="Arial"/>
              </a:defRPr>
            </a:lvl5pPr>
            <a:lvl6pPr algn="ctr">
              <a:defRPr sz="1226" b="0">
                <a:solidFill>
                  <a:srgbClr val="383E41"/>
                </a:solidFill>
                <a:latin typeface="Arial"/>
                <a:ea typeface="Arial"/>
                <a:cs typeface="Arial"/>
              </a:defRPr>
            </a:lvl6pPr>
            <a:lvl7pPr algn="ctr">
              <a:defRPr sz="1226" b="0">
                <a:solidFill>
                  <a:srgbClr val="383E41"/>
                </a:solidFill>
                <a:latin typeface="Arial"/>
                <a:ea typeface="Arial"/>
                <a:cs typeface="Arial"/>
              </a:defRPr>
            </a:lvl7pPr>
            <a:lvl8pPr algn="ctr">
              <a:defRPr sz="1226" b="0">
                <a:solidFill>
                  <a:srgbClr val="383E41"/>
                </a:solidFill>
                <a:latin typeface="Arial"/>
                <a:ea typeface="Arial"/>
                <a:cs typeface="Arial"/>
              </a:defRPr>
            </a:lvl8pPr>
            <a:lvl9pPr algn="ctr">
              <a:defRPr sz="1226" b="0">
                <a:solidFill>
                  <a:srgbClr val="383E41"/>
                </a:solidFill>
                <a:latin typeface="Arial"/>
                <a:ea typeface="Arial"/>
                <a:cs typeface="Arial"/>
              </a:defRPr>
            </a:lvl9pPr>
          </a:lstStyle>
          <a:p>
            <a:pPr algn="ctr">
              <a:defRPr sz="1226" b="0">
                <a:solidFill>
                  <a:srgbClr val="383E41"/>
                </a:solidFill>
                <a:latin typeface="Arial"/>
                <a:ea typeface="Arial"/>
                <a:cs typeface="Arial"/>
              </a:defRPr>
            </a:pPr>
            <a:r>
              <a:rPr sz="1226" b="0">
                <a:solidFill>
                  <a:srgbClr val="383E41"/>
                </a:solidFill>
                <a:latin typeface="Arial"/>
                <a:ea typeface="Arial"/>
                <a:cs typeface="Arial"/>
              </a:rPr>
              <a:t>OpenAI</a:t>
            </a:r>
          </a:p>
        </p:txBody>
      </p:sp>
      <p:sp>
        <p:nvSpPr>
          <p:cNvPr id="47" name="Microsoft label background">
            <a:extLst>
              <a:ext uri="{FF2B5EF4-FFF2-40B4-BE49-F238E27FC236}">
                <a16:creationId xmlns:a16="http://schemas.microsoft.com/office/drawing/2014/main" id="{253F4C3F-9977-44CC-993B-887C8FB1F9DB}"/>
              </a:ext>
            </a:extLst>
          </p:cNvPr>
          <p:cNvSpPr>
            <a:spLocks noGrp="1"/>
          </p:cNvSpPr>
          <p:nvPr/>
        </p:nvSpPr>
        <p:spPr>
          <a:xfrm>
            <a:off x="1957844" y="4370252"/>
            <a:ext cx="764350" cy="332634"/>
          </a:xfrm>
          <a:prstGeom prst="rect">
            <a:avLst/>
          </a:prstGeom>
          <a:solidFill>
            <a:srgbClr val="FFFFFF"/>
          </a:solidFill>
          <a:ln w="0">
            <a:noFill/>
            <a:prstDash val="solid"/>
          </a:ln>
        </p:spPr>
        <p:txBody>
          <a:bodyPr/>
          <a:lstStyle/>
          <a:p>
            <a:endParaRPr lang="en-US"/>
          </a:p>
        </p:txBody>
      </p:sp>
      <p:sp>
        <p:nvSpPr>
          <p:cNvPr id="48" name="Microsoft upper guide">
            <a:extLst>
              <a:ext uri="{FF2B5EF4-FFF2-40B4-BE49-F238E27FC236}">
                <a16:creationId xmlns:a16="http://schemas.microsoft.com/office/drawing/2014/main" id="{E3434A75-47ED-4B81-914C-892B52F8B7A3}"/>
              </a:ext>
            </a:extLst>
          </p:cNvPr>
          <p:cNvSpPr>
            <a:spLocks noGrp="1"/>
          </p:cNvSpPr>
          <p:nvPr/>
        </p:nvSpPr>
        <p:spPr>
          <a:xfrm>
            <a:off x="1957844" y="4377330"/>
            <a:ext cx="764350" cy="14155"/>
          </a:xfrm>
          <a:prstGeom prst="rect">
            <a:avLst/>
          </a:prstGeom>
          <a:solidFill>
            <a:srgbClr val="EFF1F2"/>
          </a:solidFill>
          <a:ln w="0">
            <a:noFill/>
            <a:prstDash val="solid"/>
          </a:ln>
        </p:spPr>
        <p:txBody>
          <a:bodyPr/>
          <a:lstStyle/>
          <a:p>
            <a:endParaRPr lang="en-US"/>
          </a:p>
        </p:txBody>
      </p:sp>
      <p:sp>
        <p:nvSpPr>
          <p:cNvPr id="49" name="Microsoft lower guide">
            <a:extLst>
              <a:ext uri="{FF2B5EF4-FFF2-40B4-BE49-F238E27FC236}">
                <a16:creationId xmlns:a16="http://schemas.microsoft.com/office/drawing/2014/main" id="{F64AEE84-D605-4595-92A7-31A02BBB04C4}"/>
              </a:ext>
            </a:extLst>
          </p:cNvPr>
          <p:cNvSpPr>
            <a:spLocks noGrp="1"/>
          </p:cNvSpPr>
          <p:nvPr/>
        </p:nvSpPr>
        <p:spPr>
          <a:xfrm>
            <a:off x="1957844" y="4681654"/>
            <a:ext cx="764350" cy="14155"/>
          </a:xfrm>
          <a:prstGeom prst="rect">
            <a:avLst/>
          </a:prstGeom>
          <a:solidFill>
            <a:srgbClr val="EFF1F2"/>
          </a:solidFill>
          <a:ln w="0">
            <a:noFill/>
            <a:prstDash val="solid"/>
          </a:ln>
        </p:spPr>
        <p:txBody>
          <a:bodyPr/>
          <a:lstStyle/>
          <a:p>
            <a:endParaRPr lang="en-US"/>
          </a:p>
        </p:txBody>
      </p:sp>
      <p:sp>
        <p:nvSpPr>
          <p:cNvPr id="50" name="Microsoft company label">
            <a:extLst>
              <a:ext uri="{FF2B5EF4-FFF2-40B4-BE49-F238E27FC236}">
                <a16:creationId xmlns:a16="http://schemas.microsoft.com/office/drawing/2014/main" id="{96C875C1-83C0-48A2-B39E-9A4A29F29A37}"/>
              </a:ext>
            </a:extLst>
          </p:cNvPr>
          <p:cNvSpPr>
            <a:spLocks noGrp="1"/>
          </p:cNvSpPr>
          <p:nvPr/>
        </p:nvSpPr>
        <p:spPr>
          <a:xfrm>
            <a:off x="1901225" y="4441025"/>
            <a:ext cx="877587" cy="212319"/>
          </a:xfrm>
          <a:prstGeom prst="rect">
            <a:avLst/>
          </a:prstGeom>
          <a:noFill/>
          <a:ln w="0">
            <a:noFill/>
            <a:prstDash val="solid"/>
          </a:ln>
        </p:spPr>
        <p:txBody>
          <a:bodyPr lIns="0" tIns="0" rIns="0" bIns="0" anchor="t"/>
          <a:lstStyle>
            <a:defPPr algn="ctr">
              <a:defRPr sz="1226" b="0">
                <a:solidFill>
                  <a:srgbClr val="383E41"/>
                </a:solidFill>
                <a:latin typeface="Arial"/>
                <a:ea typeface="Arial"/>
                <a:cs typeface="Arial"/>
              </a:defRPr>
            </a:defPPr>
            <a:lvl1pPr algn="ctr">
              <a:defRPr sz="1226" b="0">
                <a:solidFill>
                  <a:srgbClr val="383E41"/>
                </a:solidFill>
                <a:latin typeface="Arial"/>
                <a:ea typeface="Arial"/>
                <a:cs typeface="Arial"/>
              </a:defRPr>
            </a:lvl1pPr>
            <a:lvl2pPr algn="ctr">
              <a:defRPr sz="1226" b="0">
                <a:solidFill>
                  <a:srgbClr val="383E41"/>
                </a:solidFill>
                <a:latin typeface="Arial"/>
                <a:ea typeface="Arial"/>
                <a:cs typeface="Arial"/>
              </a:defRPr>
            </a:lvl2pPr>
            <a:lvl3pPr algn="ctr">
              <a:defRPr sz="1226" b="0">
                <a:solidFill>
                  <a:srgbClr val="383E41"/>
                </a:solidFill>
                <a:latin typeface="Arial"/>
                <a:ea typeface="Arial"/>
                <a:cs typeface="Arial"/>
              </a:defRPr>
            </a:lvl3pPr>
            <a:lvl4pPr algn="ctr">
              <a:defRPr sz="1226" b="0">
                <a:solidFill>
                  <a:srgbClr val="383E41"/>
                </a:solidFill>
                <a:latin typeface="Arial"/>
                <a:ea typeface="Arial"/>
                <a:cs typeface="Arial"/>
              </a:defRPr>
            </a:lvl4pPr>
            <a:lvl5pPr algn="ctr">
              <a:defRPr sz="1226" b="0">
                <a:solidFill>
                  <a:srgbClr val="383E41"/>
                </a:solidFill>
                <a:latin typeface="Arial"/>
                <a:ea typeface="Arial"/>
                <a:cs typeface="Arial"/>
              </a:defRPr>
            </a:lvl5pPr>
            <a:lvl6pPr algn="ctr">
              <a:defRPr sz="1226" b="0">
                <a:solidFill>
                  <a:srgbClr val="383E41"/>
                </a:solidFill>
                <a:latin typeface="Arial"/>
                <a:ea typeface="Arial"/>
                <a:cs typeface="Arial"/>
              </a:defRPr>
            </a:lvl6pPr>
            <a:lvl7pPr algn="ctr">
              <a:defRPr sz="1226" b="0">
                <a:solidFill>
                  <a:srgbClr val="383E41"/>
                </a:solidFill>
                <a:latin typeface="Arial"/>
                <a:ea typeface="Arial"/>
                <a:cs typeface="Arial"/>
              </a:defRPr>
            </a:lvl7pPr>
            <a:lvl8pPr algn="ctr">
              <a:defRPr sz="1226" b="0">
                <a:solidFill>
                  <a:srgbClr val="383E41"/>
                </a:solidFill>
                <a:latin typeface="Arial"/>
                <a:ea typeface="Arial"/>
                <a:cs typeface="Arial"/>
              </a:defRPr>
            </a:lvl8pPr>
            <a:lvl9pPr algn="ctr">
              <a:defRPr sz="1226" b="0">
                <a:solidFill>
                  <a:srgbClr val="383E41"/>
                </a:solidFill>
                <a:latin typeface="Arial"/>
                <a:ea typeface="Arial"/>
                <a:cs typeface="Arial"/>
              </a:defRPr>
            </a:lvl9pPr>
          </a:lstStyle>
          <a:p>
            <a:pPr algn="ctr">
              <a:defRPr sz="1226" b="0">
                <a:solidFill>
                  <a:srgbClr val="383E41"/>
                </a:solidFill>
                <a:latin typeface="Arial"/>
                <a:ea typeface="Arial"/>
                <a:cs typeface="Arial"/>
              </a:defRPr>
            </a:pPr>
            <a:r>
              <a:rPr sz="1226" b="0">
                <a:solidFill>
                  <a:srgbClr val="383E41"/>
                </a:solidFill>
                <a:latin typeface="Arial"/>
                <a:ea typeface="Arial"/>
                <a:cs typeface="Arial"/>
              </a:rPr>
              <a:t>Microsoft</a:t>
            </a:r>
          </a:p>
        </p:txBody>
      </p:sp>
      <p:sp>
        <p:nvSpPr>
          <p:cNvPr id="51" name="Nvidia label background">
            <a:extLst>
              <a:ext uri="{FF2B5EF4-FFF2-40B4-BE49-F238E27FC236}">
                <a16:creationId xmlns:a16="http://schemas.microsoft.com/office/drawing/2014/main" id="{E5B30B1E-3436-4E9F-AF1A-02F3146393CF}"/>
              </a:ext>
            </a:extLst>
          </p:cNvPr>
          <p:cNvSpPr>
            <a:spLocks noGrp="1"/>
          </p:cNvSpPr>
          <p:nvPr/>
        </p:nvSpPr>
        <p:spPr>
          <a:xfrm>
            <a:off x="3143294" y="4370252"/>
            <a:ext cx="530799" cy="332634"/>
          </a:xfrm>
          <a:prstGeom prst="rect">
            <a:avLst/>
          </a:prstGeom>
          <a:solidFill>
            <a:srgbClr val="FFFFFF"/>
          </a:solidFill>
          <a:ln w="0">
            <a:noFill/>
            <a:prstDash val="solid"/>
          </a:ln>
        </p:spPr>
        <p:txBody>
          <a:bodyPr/>
          <a:lstStyle/>
          <a:p>
            <a:endParaRPr lang="en-US"/>
          </a:p>
        </p:txBody>
      </p:sp>
      <p:sp>
        <p:nvSpPr>
          <p:cNvPr id="52" name="Nvidia upper guide">
            <a:extLst>
              <a:ext uri="{FF2B5EF4-FFF2-40B4-BE49-F238E27FC236}">
                <a16:creationId xmlns:a16="http://schemas.microsoft.com/office/drawing/2014/main" id="{93969CFB-13E8-4921-86D0-4F23B9A89CD4}"/>
              </a:ext>
            </a:extLst>
          </p:cNvPr>
          <p:cNvSpPr>
            <a:spLocks noGrp="1"/>
          </p:cNvSpPr>
          <p:nvPr/>
        </p:nvSpPr>
        <p:spPr>
          <a:xfrm>
            <a:off x="3143294" y="4377330"/>
            <a:ext cx="530799" cy="14155"/>
          </a:xfrm>
          <a:prstGeom prst="rect">
            <a:avLst/>
          </a:prstGeom>
          <a:solidFill>
            <a:srgbClr val="EFF1F2"/>
          </a:solidFill>
          <a:ln w="0">
            <a:noFill/>
            <a:prstDash val="solid"/>
          </a:ln>
        </p:spPr>
        <p:txBody>
          <a:bodyPr/>
          <a:lstStyle/>
          <a:p>
            <a:endParaRPr lang="en-US"/>
          </a:p>
        </p:txBody>
      </p:sp>
      <p:sp>
        <p:nvSpPr>
          <p:cNvPr id="53" name="Nvidia lower guide">
            <a:extLst>
              <a:ext uri="{FF2B5EF4-FFF2-40B4-BE49-F238E27FC236}">
                <a16:creationId xmlns:a16="http://schemas.microsoft.com/office/drawing/2014/main" id="{C7F7932A-850B-4638-853D-F33C150E46B1}"/>
              </a:ext>
            </a:extLst>
          </p:cNvPr>
          <p:cNvSpPr>
            <a:spLocks noGrp="1"/>
          </p:cNvSpPr>
          <p:nvPr/>
        </p:nvSpPr>
        <p:spPr>
          <a:xfrm>
            <a:off x="3143294" y="4681654"/>
            <a:ext cx="530799" cy="14155"/>
          </a:xfrm>
          <a:prstGeom prst="rect">
            <a:avLst/>
          </a:prstGeom>
          <a:solidFill>
            <a:srgbClr val="EFF1F2"/>
          </a:solidFill>
          <a:ln w="0">
            <a:noFill/>
            <a:prstDash val="solid"/>
          </a:ln>
        </p:spPr>
        <p:txBody>
          <a:bodyPr/>
          <a:lstStyle/>
          <a:p>
            <a:endParaRPr lang="en-US"/>
          </a:p>
        </p:txBody>
      </p:sp>
      <p:sp>
        <p:nvSpPr>
          <p:cNvPr id="54" name="Nvidia company label">
            <a:extLst>
              <a:ext uri="{FF2B5EF4-FFF2-40B4-BE49-F238E27FC236}">
                <a16:creationId xmlns:a16="http://schemas.microsoft.com/office/drawing/2014/main" id="{0128ABA7-C38E-44F7-BACD-6ACFE54CF575}"/>
              </a:ext>
            </a:extLst>
          </p:cNvPr>
          <p:cNvSpPr>
            <a:spLocks noGrp="1"/>
          </p:cNvSpPr>
          <p:nvPr/>
        </p:nvSpPr>
        <p:spPr>
          <a:xfrm>
            <a:off x="3086676" y="4441025"/>
            <a:ext cx="644036" cy="212319"/>
          </a:xfrm>
          <a:prstGeom prst="rect">
            <a:avLst/>
          </a:prstGeom>
          <a:noFill/>
          <a:ln w="0">
            <a:noFill/>
            <a:prstDash val="solid"/>
          </a:ln>
        </p:spPr>
        <p:txBody>
          <a:bodyPr lIns="0" tIns="0" rIns="0" bIns="0" anchor="t"/>
          <a:lstStyle>
            <a:defPPr algn="ctr">
              <a:defRPr sz="1226" b="0">
                <a:solidFill>
                  <a:srgbClr val="383E41"/>
                </a:solidFill>
                <a:latin typeface="Arial"/>
                <a:ea typeface="Arial"/>
                <a:cs typeface="Arial"/>
              </a:defRPr>
            </a:defPPr>
            <a:lvl1pPr algn="ctr">
              <a:defRPr sz="1226" b="0">
                <a:solidFill>
                  <a:srgbClr val="383E41"/>
                </a:solidFill>
                <a:latin typeface="Arial"/>
                <a:ea typeface="Arial"/>
                <a:cs typeface="Arial"/>
              </a:defRPr>
            </a:lvl1pPr>
            <a:lvl2pPr algn="ctr">
              <a:defRPr sz="1226" b="0">
                <a:solidFill>
                  <a:srgbClr val="383E41"/>
                </a:solidFill>
                <a:latin typeface="Arial"/>
                <a:ea typeface="Arial"/>
                <a:cs typeface="Arial"/>
              </a:defRPr>
            </a:lvl2pPr>
            <a:lvl3pPr algn="ctr">
              <a:defRPr sz="1226" b="0">
                <a:solidFill>
                  <a:srgbClr val="383E41"/>
                </a:solidFill>
                <a:latin typeface="Arial"/>
                <a:ea typeface="Arial"/>
                <a:cs typeface="Arial"/>
              </a:defRPr>
            </a:lvl3pPr>
            <a:lvl4pPr algn="ctr">
              <a:defRPr sz="1226" b="0">
                <a:solidFill>
                  <a:srgbClr val="383E41"/>
                </a:solidFill>
                <a:latin typeface="Arial"/>
                <a:ea typeface="Arial"/>
                <a:cs typeface="Arial"/>
              </a:defRPr>
            </a:lvl4pPr>
            <a:lvl5pPr algn="ctr">
              <a:defRPr sz="1226" b="0">
                <a:solidFill>
                  <a:srgbClr val="383E41"/>
                </a:solidFill>
                <a:latin typeface="Arial"/>
                <a:ea typeface="Arial"/>
                <a:cs typeface="Arial"/>
              </a:defRPr>
            </a:lvl5pPr>
            <a:lvl6pPr algn="ctr">
              <a:defRPr sz="1226" b="0">
                <a:solidFill>
                  <a:srgbClr val="383E41"/>
                </a:solidFill>
                <a:latin typeface="Arial"/>
                <a:ea typeface="Arial"/>
                <a:cs typeface="Arial"/>
              </a:defRPr>
            </a:lvl6pPr>
            <a:lvl7pPr algn="ctr">
              <a:defRPr sz="1226" b="0">
                <a:solidFill>
                  <a:srgbClr val="383E41"/>
                </a:solidFill>
                <a:latin typeface="Arial"/>
                <a:ea typeface="Arial"/>
                <a:cs typeface="Arial"/>
              </a:defRPr>
            </a:lvl7pPr>
            <a:lvl8pPr algn="ctr">
              <a:defRPr sz="1226" b="0">
                <a:solidFill>
                  <a:srgbClr val="383E41"/>
                </a:solidFill>
                <a:latin typeface="Arial"/>
                <a:ea typeface="Arial"/>
                <a:cs typeface="Arial"/>
              </a:defRPr>
            </a:lvl8pPr>
            <a:lvl9pPr algn="ctr">
              <a:defRPr sz="1226" b="0">
                <a:solidFill>
                  <a:srgbClr val="383E41"/>
                </a:solidFill>
                <a:latin typeface="Arial"/>
                <a:ea typeface="Arial"/>
                <a:cs typeface="Arial"/>
              </a:defRPr>
            </a:lvl9pPr>
          </a:lstStyle>
          <a:p>
            <a:pPr algn="ctr">
              <a:defRPr sz="1226" b="0">
                <a:solidFill>
                  <a:srgbClr val="383E41"/>
                </a:solidFill>
                <a:latin typeface="Arial"/>
                <a:ea typeface="Arial"/>
                <a:cs typeface="Arial"/>
              </a:defRPr>
            </a:pPr>
            <a:r>
              <a:rPr sz="1226" b="0">
                <a:solidFill>
                  <a:srgbClr val="383E41"/>
                </a:solidFill>
                <a:latin typeface="Arial"/>
                <a:ea typeface="Arial"/>
                <a:cs typeface="Arial"/>
              </a:rPr>
              <a:t>Nvidia</a:t>
            </a:r>
          </a:p>
        </p:txBody>
      </p:sp>
      <p:sp>
        <p:nvSpPr>
          <p:cNvPr id="55" name="CoreWeave label background">
            <a:extLst>
              <a:ext uri="{FF2B5EF4-FFF2-40B4-BE49-F238E27FC236}">
                <a16:creationId xmlns:a16="http://schemas.microsoft.com/office/drawing/2014/main" id="{96309ADB-EAF4-49AC-B34B-FEF6DC3CBBB5}"/>
              </a:ext>
            </a:extLst>
          </p:cNvPr>
          <p:cNvSpPr>
            <a:spLocks noGrp="1"/>
          </p:cNvSpPr>
          <p:nvPr/>
        </p:nvSpPr>
        <p:spPr>
          <a:xfrm>
            <a:off x="4049191" y="4370252"/>
            <a:ext cx="813891" cy="332634"/>
          </a:xfrm>
          <a:prstGeom prst="rect">
            <a:avLst/>
          </a:prstGeom>
          <a:solidFill>
            <a:srgbClr val="FFFFFF"/>
          </a:solidFill>
          <a:ln w="0">
            <a:noFill/>
            <a:prstDash val="solid"/>
          </a:ln>
        </p:spPr>
        <p:txBody>
          <a:bodyPr/>
          <a:lstStyle/>
          <a:p>
            <a:endParaRPr lang="en-US"/>
          </a:p>
        </p:txBody>
      </p:sp>
      <p:sp>
        <p:nvSpPr>
          <p:cNvPr id="56" name="CoreWeave upper guide">
            <a:extLst>
              <a:ext uri="{FF2B5EF4-FFF2-40B4-BE49-F238E27FC236}">
                <a16:creationId xmlns:a16="http://schemas.microsoft.com/office/drawing/2014/main" id="{DEBDABF5-D2A9-46DB-AC5A-047A612F8116}"/>
              </a:ext>
            </a:extLst>
          </p:cNvPr>
          <p:cNvSpPr>
            <a:spLocks noGrp="1"/>
          </p:cNvSpPr>
          <p:nvPr/>
        </p:nvSpPr>
        <p:spPr>
          <a:xfrm>
            <a:off x="4049191" y="4377330"/>
            <a:ext cx="813891" cy="14155"/>
          </a:xfrm>
          <a:prstGeom prst="rect">
            <a:avLst/>
          </a:prstGeom>
          <a:solidFill>
            <a:srgbClr val="EFF1F2"/>
          </a:solidFill>
          <a:ln w="0">
            <a:noFill/>
            <a:prstDash val="solid"/>
          </a:ln>
        </p:spPr>
        <p:txBody>
          <a:bodyPr/>
          <a:lstStyle/>
          <a:p>
            <a:endParaRPr lang="en-US"/>
          </a:p>
        </p:txBody>
      </p:sp>
      <p:sp>
        <p:nvSpPr>
          <p:cNvPr id="57" name="CoreWeave lower guide">
            <a:extLst>
              <a:ext uri="{FF2B5EF4-FFF2-40B4-BE49-F238E27FC236}">
                <a16:creationId xmlns:a16="http://schemas.microsoft.com/office/drawing/2014/main" id="{EAB7855E-99D3-4348-8A61-DC5375C882A4}"/>
              </a:ext>
            </a:extLst>
          </p:cNvPr>
          <p:cNvSpPr>
            <a:spLocks noGrp="1"/>
          </p:cNvSpPr>
          <p:nvPr/>
        </p:nvSpPr>
        <p:spPr>
          <a:xfrm>
            <a:off x="4049191" y="4681654"/>
            <a:ext cx="813891" cy="14155"/>
          </a:xfrm>
          <a:prstGeom prst="rect">
            <a:avLst/>
          </a:prstGeom>
          <a:solidFill>
            <a:srgbClr val="EFF1F2"/>
          </a:solidFill>
          <a:ln w="0">
            <a:noFill/>
            <a:prstDash val="solid"/>
          </a:ln>
        </p:spPr>
        <p:txBody>
          <a:bodyPr/>
          <a:lstStyle/>
          <a:p>
            <a:endParaRPr lang="en-US"/>
          </a:p>
        </p:txBody>
      </p:sp>
      <p:sp>
        <p:nvSpPr>
          <p:cNvPr id="58" name="CoreWeave company label">
            <a:extLst>
              <a:ext uri="{FF2B5EF4-FFF2-40B4-BE49-F238E27FC236}">
                <a16:creationId xmlns:a16="http://schemas.microsoft.com/office/drawing/2014/main" id="{47C088E8-2585-4F25-8B39-EE59831D347E}"/>
              </a:ext>
            </a:extLst>
          </p:cNvPr>
          <p:cNvSpPr>
            <a:spLocks noGrp="1"/>
          </p:cNvSpPr>
          <p:nvPr/>
        </p:nvSpPr>
        <p:spPr>
          <a:xfrm>
            <a:off x="3992572" y="4441025"/>
            <a:ext cx="927128" cy="212319"/>
          </a:xfrm>
          <a:prstGeom prst="rect">
            <a:avLst/>
          </a:prstGeom>
          <a:noFill/>
          <a:ln w="0">
            <a:noFill/>
            <a:prstDash val="solid"/>
          </a:ln>
        </p:spPr>
        <p:txBody>
          <a:bodyPr lIns="0" tIns="0" rIns="0" bIns="0" anchor="t"/>
          <a:lstStyle>
            <a:defPPr algn="ctr">
              <a:defRPr sz="1226" b="0">
                <a:solidFill>
                  <a:srgbClr val="383E41"/>
                </a:solidFill>
                <a:latin typeface="Arial"/>
                <a:ea typeface="Arial"/>
                <a:cs typeface="Arial"/>
              </a:defRPr>
            </a:defPPr>
            <a:lvl1pPr algn="ctr">
              <a:defRPr sz="1226" b="0">
                <a:solidFill>
                  <a:srgbClr val="383E41"/>
                </a:solidFill>
                <a:latin typeface="Arial"/>
                <a:ea typeface="Arial"/>
                <a:cs typeface="Arial"/>
              </a:defRPr>
            </a:lvl1pPr>
            <a:lvl2pPr algn="ctr">
              <a:defRPr sz="1226" b="0">
                <a:solidFill>
                  <a:srgbClr val="383E41"/>
                </a:solidFill>
                <a:latin typeface="Arial"/>
                <a:ea typeface="Arial"/>
                <a:cs typeface="Arial"/>
              </a:defRPr>
            </a:lvl2pPr>
            <a:lvl3pPr algn="ctr">
              <a:defRPr sz="1226" b="0">
                <a:solidFill>
                  <a:srgbClr val="383E41"/>
                </a:solidFill>
                <a:latin typeface="Arial"/>
                <a:ea typeface="Arial"/>
                <a:cs typeface="Arial"/>
              </a:defRPr>
            </a:lvl3pPr>
            <a:lvl4pPr algn="ctr">
              <a:defRPr sz="1226" b="0">
                <a:solidFill>
                  <a:srgbClr val="383E41"/>
                </a:solidFill>
                <a:latin typeface="Arial"/>
                <a:ea typeface="Arial"/>
                <a:cs typeface="Arial"/>
              </a:defRPr>
            </a:lvl4pPr>
            <a:lvl5pPr algn="ctr">
              <a:defRPr sz="1226" b="0">
                <a:solidFill>
                  <a:srgbClr val="383E41"/>
                </a:solidFill>
                <a:latin typeface="Arial"/>
                <a:ea typeface="Arial"/>
                <a:cs typeface="Arial"/>
              </a:defRPr>
            </a:lvl5pPr>
            <a:lvl6pPr algn="ctr">
              <a:defRPr sz="1226" b="0">
                <a:solidFill>
                  <a:srgbClr val="383E41"/>
                </a:solidFill>
                <a:latin typeface="Arial"/>
                <a:ea typeface="Arial"/>
                <a:cs typeface="Arial"/>
              </a:defRPr>
            </a:lvl6pPr>
            <a:lvl7pPr algn="ctr">
              <a:defRPr sz="1226" b="0">
                <a:solidFill>
                  <a:srgbClr val="383E41"/>
                </a:solidFill>
                <a:latin typeface="Arial"/>
                <a:ea typeface="Arial"/>
                <a:cs typeface="Arial"/>
              </a:defRPr>
            </a:lvl7pPr>
            <a:lvl8pPr algn="ctr">
              <a:defRPr sz="1226" b="0">
                <a:solidFill>
                  <a:srgbClr val="383E41"/>
                </a:solidFill>
                <a:latin typeface="Arial"/>
                <a:ea typeface="Arial"/>
                <a:cs typeface="Arial"/>
              </a:defRPr>
            </a:lvl8pPr>
            <a:lvl9pPr algn="ctr">
              <a:defRPr sz="1226" b="0">
                <a:solidFill>
                  <a:srgbClr val="383E41"/>
                </a:solidFill>
                <a:latin typeface="Arial"/>
                <a:ea typeface="Arial"/>
                <a:cs typeface="Arial"/>
              </a:defRPr>
            </a:lvl9pPr>
          </a:lstStyle>
          <a:p>
            <a:pPr algn="ctr">
              <a:defRPr sz="1226" b="0">
                <a:solidFill>
                  <a:srgbClr val="383E41"/>
                </a:solidFill>
                <a:latin typeface="Arial"/>
                <a:ea typeface="Arial"/>
                <a:cs typeface="Arial"/>
              </a:defRPr>
            </a:pPr>
            <a:r>
              <a:rPr sz="1226" b="0">
                <a:solidFill>
                  <a:srgbClr val="383E41"/>
                </a:solidFill>
                <a:latin typeface="Arial"/>
                <a:ea typeface="Arial"/>
                <a:cs typeface="Arial"/>
              </a:rPr>
              <a:t>CoreWeave</a:t>
            </a:r>
          </a:p>
        </p:txBody>
      </p:sp>
      <p:sp>
        <p:nvSpPr>
          <p:cNvPr id="59" name="AMD label background">
            <a:extLst>
              <a:ext uri="{FF2B5EF4-FFF2-40B4-BE49-F238E27FC236}">
                <a16:creationId xmlns:a16="http://schemas.microsoft.com/office/drawing/2014/main" id="{0BFE4D7C-1D62-4B8C-8B20-F4F0BC626C49}"/>
              </a:ext>
            </a:extLst>
          </p:cNvPr>
          <p:cNvSpPr>
            <a:spLocks noGrp="1"/>
          </p:cNvSpPr>
          <p:nvPr/>
        </p:nvSpPr>
        <p:spPr>
          <a:xfrm>
            <a:off x="5301876" y="4370252"/>
            <a:ext cx="445871" cy="332634"/>
          </a:xfrm>
          <a:prstGeom prst="rect">
            <a:avLst/>
          </a:prstGeom>
          <a:solidFill>
            <a:srgbClr val="FFFFFF"/>
          </a:solidFill>
          <a:ln w="0">
            <a:noFill/>
            <a:prstDash val="solid"/>
          </a:ln>
        </p:spPr>
        <p:txBody>
          <a:bodyPr/>
          <a:lstStyle/>
          <a:p>
            <a:endParaRPr lang="en-US"/>
          </a:p>
        </p:txBody>
      </p:sp>
      <p:sp>
        <p:nvSpPr>
          <p:cNvPr id="60" name="AMD upper guide">
            <a:extLst>
              <a:ext uri="{FF2B5EF4-FFF2-40B4-BE49-F238E27FC236}">
                <a16:creationId xmlns:a16="http://schemas.microsoft.com/office/drawing/2014/main" id="{CFB3433A-B420-4FA5-9DEF-28995BF4EEAD}"/>
              </a:ext>
            </a:extLst>
          </p:cNvPr>
          <p:cNvSpPr>
            <a:spLocks noGrp="1"/>
          </p:cNvSpPr>
          <p:nvPr/>
        </p:nvSpPr>
        <p:spPr>
          <a:xfrm>
            <a:off x="5301876" y="4377330"/>
            <a:ext cx="445871" cy="14155"/>
          </a:xfrm>
          <a:prstGeom prst="rect">
            <a:avLst/>
          </a:prstGeom>
          <a:solidFill>
            <a:srgbClr val="EFF1F2"/>
          </a:solidFill>
          <a:ln w="0">
            <a:noFill/>
            <a:prstDash val="solid"/>
          </a:ln>
        </p:spPr>
        <p:txBody>
          <a:bodyPr/>
          <a:lstStyle/>
          <a:p>
            <a:endParaRPr lang="en-US"/>
          </a:p>
        </p:txBody>
      </p:sp>
      <p:sp>
        <p:nvSpPr>
          <p:cNvPr id="61" name="AMD lower guide">
            <a:extLst>
              <a:ext uri="{FF2B5EF4-FFF2-40B4-BE49-F238E27FC236}">
                <a16:creationId xmlns:a16="http://schemas.microsoft.com/office/drawing/2014/main" id="{0386C40F-A11D-4556-B43D-6662586ABA48}"/>
              </a:ext>
            </a:extLst>
          </p:cNvPr>
          <p:cNvSpPr>
            <a:spLocks noGrp="1"/>
          </p:cNvSpPr>
          <p:nvPr/>
        </p:nvSpPr>
        <p:spPr>
          <a:xfrm>
            <a:off x="5301876" y="4681654"/>
            <a:ext cx="445871" cy="14155"/>
          </a:xfrm>
          <a:prstGeom prst="rect">
            <a:avLst/>
          </a:prstGeom>
          <a:solidFill>
            <a:srgbClr val="EFF1F2"/>
          </a:solidFill>
          <a:ln w="0">
            <a:noFill/>
            <a:prstDash val="solid"/>
          </a:ln>
        </p:spPr>
        <p:txBody>
          <a:bodyPr/>
          <a:lstStyle/>
          <a:p>
            <a:endParaRPr lang="en-US"/>
          </a:p>
        </p:txBody>
      </p:sp>
      <p:sp>
        <p:nvSpPr>
          <p:cNvPr id="62" name="AMD company label">
            <a:extLst>
              <a:ext uri="{FF2B5EF4-FFF2-40B4-BE49-F238E27FC236}">
                <a16:creationId xmlns:a16="http://schemas.microsoft.com/office/drawing/2014/main" id="{1CBB2FF8-AA1C-4E1A-98FA-B8C698FB4B29}"/>
              </a:ext>
            </a:extLst>
          </p:cNvPr>
          <p:cNvSpPr>
            <a:spLocks noGrp="1"/>
          </p:cNvSpPr>
          <p:nvPr/>
        </p:nvSpPr>
        <p:spPr>
          <a:xfrm>
            <a:off x="5245257" y="4441025"/>
            <a:ext cx="559108" cy="212319"/>
          </a:xfrm>
          <a:prstGeom prst="rect">
            <a:avLst/>
          </a:prstGeom>
          <a:noFill/>
          <a:ln w="0">
            <a:noFill/>
            <a:prstDash val="solid"/>
          </a:ln>
        </p:spPr>
        <p:txBody>
          <a:bodyPr lIns="0" tIns="0" rIns="0" bIns="0" anchor="t"/>
          <a:lstStyle>
            <a:defPPr algn="ctr">
              <a:defRPr sz="1226" b="0">
                <a:solidFill>
                  <a:srgbClr val="383E41"/>
                </a:solidFill>
                <a:latin typeface="Arial"/>
                <a:ea typeface="Arial"/>
                <a:cs typeface="Arial"/>
              </a:defRPr>
            </a:defPPr>
            <a:lvl1pPr algn="ctr">
              <a:defRPr sz="1226" b="0">
                <a:solidFill>
                  <a:srgbClr val="383E41"/>
                </a:solidFill>
                <a:latin typeface="Arial"/>
                <a:ea typeface="Arial"/>
                <a:cs typeface="Arial"/>
              </a:defRPr>
            </a:lvl1pPr>
            <a:lvl2pPr algn="ctr">
              <a:defRPr sz="1226" b="0">
                <a:solidFill>
                  <a:srgbClr val="383E41"/>
                </a:solidFill>
                <a:latin typeface="Arial"/>
                <a:ea typeface="Arial"/>
                <a:cs typeface="Arial"/>
              </a:defRPr>
            </a:lvl2pPr>
            <a:lvl3pPr algn="ctr">
              <a:defRPr sz="1226" b="0">
                <a:solidFill>
                  <a:srgbClr val="383E41"/>
                </a:solidFill>
                <a:latin typeface="Arial"/>
                <a:ea typeface="Arial"/>
                <a:cs typeface="Arial"/>
              </a:defRPr>
            </a:lvl3pPr>
            <a:lvl4pPr algn="ctr">
              <a:defRPr sz="1226" b="0">
                <a:solidFill>
                  <a:srgbClr val="383E41"/>
                </a:solidFill>
                <a:latin typeface="Arial"/>
                <a:ea typeface="Arial"/>
                <a:cs typeface="Arial"/>
              </a:defRPr>
            </a:lvl4pPr>
            <a:lvl5pPr algn="ctr">
              <a:defRPr sz="1226" b="0">
                <a:solidFill>
                  <a:srgbClr val="383E41"/>
                </a:solidFill>
                <a:latin typeface="Arial"/>
                <a:ea typeface="Arial"/>
                <a:cs typeface="Arial"/>
              </a:defRPr>
            </a:lvl5pPr>
            <a:lvl6pPr algn="ctr">
              <a:defRPr sz="1226" b="0">
                <a:solidFill>
                  <a:srgbClr val="383E41"/>
                </a:solidFill>
                <a:latin typeface="Arial"/>
                <a:ea typeface="Arial"/>
                <a:cs typeface="Arial"/>
              </a:defRPr>
            </a:lvl6pPr>
            <a:lvl7pPr algn="ctr">
              <a:defRPr sz="1226" b="0">
                <a:solidFill>
                  <a:srgbClr val="383E41"/>
                </a:solidFill>
                <a:latin typeface="Arial"/>
                <a:ea typeface="Arial"/>
                <a:cs typeface="Arial"/>
              </a:defRPr>
            </a:lvl7pPr>
            <a:lvl8pPr algn="ctr">
              <a:defRPr sz="1226" b="0">
                <a:solidFill>
                  <a:srgbClr val="383E41"/>
                </a:solidFill>
                <a:latin typeface="Arial"/>
                <a:ea typeface="Arial"/>
                <a:cs typeface="Arial"/>
              </a:defRPr>
            </a:lvl8pPr>
            <a:lvl9pPr algn="ctr">
              <a:defRPr sz="1226" b="0">
                <a:solidFill>
                  <a:srgbClr val="383E41"/>
                </a:solidFill>
                <a:latin typeface="Arial"/>
                <a:ea typeface="Arial"/>
                <a:cs typeface="Arial"/>
              </a:defRPr>
            </a:lvl9pPr>
          </a:lstStyle>
          <a:p>
            <a:pPr algn="ctr">
              <a:defRPr sz="1226" b="0">
                <a:solidFill>
                  <a:srgbClr val="383E41"/>
                </a:solidFill>
                <a:latin typeface="Arial"/>
                <a:ea typeface="Arial"/>
                <a:cs typeface="Arial"/>
              </a:defRPr>
            </a:pPr>
            <a:r>
              <a:rPr sz="1226" b="0">
                <a:solidFill>
                  <a:srgbClr val="383E41"/>
                </a:solidFill>
                <a:latin typeface="Arial"/>
                <a:ea typeface="Arial"/>
                <a:cs typeface="Arial"/>
              </a:rPr>
              <a:t>AMD</a:t>
            </a:r>
          </a:p>
        </p:txBody>
      </p:sp>
      <p:sp>
        <p:nvSpPr>
          <p:cNvPr id="63" name="Oracle label background">
            <a:extLst>
              <a:ext uri="{FF2B5EF4-FFF2-40B4-BE49-F238E27FC236}">
                <a16:creationId xmlns:a16="http://schemas.microsoft.com/office/drawing/2014/main" id="{EC29450C-24F9-4B4E-BF82-B7F5854CF136}"/>
              </a:ext>
            </a:extLst>
          </p:cNvPr>
          <p:cNvSpPr>
            <a:spLocks noGrp="1"/>
          </p:cNvSpPr>
          <p:nvPr/>
        </p:nvSpPr>
        <p:spPr>
          <a:xfrm>
            <a:off x="6313932" y="4370252"/>
            <a:ext cx="516644" cy="332634"/>
          </a:xfrm>
          <a:prstGeom prst="rect">
            <a:avLst/>
          </a:prstGeom>
          <a:solidFill>
            <a:srgbClr val="FFFFFF"/>
          </a:solidFill>
          <a:ln w="0">
            <a:noFill/>
            <a:prstDash val="solid"/>
          </a:ln>
        </p:spPr>
        <p:txBody>
          <a:bodyPr/>
          <a:lstStyle/>
          <a:p>
            <a:endParaRPr lang="en-US"/>
          </a:p>
        </p:txBody>
      </p:sp>
      <p:sp>
        <p:nvSpPr>
          <p:cNvPr id="64" name="Oracle upper guide">
            <a:extLst>
              <a:ext uri="{FF2B5EF4-FFF2-40B4-BE49-F238E27FC236}">
                <a16:creationId xmlns:a16="http://schemas.microsoft.com/office/drawing/2014/main" id="{EF4F11BE-ADD5-44B8-9483-3192DC1BA04A}"/>
              </a:ext>
            </a:extLst>
          </p:cNvPr>
          <p:cNvSpPr>
            <a:spLocks noGrp="1"/>
          </p:cNvSpPr>
          <p:nvPr/>
        </p:nvSpPr>
        <p:spPr>
          <a:xfrm>
            <a:off x="6313932" y="4377330"/>
            <a:ext cx="516644" cy="14155"/>
          </a:xfrm>
          <a:prstGeom prst="rect">
            <a:avLst/>
          </a:prstGeom>
          <a:solidFill>
            <a:srgbClr val="EFF1F2"/>
          </a:solidFill>
          <a:ln w="0">
            <a:noFill/>
            <a:prstDash val="solid"/>
          </a:ln>
        </p:spPr>
        <p:txBody>
          <a:bodyPr/>
          <a:lstStyle/>
          <a:p>
            <a:endParaRPr lang="en-US"/>
          </a:p>
        </p:txBody>
      </p:sp>
      <p:sp>
        <p:nvSpPr>
          <p:cNvPr id="65" name="Oracle lower guide">
            <a:extLst>
              <a:ext uri="{FF2B5EF4-FFF2-40B4-BE49-F238E27FC236}">
                <a16:creationId xmlns:a16="http://schemas.microsoft.com/office/drawing/2014/main" id="{66E9B342-2354-4228-A328-811129FB128F}"/>
              </a:ext>
            </a:extLst>
          </p:cNvPr>
          <p:cNvSpPr>
            <a:spLocks noGrp="1"/>
          </p:cNvSpPr>
          <p:nvPr/>
        </p:nvSpPr>
        <p:spPr>
          <a:xfrm>
            <a:off x="6313932" y="4681654"/>
            <a:ext cx="516644" cy="14155"/>
          </a:xfrm>
          <a:prstGeom prst="rect">
            <a:avLst/>
          </a:prstGeom>
          <a:solidFill>
            <a:srgbClr val="EFF1F2"/>
          </a:solidFill>
          <a:ln w="0">
            <a:noFill/>
            <a:prstDash val="solid"/>
          </a:ln>
        </p:spPr>
        <p:txBody>
          <a:bodyPr/>
          <a:lstStyle/>
          <a:p>
            <a:endParaRPr lang="en-US"/>
          </a:p>
        </p:txBody>
      </p:sp>
      <p:sp>
        <p:nvSpPr>
          <p:cNvPr id="66" name="Oracle company label">
            <a:extLst>
              <a:ext uri="{FF2B5EF4-FFF2-40B4-BE49-F238E27FC236}">
                <a16:creationId xmlns:a16="http://schemas.microsoft.com/office/drawing/2014/main" id="{FDDB7E04-380E-4051-82D8-F215D800F2E1}"/>
              </a:ext>
            </a:extLst>
          </p:cNvPr>
          <p:cNvSpPr>
            <a:spLocks noGrp="1"/>
          </p:cNvSpPr>
          <p:nvPr/>
        </p:nvSpPr>
        <p:spPr>
          <a:xfrm>
            <a:off x="6257313" y="4441025"/>
            <a:ext cx="629881" cy="212319"/>
          </a:xfrm>
          <a:prstGeom prst="rect">
            <a:avLst/>
          </a:prstGeom>
          <a:noFill/>
          <a:ln w="0">
            <a:noFill/>
            <a:prstDash val="solid"/>
          </a:ln>
        </p:spPr>
        <p:txBody>
          <a:bodyPr lIns="0" tIns="0" rIns="0" bIns="0" anchor="t"/>
          <a:lstStyle>
            <a:defPPr algn="ctr">
              <a:defRPr sz="1226" b="0">
                <a:solidFill>
                  <a:srgbClr val="383E41"/>
                </a:solidFill>
                <a:latin typeface="Arial"/>
                <a:ea typeface="Arial"/>
                <a:cs typeface="Arial"/>
              </a:defRPr>
            </a:defPPr>
            <a:lvl1pPr algn="ctr">
              <a:defRPr sz="1226" b="0">
                <a:solidFill>
                  <a:srgbClr val="383E41"/>
                </a:solidFill>
                <a:latin typeface="Arial"/>
                <a:ea typeface="Arial"/>
                <a:cs typeface="Arial"/>
              </a:defRPr>
            </a:lvl1pPr>
            <a:lvl2pPr algn="ctr">
              <a:defRPr sz="1226" b="0">
                <a:solidFill>
                  <a:srgbClr val="383E41"/>
                </a:solidFill>
                <a:latin typeface="Arial"/>
                <a:ea typeface="Arial"/>
                <a:cs typeface="Arial"/>
              </a:defRPr>
            </a:lvl2pPr>
            <a:lvl3pPr algn="ctr">
              <a:defRPr sz="1226" b="0">
                <a:solidFill>
                  <a:srgbClr val="383E41"/>
                </a:solidFill>
                <a:latin typeface="Arial"/>
                <a:ea typeface="Arial"/>
                <a:cs typeface="Arial"/>
              </a:defRPr>
            </a:lvl3pPr>
            <a:lvl4pPr algn="ctr">
              <a:defRPr sz="1226" b="0">
                <a:solidFill>
                  <a:srgbClr val="383E41"/>
                </a:solidFill>
                <a:latin typeface="Arial"/>
                <a:ea typeface="Arial"/>
                <a:cs typeface="Arial"/>
              </a:defRPr>
            </a:lvl4pPr>
            <a:lvl5pPr algn="ctr">
              <a:defRPr sz="1226" b="0">
                <a:solidFill>
                  <a:srgbClr val="383E41"/>
                </a:solidFill>
                <a:latin typeface="Arial"/>
                <a:ea typeface="Arial"/>
                <a:cs typeface="Arial"/>
              </a:defRPr>
            </a:lvl5pPr>
            <a:lvl6pPr algn="ctr">
              <a:defRPr sz="1226" b="0">
                <a:solidFill>
                  <a:srgbClr val="383E41"/>
                </a:solidFill>
                <a:latin typeface="Arial"/>
                <a:ea typeface="Arial"/>
                <a:cs typeface="Arial"/>
              </a:defRPr>
            </a:lvl6pPr>
            <a:lvl7pPr algn="ctr">
              <a:defRPr sz="1226" b="0">
                <a:solidFill>
                  <a:srgbClr val="383E41"/>
                </a:solidFill>
                <a:latin typeface="Arial"/>
                <a:ea typeface="Arial"/>
                <a:cs typeface="Arial"/>
              </a:defRPr>
            </a:lvl7pPr>
            <a:lvl8pPr algn="ctr">
              <a:defRPr sz="1226" b="0">
                <a:solidFill>
                  <a:srgbClr val="383E41"/>
                </a:solidFill>
                <a:latin typeface="Arial"/>
                <a:ea typeface="Arial"/>
                <a:cs typeface="Arial"/>
              </a:defRPr>
            </a:lvl8pPr>
            <a:lvl9pPr algn="ctr">
              <a:defRPr sz="1226" b="0">
                <a:solidFill>
                  <a:srgbClr val="383E41"/>
                </a:solidFill>
                <a:latin typeface="Arial"/>
                <a:ea typeface="Arial"/>
                <a:cs typeface="Arial"/>
              </a:defRPr>
            </a:lvl9pPr>
          </a:lstStyle>
          <a:p>
            <a:pPr algn="ctr">
              <a:defRPr sz="1226" b="0">
                <a:solidFill>
                  <a:srgbClr val="383E41"/>
                </a:solidFill>
                <a:latin typeface="Arial"/>
                <a:ea typeface="Arial"/>
                <a:cs typeface="Arial"/>
              </a:defRPr>
            </a:pPr>
            <a:r>
              <a:rPr sz="1226" b="0">
                <a:solidFill>
                  <a:srgbClr val="383E41"/>
                </a:solidFill>
                <a:latin typeface="Arial"/>
                <a:ea typeface="Arial"/>
                <a:cs typeface="Arial"/>
              </a:rPr>
              <a:t>Oracle</a:t>
            </a:r>
          </a:p>
        </p:txBody>
      </p:sp>
      <p:sp>
        <p:nvSpPr>
          <p:cNvPr id="67" name="Oracle contract annotation">
            <a:extLst>
              <a:ext uri="{FF2B5EF4-FFF2-40B4-BE49-F238E27FC236}">
                <a16:creationId xmlns:a16="http://schemas.microsoft.com/office/drawing/2014/main" id="{9AC25FA2-024E-40D3-AA0B-1D18A152AD3D}"/>
              </a:ext>
            </a:extLst>
          </p:cNvPr>
          <p:cNvSpPr>
            <a:spLocks noGrp="1"/>
          </p:cNvSpPr>
          <p:nvPr/>
        </p:nvSpPr>
        <p:spPr>
          <a:xfrm>
            <a:off x="5376188" y="1404857"/>
            <a:ext cx="1825948" cy="707732"/>
          </a:xfrm>
          <a:prstGeom prst="rect">
            <a:avLst/>
          </a:prstGeom>
          <a:noFill/>
          <a:ln w="0">
            <a:noFill/>
            <a:prstDash val="solid"/>
          </a:ln>
        </p:spPr>
        <p:txBody>
          <a:bodyPr lIns="0" tIns="0" rIns="0" bIns="0" anchor="t"/>
          <a:lstStyle>
            <a:defPPr>
              <a:defRPr sz="1059" b="0">
                <a:solidFill>
                  <a:srgbClr val="333B40"/>
                </a:solidFill>
                <a:latin typeface="Arial"/>
                <a:ea typeface="Arial"/>
                <a:cs typeface="Arial"/>
              </a:defRPr>
            </a:defPPr>
            <a:lvl1pPr>
              <a:defRPr sz="1059" b="0">
                <a:solidFill>
                  <a:srgbClr val="333B40"/>
                </a:solidFill>
                <a:latin typeface="Arial"/>
                <a:ea typeface="Arial"/>
                <a:cs typeface="Arial"/>
              </a:defRPr>
            </a:lvl1pPr>
            <a:lvl2pPr>
              <a:defRPr sz="1059" b="0">
                <a:solidFill>
                  <a:srgbClr val="333B40"/>
                </a:solidFill>
                <a:latin typeface="Arial"/>
                <a:ea typeface="Arial"/>
                <a:cs typeface="Arial"/>
              </a:defRPr>
            </a:lvl2pPr>
            <a:lvl3pPr>
              <a:defRPr sz="1059" b="0">
                <a:solidFill>
                  <a:srgbClr val="333B40"/>
                </a:solidFill>
                <a:latin typeface="Arial"/>
                <a:ea typeface="Arial"/>
                <a:cs typeface="Arial"/>
              </a:defRPr>
            </a:lvl3pPr>
            <a:lvl4pPr>
              <a:defRPr sz="1059" b="0">
                <a:solidFill>
                  <a:srgbClr val="333B40"/>
                </a:solidFill>
                <a:latin typeface="Arial"/>
                <a:ea typeface="Arial"/>
                <a:cs typeface="Arial"/>
              </a:defRPr>
            </a:lvl4pPr>
            <a:lvl5pPr>
              <a:defRPr sz="1059" b="0">
                <a:solidFill>
                  <a:srgbClr val="333B40"/>
                </a:solidFill>
                <a:latin typeface="Arial"/>
                <a:ea typeface="Arial"/>
                <a:cs typeface="Arial"/>
              </a:defRPr>
            </a:lvl5pPr>
            <a:lvl6pPr>
              <a:defRPr sz="1059" b="0">
                <a:solidFill>
                  <a:srgbClr val="333B40"/>
                </a:solidFill>
                <a:latin typeface="Arial"/>
                <a:ea typeface="Arial"/>
                <a:cs typeface="Arial"/>
              </a:defRPr>
            </a:lvl6pPr>
            <a:lvl7pPr>
              <a:defRPr sz="1059" b="0">
                <a:solidFill>
                  <a:srgbClr val="333B40"/>
                </a:solidFill>
                <a:latin typeface="Arial"/>
                <a:ea typeface="Arial"/>
                <a:cs typeface="Arial"/>
              </a:defRPr>
            </a:lvl7pPr>
            <a:lvl8pPr>
              <a:defRPr sz="1059" b="0">
                <a:solidFill>
                  <a:srgbClr val="333B40"/>
                </a:solidFill>
                <a:latin typeface="Arial"/>
                <a:ea typeface="Arial"/>
                <a:cs typeface="Arial"/>
              </a:defRPr>
            </a:lvl8pPr>
            <a:lvl9pPr>
              <a:defRPr sz="1059" b="0">
                <a:solidFill>
                  <a:srgbClr val="333B40"/>
                </a:solidFill>
                <a:latin typeface="Arial"/>
                <a:ea typeface="Arial"/>
                <a:cs typeface="Arial"/>
              </a:defRPr>
            </a:lvl9pPr>
          </a:lstStyle>
          <a:p>
            <a:pPr>
              <a:defRPr sz="1059" b="0">
                <a:solidFill>
                  <a:srgbClr val="333B40"/>
                </a:solidFill>
                <a:latin typeface="Arial"/>
                <a:ea typeface="Arial"/>
                <a:cs typeface="Arial"/>
              </a:defRPr>
            </a:pPr>
            <a:r>
              <a:rPr sz="1059" b="0">
                <a:solidFill>
                  <a:srgbClr val="333B40"/>
                </a:solidFill>
                <a:latin typeface="Arial"/>
                <a:ea typeface="Arial"/>
                <a:cs typeface="Arial"/>
              </a:rPr>
              <a:t>OpenAI recently agreed to</a:t>
            </a:r>
          </a:p>
          <a:p>
            <a:pPr>
              <a:defRPr sz="1059" b="0">
                <a:solidFill>
                  <a:srgbClr val="333B40"/>
                </a:solidFill>
                <a:latin typeface="Arial"/>
                <a:ea typeface="Arial"/>
                <a:cs typeface="Arial"/>
              </a:defRPr>
            </a:pPr>
            <a:r>
              <a:rPr sz="1059" b="0">
                <a:solidFill>
                  <a:srgbClr val="333B40"/>
                </a:solidFill>
                <a:latin typeface="Arial"/>
                <a:ea typeface="Arial"/>
                <a:cs typeface="Arial"/>
              </a:rPr>
              <a:t>buy $300 billion of</a:t>
            </a:r>
          </a:p>
          <a:p>
            <a:pPr>
              <a:defRPr sz="1059" b="0">
                <a:solidFill>
                  <a:srgbClr val="333B40"/>
                </a:solidFill>
                <a:latin typeface="Arial"/>
                <a:ea typeface="Arial"/>
                <a:cs typeface="Arial"/>
              </a:defRPr>
            </a:pPr>
            <a:r>
              <a:rPr sz="1059" b="0">
                <a:solidFill>
                  <a:srgbClr val="333B40"/>
                </a:solidFill>
                <a:latin typeface="Arial"/>
                <a:ea typeface="Arial"/>
                <a:cs typeface="Arial"/>
              </a:rPr>
              <a:t>computing power from</a:t>
            </a:r>
          </a:p>
          <a:p>
            <a:pPr>
              <a:defRPr sz="1059" b="0">
                <a:solidFill>
                  <a:srgbClr val="333B40"/>
                </a:solidFill>
                <a:latin typeface="Arial"/>
                <a:ea typeface="Arial"/>
                <a:cs typeface="Arial"/>
              </a:defRPr>
            </a:pPr>
            <a:r>
              <a:rPr sz="1059" b="0">
                <a:solidFill>
                  <a:srgbClr val="333B40"/>
                </a:solidFill>
                <a:latin typeface="Arial"/>
                <a:ea typeface="Arial"/>
                <a:cs typeface="Arial"/>
              </a:rPr>
              <a:t>Oracle over about five years</a:t>
            </a:r>
          </a:p>
        </p:txBody>
      </p:sp>
      <p:sp>
        <p:nvSpPr>
          <p:cNvPr id="68" name="Oracle annotation leader">
            <a:extLst>
              <a:ext uri="{FF2B5EF4-FFF2-40B4-BE49-F238E27FC236}">
                <a16:creationId xmlns:a16="http://schemas.microsoft.com/office/drawing/2014/main" id="{4A5136DB-9728-4BF4-8B65-85E41107CF73}"/>
              </a:ext>
            </a:extLst>
          </p:cNvPr>
          <p:cNvSpPr>
            <a:spLocks noGrp="1"/>
          </p:cNvSpPr>
          <p:nvPr/>
        </p:nvSpPr>
        <p:spPr>
          <a:xfrm>
            <a:off x="301752" y="138017"/>
            <a:ext cx="12024360" cy="6390816"/>
          </a:xfrm>
          <a:custGeom>
            <a:avLst/>
            <a:gdLst/>
            <a:ahLst/>
            <a:cxnLst/>
            <a:rect l="0" t="0" r="0" b="0"/>
            <a:pathLst>
              <a:path w="16182975" h="8601075">
                <a:moveTo>
                  <a:pt x="7572375" y="2638425"/>
                </a:moveTo>
                <a:lnTo>
                  <a:pt x="7572375" y="3419475"/>
                </a:lnTo>
              </a:path>
            </a:pathLst>
          </a:custGeom>
          <a:noFill/>
          <a:ln w="17693">
            <a:solidFill>
              <a:srgbClr val="333B40"/>
            </a:solidFill>
            <a:prstDash val="dot"/>
          </a:ln>
        </p:spPr>
        <p:txBody>
          <a:bodyPr/>
          <a:lstStyle/>
          <a:p>
            <a:endParaRPr lang="en-US"/>
          </a:p>
        </p:txBody>
      </p:sp>
      <p:sp>
        <p:nvSpPr>
          <p:cNvPr id="69" name="Legend heading">
            <a:extLst>
              <a:ext uri="{FF2B5EF4-FFF2-40B4-BE49-F238E27FC236}">
                <a16:creationId xmlns:a16="http://schemas.microsoft.com/office/drawing/2014/main" id="{30D605DB-F79B-4269-BB68-7D99193A0658}"/>
              </a:ext>
            </a:extLst>
          </p:cNvPr>
          <p:cNvSpPr>
            <a:spLocks noGrp="1"/>
          </p:cNvSpPr>
          <p:nvPr/>
        </p:nvSpPr>
        <p:spPr>
          <a:xfrm>
            <a:off x="7817862" y="1581790"/>
            <a:ext cx="3687282" cy="212319"/>
          </a:xfrm>
          <a:prstGeom prst="rect">
            <a:avLst/>
          </a:prstGeom>
          <a:noFill/>
          <a:ln w="0">
            <a:noFill/>
            <a:prstDash val="solid"/>
          </a:ln>
        </p:spPr>
        <p:txBody>
          <a:bodyPr lIns="0" tIns="0" rIns="0" bIns="0" anchor="t"/>
          <a:lstStyle>
            <a:defPPr>
              <a:defRPr sz="1115" b="1">
                <a:solidFill>
                  <a:srgbClr val="2E6A9D"/>
                </a:solidFill>
                <a:latin typeface="Arial"/>
                <a:ea typeface="Arial"/>
                <a:cs typeface="Arial"/>
              </a:defRPr>
            </a:defPPr>
            <a:lvl1pPr>
              <a:defRPr sz="1115" b="1">
                <a:solidFill>
                  <a:srgbClr val="2E6A9D"/>
                </a:solidFill>
                <a:latin typeface="Arial"/>
                <a:ea typeface="Arial"/>
                <a:cs typeface="Arial"/>
              </a:defRPr>
            </a:lvl1pPr>
            <a:lvl2pPr>
              <a:defRPr sz="1115" b="1">
                <a:solidFill>
                  <a:srgbClr val="2E6A9D"/>
                </a:solidFill>
                <a:latin typeface="Arial"/>
                <a:ea typeface="Arial"/>
                <a:cs typeface="Arial"/>
              </a:defRPr>
            </a:lvl2pPr>
            <a:lvl3pPr>
              <a:defRPr sz="1115" b="1">
                <a:solidFill>
                  <a:srgbClr val="2E6A9D"/>
                </a:solidFill>
                <a:latin typeface="Arial"/>
                <a:ea typeface="Arial"/>
                <a:cs typeface="Arial"/>
              </a:defRPr>
            </a:lvl3pPr>
            <a:lvl4pPr>
              <a:defRPr sz="1115" b="1">
                <a:solidFill>
                  <a:srgbClr val="2E6A9D"/>
                </a:solidFill>
                <a:latin typeface="Arial"/>
                <a:ea typeface="Arial"/>
                <a:cs typeface="Arial"/>
              </a:defRPr>
            </a:lvl4pPr>
            <a:lvl5pPr>
              <a:defRPr sz="1115" b="1">
                <a:solidFill>
                  <a:srgbClr val="2E6A9D"/>
                </a:solidFill>
                <a:latin typeface="Arial"/>
                <a:ea typeface="Arial"/>
                <a:cs typeface="Arial"/>
              </a:defRPr>
            </a:lvl5pPr>
            <a:lvl6pPr>
              <a:defRPr sz="1115" b="1">
                <a:solidFill>
                  <a:srgbClr val="2E6A9D"/>
                </a:solidFill>
                <a:latin typeface="Arial"/>
                <a:ea typeface="Arial"/>
                <a:cs typeface="Arial"/>
              </a:defRPr>
            </a:lvl6pPr>
            <a:lvl7pPr>
              <a:defRPr sz="1115" b="1">
                <a:solidFill>
                  <a:srgbClr val="2E6A9D"/>
                </a:solidFill>
                <a:latin typeface="Arial"/>
                <a:ea typeface="Arial"/>
                <a:cs typeface="Arial"/>
              </a:defRPr>
            </a:lvl7pPr>
            <a:lvl8pPr>
              <a:defRPr sz="1115" b="1">
                <a:solidFill>
                  <a:srgbClr val="2E6A9D"/>
                </a:solidFill>
                <a:latin typeface="Arial"/>
                <a:ea typeface="Arial"/>
                <a:cs typeface="Arial"/>
              </a:defRPr>
            </a:lvl8pPr>
            <a:lvl9pPr>
              <a:defRPr sz="1115" b="1">
                <a:solidFill>
                  <a:srgbClr val="2E6A9D"/>
                </a:solidFill>
                <a:latin typeface="Arial"/>
                <a:ea typeface="Arial"/>
                <a:cs typeface="Arial"/>
              </a:defRPr>
            </a:lvl9pPr>
          </a:lstStyle>
          <a:p>
            <a:pPr>
              <a:defRPr sz="1115" b="1">
                <a:solidFill>
                  <a:srgbClr val="2E6A9D"/>
                </a:solidFill>
                <a:latin typeface="Arial"/>
                <a:ea typeface="Arial"/>
                <a:cs typeface="Arial"/>
              </a:defRPr>
            </a:pPr>
            <a:r>
              <a:rPr sz="1115" b="1">
                <a:solidFill>
                  <a:srgbClr val="2E6A9D"/>
                </a:solidFill>
                <a:latin typeface="Arial"/>
                <a:ea typeface="Arial"/>
                <a:cs typeface="Arial"/>
              </a:rPr>
              <a:t>HOW TO READ THE WSJ MAP</a:t>
            </a:r>
          </a:p>
        </p:txBody>
      </p:sp>
      <p:sp>
        <p:nvSpPr>
          <p:cNvPr id="70" name="Chip purchases color key">
            <a:extLst>
              <a:ext uri="{FF2B5EF4-FFF2-40B4-BE49-F238E27FC236}">
                <a16:creationId xmlns:a16="http://schemas.microsoft.com/office/drawing/2014/main" id="{D63A49FF-0098-4B65-92B6-32A2AA364CB9}"/>
              </a:ext>
            </a:extLst>
          </p:cNvPr>
          <p:cNvSpPr>
            <a:spLocks noGrp="1"/>
          </p:cNvSpPr>
          <p:nvPr/>
        </p:nvSpPr>
        <p:spPr>
          <a:xfrm>
            <a:off x="7846171" y="1935656"/>
            <a:ext cx="162778" cy="162778"/>
          </a:xfrm>
          <a:prstGeom prst="rect">
            <a:avLst/>
          </a:prstGeom>
          <a:solidFill>
            <a:srgbClr val="A4CCD8"/>
          </a:solidFill>
          <a:ln w="0">
            <a:noFill/>
            <a:prstDash val="solid"/>
          </a:ln>
        </p:spPr>
        <p:txBody>
          <a:bodyPr/>
          <a:lstStyle/>
          <a:p>
            <a:endParaRPr lang="en-US"/>
          </a:p>
        </p:txBody>
      </p:sp>
      <p:sp>
        <p:nvSpPr>
          <p:cNvPr id="71" name="Chip purchases legend">
            <a:extLst>
              <a:ext uri="{FF2B5EF4-FFF2-40B4-BE49-F238E27FC236}">
                <a16:creationId xmlns:a16="http://schemas.microsoft.com/office/drawing/2014/main" id="{AA9841C7-B695-4C63-86B6-AFB564149CA7}"/>
              </a:ext>
            </a:extLst>
          </p:cNvPr>
          <p:cNvSpPr>
            <a:spLocks noGrp="1"/>
          </p:cNvSpPr>
          <p:nvPr/>
        </p:nvSpPr>
        <p:spPr>
          <a:xfrm>
            <a:off x="8136341" y="1914424"/>
            <a:ext cx="3397112" cy="247706"/>
          </a:xfrm>
          <a:prstGeom prst="rect">
            <a:avLst/>
          </a:prstGeom>
          <a:noFill/>
          <a:ln w="0">
            <a:noFill/>
            <a:prstDash val="solid"/>
          </a:ln>
        </p:spPr>
        <p:txBody>
          <a:bodyPr lIns="0" tIns="0" rIns="0" bIns="0" anchor="t"/>
          <a:lstStyle>
            <a:defPPr>
              <a:defRPr sz="1337" b="0">
                <a:solidFill>
                  <a:srgbClr val="444B4F"/>
                </a:solidFill>
                <a:latin typeface="Arial"/>
                <a:ea typeface="Arial"/>
                <a:cs typeface="Arial"/>
              </a:defRPr>
            </a:defPPr>
            <a:lvl1pPr>
              <a:defRPr sz="1337" b="0">
                <a:solidFill>
                  <a:srgbClr val="444B4F"/>
                </a:solidFill>
                <a:latin typeface="Arial"/>
                <a:ea typeface="Arial"/>
                <a:cs typeface="Arial"/>
              </a:defRPr>
            </a:lvl1pPr>
            <a:lvl2pPr>
              <a:defRPr sz="1337" b="0">
                <a:solidFill>
                  <a:srgbClr val="444B4F"/>
                </a:solidFill>
                <a:latin typeface="Arial"/>
                <a:ea typeface="Arial"/>
                <a:cs typeface="Arial"/>
              </a:defRPr>
            </a:lvl2pPr>
            <a:lvl3pPr>
              <a:defRPr sz="1337" b="0">
                <a:solidFill>
                  <a:srgbClr val="444B4F"/>
                </a:solidFill>
                <a:latin typeface="Arial"/>
                <a:ea typeface="Arial"/>
                <a:cs typeface="Arial"/>
              </a:defRPr>
            </a:lvl3pPr>
            <a:lvl4pPr>
              <a:defRPr sz="1337" b="0">
                <a:solidFill>
                  <a:srgbClr val="444B4F"/>
                </a:solidFill>
                <a:latin typeface="Arial"/>
                <a:ea typeface="Arial"/>
                <a:cs typeface="Arial"/>
              </a:defRPr>
            </a:lvl4pPr>
            <a:lvl5pPr>
              <a:defRPr sz="1337" b="0">
                <a:solidFill>
                  <a:srgbClr val="444B4F"/>
                </a:solidFill>
                <a:latin typeface="Arial"/>
                <a:ea typeface="Arial"/>
                <a:cs typeface="Arial"/>
              </a:defRPr>
            </a:lvl5pPr>
            <a:lvl6pPr>
              <a:defRPr sz="1337" b="0">
                <a:solidFill>
                  <a:srgbClr val="444B4F"/>
                </a:solidFill>
                <a:latin typeface="Arial"/>
                <a:ea typeface="Arial"/>
                <a:cs typeface="Arial"/>
              </a:defRPr>
            </a:lvl6pPr>
            <a:lvl7pPr>
              <a:defRPr sz="1337" b="0">
                <a:solidFill>
                  <a:srgbClr val="444B4F"/>
                </a:solidFill>
                <a:latin typeface="Arial"/>
                <a:ea typeface="Arial"/>
                <a:cs typeface="Arial"/>
              </a:defRPr>
            </a:lvl7pPr>
            <a:lvl8pPr>
              <a:defRPr sz="1337" b="0">
                <a:solidFill>
                  <a:srgbClr val="444B4F"/>
                </a:solidFill>
                <a:latin typeface="Arial"/>
                <a:ea typeface="Arial"/>
                <a:cs typeface="Arial"/>
              </a:defRPr>
            </a:lvl8pPr>
            <a:lvl9pPr>
              <a:defRPr sz="1337" b="0">
                <a:solidFill>
                  <a:srgbClr val="444B4F"/>
                </a:solidFill>
                <a:latin typeface="Arial"/>
                <a:ea typeface="Arial"/>
                <a:cs typeface="Arial"/>
              </a:defRPr>
            </a:lvl9pPr>
          </a:lstStyle>
          <a:p>
            <a:pPr>
              <a:defRPr sz="1337" b="0">
                <a:solidFill>
                  <a:srgbClr val="444B4F"/>
                </a:solidFill>
                <a:latin typeface="Arial"/>
                <a:ea typeface="Arial"/>
                <a:cs typeface="Arial"/>
              </a:defRPr>
            </a:pPr>
            <a:r>
              <a:rPr sz="1337" b="0">
                <a:solidFill>
                  <a:srgbClr val="444B4F"/>
                </a:solidFill>
                <a:latin typeface="Arial"/>
                <a:ea typeface="Arial"/>
                <a:cs typeface="Arial"/>
              </a:rPr>
              <a:t>Chip purchases</a:t>
            </a:r>
          </a:p>
        </p:txBody>
      </p:sp>
      <p:sp>
        <p:nvSpPr>
          <p:cNvPr id="72" name="Infrastructure / rentals color key">
            <a:extLst>
              <a:ext uri="{FF2B5EF4-FFF2-40B4-BE49-F238E27FC236}">
                <a16:creationId xmlns:a16="http://schemas.microsoft.com/office/drawing/2014/main" id="{1C89E490-5259-4AF6-B493-E79E5734B005}"/>
              </a:ext>
            </a:extLst>
          </p:cNvPr>
          <p:cNvSpPr>
            <a:spLocks noGrp="1"/>
          </p:cNvSpPr>
          <p:nvPr/>
        </p:nvSpPr>
        <p:spPr>
          <a:xfrm>
            <a:off x="7846171" y="2261212"/>
            <a:ext cx="162778" cy="162778"/>
          </a:xfrm>
          <a:prstGeom prst="rect">
            <a:avLst/>
          </a:prstGeom>
          <a:solidFill>
            <a:srgbClr val="548C97"/>
          </a:solidFill>
          <a:ln w="0">
            <a:noFill/>
            <a:prstDash val="solid"/>
          </a:ln>
        </p:spPr>
        <p:txBody>
          <a:bodyPr/>
          <a:lstStyle/>
          <a:p>
            <a:endParaRPr lang="en-US"/>
          </a:p>
        </p:txBody>
      </p:sp>
      <p:sp>
        <p:nvSpPr>
          <p:cNvPr id="73" name="Infrastructure / rentals legend">
            <a:extLst>
              <a:ext uri="{FF2B5EF4-FFF2-40B4-BE49-F238E27FC236}">
                <a16:creationId xmlns:a16="http://schemas.microsoft.com/office/drawing/2014/main" id="{3D89DF2B-13D1-4C33-9897-903717C39282}"/>
              </a:ext>
            </a:extLst>
          </p:cNvPr>
          <p:cNvSpPr>
            <a:spLocks noGrp="1"/>
          </p:cNvSpPr>
          <p:nvPr/>
        </p:nvSpPr>
        <p:spPr>
          <a:xfrm>
            <a:off x="8136341" y="2239980"/>
            <a:ext cx="3397112" cy="247706"/>
          </a:xfrm>
          <a:prstGeom prst="rect">
            <a:avLst/>
          </a:prstGeom>
          <a:noFill/>
          <a:ln w="0">
            <a:noFill/>
            <a:prstDash val="solid"/>
          </a:ln>
        </p:spPr>
        <p:txBody>
          <a:bodyPr lIns="0" tIns="0" rIns="0" bIns="0" anchor="t"/>
          <a:lstStyle>
            <a:defPPr>
              <a:defRPr sz="1337" b="0">
                <a:solidFill>
                  <a:srgbClr val="444B4F"/>
                </a:solidFill>
                <a:latin typeface="Arial"/>
                <a:ea typeface="Arial"/>
                <a:cs typeface="Arial"/>
              </a:defRPr>
            </a:defPPr>
            <a:lvl1pPr>
              <a:defRPr sz="1337" b="0">
                <a:solidFill>
                  <a:srgbClr val="444B4F"/>
                </a:solidFill>
                <a:latin typeface="Arial"/>
                <a:ea typeface="Arial"/>
                <a:cs typeface="Arial"/>
              </a:defRPr>
            </a:lvl1pPr>
            <a:lvl2pPr>
              <a:defRPr sz="1337" b="0">
                <a:solidFill>
                  <a:srgbClr val="444B4F"/>
                </a:solidFill>
                <a:latin typeface="Arial"/>
                <a:ea typeface="Arial"/>
                <a:cs typeface="Arial"/>
              </a:defRPr>
            </a:lvl2pPr>
            <a:lvl3pPr>
              <a:defRPr sz="1337" b="0">
                <a:solidFill>
                  <a:srgbClr val="444B4F"/>
                </a:solidFill>
                <a:latin typeface="Arial"/>
                <a:ea typeface="Arial"/>
                <a:cs typeface="Arial"/>
              </a:defRPr>
            </a:lvl3pPr>
            <a:lvl4pPr>
              <a:defRPr sz="1337" b="0">
                <a:solidFill>
                  <a:srgbClr val="444B4F"/>
                </a:solidFill>
                <a:latin typeface="Arial"/>
                <a:ea typeface="Arial"/>
                <a:cs typeface="Arial"/>
              </a:defRPr>
            </a:lvl4pPr>
            <a:lvl5pPr>
              <a:defRPr sz="1337" b="0">
                <a:solidFill>
                  <a:srgbClr val="444B4F"/>
                </a:solidFill>
                <a:latin typeface="Arial"/>
                <a:ea typeface="Arial"/>
                <a:cs typeface="Arial"/>
              </a:defRPr>
            </a:lvl5pPr>
            <a:lvl6pPr>
              <a:defRPr sz="1337" b="0">
                <a:solidFill>
                  <a:srgbClr val="444B4F"/>
                </a:solidFill>
                <a:latin typeface="Arial"/>
                <a:ea typeface="Arial"/>
                <a:cs typeface="Arial"/>
              </a:defRPr>
            </a:lvl6pPr>
            <a:lvl7pPr>
              <a:defRPr sz="1337" b="0">
                <a:solidFill>
                  <a:srgbClr val="444B4F"/>
                </a:solidFill>
                <a:latin typeface="Arial"/>
                <a:ea typeface="Arial"/>
                <a:cs typeface="Arial"/>
              </a:defRPr>
            </a:lvl7pPr>
            <a:lvl8pPr>
              <a:defRPr sz="1337" b="0">
                <a:solidFill>
                  <a:srgbClr val="444B4F"/>
                </a:solidFill>
                <a:latin typeface="Arial"/>
                <a:ea typeface="Arial"/>
                <a:cs typeface="Arial"/>
              </a:defRPr>
            </a:lvl8pPr>
            <a:lvl9pPr>
              <a:defRPr sz="1337" b="0">
                <a:solidFill>
                  <a:srgbClr val="444B4F"/>
                </a:solidFill>
                <a:latin typeface="Arial"/>
                <a:ea typeface="Arial"/>
                <a:cs typeface="Arial"/>
              </a:defRPr>
            </a:lvl9pPr>
          </a:lstStyle>
          <a:p>
            <a:pPr>
              <a:defRPr sz="1337" b="0">
                <a:solidFill>
                  <a:srgbClr val="444B4F"/>
                </a:solidFill>
                <a:latin typeface="Arial"/>
                <a:ea typeface="Arial"/>
                <a:cs typeface="Arial"/>
              </a:defRPr>
            </a:pPr>
            <a:r>
              <a:rPr sz="1337" b="0">
                <a:solidFill>
                  <a:srgbClr val="444B4F"/>
                </a:solidFill>
                <a:latin typeface="Arial"/>
                <a:ea typeface="Arial"/>
                <a:cs typeface="Arial"/>
              </a:rPr>
              <a:t>Infrastructure / rentals</a:t>
            </a:r>
          </a:p>
        </p:txBody>
      </p:sp>
      <p:sp>
        <p:nvSpPr>
          <p:cNvPr id="74" name="Equity investment color key">
            <a:extLst>
              <a:ext uri="{FF2B5EF4-FFF2-40B4-BE49-F238E27FC236}">
                <a16:creationId xmlns:a16="http://schemas.microsoft.com/office/drawing/2014/main" id="{D568E8DC-2579-4D46-A510-D52AE0687274}"/>
              </a:ext>
            </a:extLst>
          </p:cNvPr>
          <p:cNvSpPr>
            <a:spLocks noGrp="1"/>
          </p:cNvSpPr>
          <p:nvPr/>
        </p:nvSpPr>
        <p:spPr>
          <a:xfrm>
            <a:off x="7846171" y="2586769"/>
            <a:ext cx="162778" cy="162778"/>
          </a:xfrm>
          <a:prstGeom prst="rect">
            <a:avLst/>
          </a:prstGeom>
          <a:solidFill>
            <a:srgbClr val="CDA379"/>
          </a:solidFill>
          <a:ln w="0">
            <a:noFill/>
            <a:prstDash val="solid"/>
          </a:ln>
        </p:spPr>
        <p:txBody>
          <a:bodyPr/>
          <a:lstStyle/>
          <a:p>
            <a:endParaRPr lang="en-US"/>
          </a:p>
        </p:txBody>
      </p:sp>
      <p:sp>
        <p:nvSpPr>
          <p:cNvPr id="75" name="Equity investment legend">
            <a:extLst>
              <a:ext uri="{FF2B5EF4-FFF2-40B4-BE49-F238E27FC236}">
                <a16:creationId xmlns:a16="http://schemas.microsoft.com/office/drawing/2014/main" id="{11C0E36A-93D9-46FC-A4E2-3F0F82A58993}"/>
              </a:ext>
            </a:extLst>
          </p:cNvPr>
          <p:cNvSpPr>
            <a:spLocks noGrp="1"/>
          </p:cNvSpPr>
          <p:nvPr/>
        </p:nvSpPr>
        <p:spPr>
          <a:xfrm>
            <a:off x="8136341" y="2565537"/>
            <a:ext cx="3397112" cy="247706"/>
          </a:xfrm>
          <a:prstGeom prst="rect">
            <a:avLst/>
          </a:prstGeom>
          <a:noFill/>
          <a:ln w="0">
            <a:noFill/>
            <a:prstDash val="solid"/>
          </a:ln>
        </p:spPr>
        <p:txBody>
          <a:bodyPr lIns="0" tIns="0" rIns="0" bIns="0" anchor="t"/>
          <a:lstStyle>
            <a:defPPr>
              <a:defRPr sz="1337" b="0">
                <a:solidFill>
                  <a:srgbClr val="444B4F"/>
                </a:solidFill>
                <a:latin typeface="Arial"/>
                <a:ea typeface="Arial"/>
                <a:cs typeface="Arial"/>
              </a:defRPr>
            </a:defPPr>
            <a:lvl1pPr>
              <a:defRPr sz="1337" b="0">
                <a:solidFill>
                  <a:srgbClr val="444B4F"/>
                </a:solidFill>
                <a:latin typeface="Arial"/>
                <a:ea typeface="Arial"/>
                <a:cs typeface="Arial"/>
              </a:defRPr>
            </a:lvl1pPr>
            <a:lvl2pPr>
              <a:defRPr sz="1337" b="0">
                <a:solidFill>
                  <a:srgbClr val="444B4F"/>
                </a:solidFill>
                <a:latin typeface="Arial"/>
                <a:ea typeface="Arial"/>
                <a:cs typeface="Arial"/>
              </a:defRPr>
            </a:lvl2pPr>
            <a:lvl3pPr>
              <a:defRPr sz="1337" b="0">
                <a:solidFill>
                  <a:srgbClr val="444B4F"/>
                </a:solidFill>
                <a:latin typeface="Arial"/>
                <a:ea typeface="Arial"/>
                <a:cs typeface="Arial"/>
              </a:defRPr>
            </a:lvl3pPr>
            <a:lvl4pPr>
              <a:defRPr sz="1337" b="0">
                <a:solidFill>
                  <a:srgbClr val="444B4F"/>
                </a:solidFill>
                <a:latin typeface="Arial"/>
                <a:ea typeface="Arial"/>
                <a:cs typeface="Arial"/>
              </a:defRPr>
            </a:lvl4pPr>
            <a:lvl5pPr>
              <a:defRPr sz="1337" b="0">
                <a:solidFill>
                  <a:srgbClr val="444B4F"/>
                </a:solidFill>
                <a:latin typeface="Arial"/>
                <a:ea typeface="Arial"/>
                <a:cs typeface="Arial"/>
              </a:defRPr>
            </a:lvl5pPr>
            <a:lvl6pPr>
              <a:defRPr sz="1337" b="0">
                <a:solidFill>
                  <a:srgbClr val="444B4F"/>
                </a:solidFill>
                <a:latin typeface="Arial"/>
                <a:ea typeface="Arial"/>
                <a:cs typeface="Arial"/>
              </a:defRPr>
            </a:lvl6pPr>
            <a:lvl7pPr>
              <a:defRPr sz="1337" b="0">
                <a:solidFill>
                  <a:srgbClr val="444B4F"/>
                </a:solidFill>
                <a:latin typeface="Arial"/>
                <a:ea typeface="Arial"/>
                <a:cs typeface="Arial"/>
              </a:defRPr>
            </a:lvl7pPr>
            <a:lvl8pPr>
              <a:defRPr sz="1337" b="0">
                <a:solidFill>
                  <a:srgbClr val="444B4F"/>
                </a:solidFill>
                <a:latin typeface="Arial"/>
                <a:ea typeface="Arial"/>
                <a:cs typeface="Arial"/>
              </a:defRPr>
            </a:lvl8pPr>
            <a:lvl9pPr>
              <a:defRPr sz="1337" b="0">
                <a:solidFill>
                  <a:srgbClr val="444B4F"/>
                </a:solidFill>
                <a:latin typeface="Arial"/>
                <a:ea typeface="Arial"/>
                <a:cs typeface="Arial"/>
              </a:defRPr>
            </a:lvl9pPr>
          </a:lstStyle>
          <a:p>
            <a:pPr>
              <a:defRPr sz="1337" b="0">
                <a:solidFill>
                  <a:srgbClr val="444B4F"/>
                </a:solidFill>
                <a:latin typeface="Arial"/>
                <a:ea typeface="Arial"/>
                <a:cs typeface="Arial"/>
              </a:defRPr>
            </a:pPr>
            <a:r>
              <a:rPr sz="1337" b="0">
                <a:solidFill>
                  <a:srgbClr val="444B4F"/>
                </a:solidFill>
                <a:latin typeface="Arial"/>
                <a:ea typeface="Arial"/>
                <a:cs typeface="Arial"/>
              </a:rPr>
              <a:t>Equity investment</a:t>
            </a:r>
          </a:p>
        </p:txBody>
      </p:sp>
      <p:sp>
        <p:nvSpPr>
          <p:cNvPr id="76" name="Revenue sharing color key">
            <a:extLst>
              <a:ext uri="{FF2B5EF4-FFF2-40B4-BE49-F238E27FC236}">
                <a16:creationId xmlns:a16="http://schemas.microsoft.com/office/drawing/2014/main" id="{FA0645BB-5492-4CAB-A08E-34BA6F2CE210}"/>
              </a:ext>
            </a:extLst>
          </p:cNvPr>
          <p:cNvSpPr>
            <a:spLocks noGrp="1"/>
          </p:cNvSpPr>
          <p:nvPr/>
        </p:nvSpPr>
        <p:spPr>
          <a:xfrm>
            <a:off x="7846171" y="2912325"/>
            <a:ext cx="162778" cy="162778"/>
          </a:xfrm>
          <a:prstGeom prst="rect">
            <a:avLst/>
          </a:prstGeom>
          <a:solidFill>
            <a:srgbClr val="B4B8BA"/>
          </a:solidFill>
          <a:ln w="0">
            <a:noFill/>
            <a:prstDash val="solid"/>
          </a:ln>
        </p:spPr>
        <p:txBody>
          <a:bodyPr/>
          <a:lstStyle/>
          <a:p>
            <a:endParaRPr lang="en-US"/>
          </a:p>
        </p:txBody>
      </p:sp>
      <p:sp>
        <p:nvSpPr>
          <p:cNvPr id="77" name="Revenue sharing legend">
            <a:extLst>
              <a:ext uri="{FF2B5EF4-FFF2-40B4-BE49-F238E27FC236}">
                <a16:creationId xmlns:a16="http://schemas.microsoft.com/office/drawing/2014/main" id="{03B70E0D-DA1F-4847-9F68-6665964C197F}"/>
              </a:ext>
            </a:extLst>
          </p:cNvPr>
          <p:cNvSpPr>
            <a:spLocks noGrp="1"/>
          </p:cNvSpPr>
          <p:nvPr/>
        </p:nvSpPr>
        <p:spPr>
          <a:xfrm>
            <a:off x="8136341" y="2891093"/>
            <a:ext cx="3397112" cy="247706"/>
          </a:xfrm>
          <a:prstGeom prst="rect">
            <a:avLst/>
          </a:prstGeom>
          <a:noFill/>
          <a:ln w="0">
            <a:noFill/>
            <a:prstDash val="solid"/>
          </a:ln>
        </p:spPr>
        <p:txBody>
          <a:bodyPr lIns="0" tIns="0" rIns="0" bIns="0" anchor="t"/>
          <a:lstStyle>
            <a:defPPr>
              <a:defRPr sz="1337" b="0">
                <a:solidFill>
                  <a:srgbClr val="444B4F"/>
                </a:solidFill>
                <a:latin typeface="Arial"/>
                <a:ea typeface="Arial"/>
                <a:cs typeface="Arial"/>
              </a:defRPr>
            </a:defPPr>
            <a:lvl1pPr>
              <a:defRPr sz="1337" b="0">
                <a:solidFill>
                  <a:srgbClr val="444B4F"/>
                </a:solidFill>
                <a:latin typeface="Arial"/>
                <a:ea typeface="Arial"/>
                <a:cs typeface="Arial"/>
              </a:defRPr>
            </a:lvl1pPr>
            <a:lvl2pPr>
              <a:defRPr sz="1337" b="0">
                <a:solidFill>
                  <a:srgbClr val="444B4F"/>
                </a:solidFill>
                <a:latin typeface="Arial"/>
                <a:ea typeface="Arial"/>
                <a:cs typeface="Arial"/>
              </a:defRPr>
            </a:lvl2pPr>
            <a:lvl3pPr>
              <a:defRPr sz="1337" b="0">
                <a:solidFill>
                  <a:srgbClr val="444B4F"/>
                </a:solidFill>
                <a:latin typeface="Arial"/>
                <a:ea typeface="Arial"/>
                <a:cs typeface="Arial"/>
              </a:defRPr>
            </a:lvl3pPr>
            <a:lvl4pPr>
              <a:defRPr sz="1337" b="0">
                <a:solidFill>
                  <a:srgbClr val="444B4F"/>
                </a:solidFill>
                <a:latin typeface="Arial"/>
                <a:ea typeface="Arial"/>
                <a:cs typeface="Arial"/>
              </a:defRPr>
            </a:lvl4pPr>
            <a:lvl5pPr>
              <a:defRPr sz="1337" b="0">
                <a:solidFill>
                  <a:srgbClr val="444B4F"/>
                </a:solidFill>
                <a:latin typeface="Arial"/>
                <a:ea typeface="Arial"/>
                <a:cs typeface="Arial"/>
              </a:defRPr>
            </a:lvl5pPr>
            <a:lvl6pPr>
              <a:defRPr sz="1337" b="0">
                <a:solidFill>
                  <a:srgbClr val="444B4F"/>
                </a:solidFill>
                <a:latin typeface="Arial"/>
                <a:ea typeface="Arial"/>
                <a:cs typeface="Arial"/>
              </a:defRPr>
            </a:lvl6pPr>
            <a:lvl7pPr>
              <a:defRPr sz="1337" b="0">
                <a:solidFill>
                  <a:srgbClr val="444B4F"/>
                </a:solidFill>
                <a:latin typeface="Arial"/>
                <a:ea typeface="Arial"/>
                <a:cs typeface="Arial"/>
              </a:defRPr>
            </a:lvl7pPr>
            <a:lvl8pPr>
              <a:defRPr sz="1337" b="0">
                <a:solidFill>
                  <a:srgbClr val="444B4F"/>
                </a:solidFill>
                <a:latin typeface="Arial"/>
                <a:ea typeface="Arial"/>
                <a:cs typeface="Arial"/>
              </a:defRPr>
            </a:lvl8pPr>
            <a:lvl9pPr>
              <a:defRPr sz="1337" b="0">
                <a:solidFill>
                  <a:srgbClr val="444B4F"/>
                </a:solidFill>
                <a:latin typeface="Arial"/>
                <a:ea typeface="Arial"/>
                <a:cs typeface="Arial"/>
              </a:defRPr>
            </a:lvl9pPr>
          </a:lstStyle>
          <a:p>
            <a:pPr>
              <a:defRPr sz="1337" b="0">
                <a:solidFill>
                  <a:srgbClr val="444B4F"/>
                </a:solidFill>
                <a:latin typeface="Arial"/>
                <a:ea typeface="Arial"/>
                <a:cs typeface="Arial"/>
              </a:defRPr>
            </a:pPr>
            <a:r>
              <a:rPr sz="1337" b="0">
                <a:solidFill>
                  <a:srgbClr val="444B4F"/>
                </a:solidFill>
                <a:latin typeface="Arial"/>
                <a:ea typeface="Arial"/>
                <a:cs typeface="Arial"/>
              </a:rPr>
              <a:t>Revenue sharing</a:t>
            </a:r>
          </a:p>
        </p:txBody>
      </p:sp>
      <p:sp>
        <p:nvSpPr>
          <p:cNvPr id="78" name="Panel divider">
            <a:extLst>
              <a:ext uri="{FF2B5EF4-FFF2-40B4-BE49-F238E27FC236}">
                <a16:creationId xmlns:a16="http://schemas.microsoft.com/office/drawing/2014/main" id="{E023F864-A516-4407-95FD-01ABA5E366E2}"/>
              </a:ext>
            </a:extLst>
          </p:cNvPr>
          <p:cNvSpPr>
            <a:spLocks noGrp="1"/>
          </p:cNvSpPr>
          <p:nvPr/>
        </p:nvSpPr>
        <p:spPr>
          <a:xfrm>
            <a:off x="7839094" y="3315732"/>
            <a:ext cx="3687282" cy="14155"/>
          </a:xfrm>
          <a:prstGeom prst="rect">
            <a:avLst/>
          </a:prstGeom>
          <a:solidFill>
            <a:srgbClr val="E2E7E8"/>
          </a:solidFill>
          <a:ln w="0">
            <a:noFill/>
            <a:prstDash val="solid"/>
          </a:ln>
        </p:spPr>
        <p:txBody>
          <a:bodyPr/>
          <a:lstStyle/>
          <a:p>
            <a:endParaRPr lang="en-US"/>
          </a:p>
        </p:txBody>
      </p:sp>
      <p:sp>
        <p:nvSpPr>
          <p:cNvPr id="79" name="Risk heading">
            <a:extLst>
              <a:ext uri="{FF2B5EF4-FFF2-40B4-BE49-F238E27FC236}">
                <a16:creationId xmlns:a16="http://schemas.microsoft.com/office/drawing/2014/main" id="{B043FD9D-94CE-49BA-B01F-D91EE737ED37}"/>
              </a:ext>
            </a:extLst>
          </p:cNvPr>
          <p:cNvSpPr>
            <a:spLocks noGrp="1"/>
          </p:cNvSpPr>
          <p:nvPr/>
        </p:nvSpPr>
        <p:spPr>
          <a:xfrm>
            <a:off x="7817862" y="3584670"/>
            <a:ext cx="3503271" cy="198165"/>
          </a:xfrm>
          <a:prstGeom prst="rect">
            <a:avLst/>
          </a:prstGeom>
          <a:noFill/>
          <a:ln w="0">
            <a:noFill/>
            <a:prstDash val="solid"/>
          </a:ln>
        </p:spPr>
        <p:txBody>
          <a:bodyPr lIns="0" tIns="0" rIns="0" bIns="0" anchor="t"/>
          <a:lstStyle>
            <a:defPPr>
              <a:defRPr sz="1115" b="1">
                <a:solidFill>
                  <a:srgbClr val="2E6A9D"/>
                </a:solidFill>
                <a:latin typeface="Arial"/>
                <a:ea typeface="Arial"/>
                <a:cs typeface="Arial"/>
              </a:defRPr>
            </a:defPPr>
            <a:lvl1pPr>
              <a:defRPr sz="1115" b="1">
                <a:solidFill>
                  <a:srgbClr val="2E6A9D"/>
                </a:solidFill>
                <a:latin typeface="Arial"/>
                <a:ea typeface="Arial"/>
                <a:cs typeface="Arial"/>
              </a:defRPr>
            </a:lvl1pPr>
            <a:lvl2pPr>
              <a:defRPr sz="1115" b="1">
                <a:solidFill>
                  <a:srgbClr val="2E6A9D"/>
                </a:solidFill>
                <a:latin typeface="Arial"/>
                <a:ea typeface="Arial"/>
                <a:cs typeface="Arial"/>
              </a:defRPr>
            </a:lvl2pPr>
            <a:lvl3pPr>
              <a:defRPr sz="1115" b="1">
                <a:solidFill>
                  <a:srgbClr val="2E6A9D"/>
                </a:solidFill>
                <a:latin typeface="Arial"/>
                <a:ea typeface="Arial"/>
                <a:cs typeface="Arial"/>
              </a:defRPr>
            </a:lvl3pPr>
            <a:lvl4pPr>
              <a:defRPr sz="1115" b="1">
                <a:solidFill>
                  <a:srgbClr val="2E6A9D"/>
                </a:solidFill>
                <a:latin typeface="Arial"/>
                <a:ea typeface="Arial"/>
                <a:cs typeface="Arial"/>
              </a:defRPr>
            </a:lvl4pPr>
            <a:lvl5pPr>
              <a:defRPr sz="1115" b="1">
                <a:solidFill>
                  <a:srgbClr val="2E6A9D"/>
                </a:solidFill>
                <a:latin typeface="Arial"/>
                <a:ea typeface="Arial"/>
                <a:cs typeface="Arial"/>
              </a:defRPr>
            </a:lvl5pPr>
            <a:lvl6pPr>
              <a:defRPr sz="1115" b="1">
                <a:solidFill>
                  <a:srgbClr val="2E6A9D"/>
                </a:solidFill>
                <a:latin typeface="Arial"/>
                <a:ea typeface="Arial"/>
                <a:cs typeface="Arial"/>
              </a:defRPr>
            </a:lvl6pPr>
            <a:lvl7pPr>
              <a:defRPr sz="1115" b="1">
                <a:solidFill>
                  <a:srgbClr val="2E6A9D"/>
                </a:solidFill>
                <a:latin typeface="Arial"/>
                <a:ea typeface="Arial"/>
                <a:cs typeface="Arial"/>
              </a:defRPr>
            </a:lvl7pPr>
            <a:lvl8pPr>
              <a:defRPr sz="1115" b="1">
                <a:solidFill>
                  <a:srgbClr val="2E6A9D"/>
                </a:solidFill>
                <a:latin typeface="Arial"/>
                <a:ea typeface="Arial"/>
                <a:cs typeface="Arial"/>
              </a:defRPr>
            </a:lvl8pPr>
            <a:lvl9pPr>
              <a:defRPr sz="1115" b="1">
                <a:solidFill>
                  <a:srgbClr val="2E6A9D"/>
                </a:solidFill>
                <a:latin typeface="Arial"/>
                <a:ea typeface="Arial"/>
                <a:cs typeface="Arial"/>
              </a:defRPr>
            </a:lvl9pPr>
          </a:lstStyle>
          <a:p>
            <a:pPr>
              <a:defRPr sz="1115" b="1">
                <a:solidFill>
                  <a:srgbClr val="2E6A9D"/>
                </a:solidFill>
                <a:latin typeface="Arial"/>
                <a:ea typeface="Arial"/>
                <a:cs typeface="Arial"/>
              </a:defRPr>
            </a:pPr>
            <a:r>
              <a:rPr sz="1115" b="1">
                <a:solidFill>
                  <a:srgbClr val="2E6A9D"/>
                </a:solidFill>
                <a:latin typeface="Arial"/>
                <a:ea typeface="Arial"/>
                <a:cs typeface="Arial"/>
              </a:rPr>
              <a:t>THE ECONOMIC RISK</a:t>
            </a:r>
          </a:p>
        </p:txBody>
      </p:sp>
      <p:sp>
        <p:nvSpPr>
          <p:cNvPr id="80" name="Risk title">
            <a:extLst>
              <a:ext uri="{FF2B5EF4-FFF2-40B4-BE49-F238E27FC236}">
                <a16:creationId xmlns:a16="http://schemas.microsoft.com/office/drawing/2014/main" id="{F6A9F8D4-29D3-424C-B3E4-76E54566DE54}"/>
              </a:ext>
            </a:extLst>
          </p:cNvPr>
          <p:cNvSpPr>
            <a:spLocks noGrp="1"/>
          </p:cNvSpPr>
          <p:nvPr/>
        </p:nvSpPr>
        <p:spPr>
          <a:xfrm>
            <a:off x="7817862" y="3973923"/>
            <a:ext cx="3609431" cy="396330"/>
          </a:xfrm>
          <a:prstGeom prst="rect">
            <a:avLst/>
          </a:prstGeom>
          <a:noFill/>
          <a:ln w="0">
            <a:noFill/>
            <a:prstDash val="solid"/>
          </a:ln>
        </p:spPr>
        <p:txBody>
          <a:bodyPr lIns="0" tIns="0" rIns="0" bIns="0" anchor="t"/>
          <a:lstStyle>
            <a:defPPr>
              <a:defRPr sz="2229" b="1">
                <a:solidFill>
                  <a:srgbClr val="12264B"/>
                </a:solidFill>
                <a:latin typeface="Georgia"/>
                <a:ea typeface="Georgia"/>
                <a:cs typeface="Georgia"/>
              </a:defRPr>
            </a:defPPr>
            <a:lvl1pPr>
              <a:defRPr sz="2229" b="1">
                <a:solidFill>
                  <a:srgbClr val="12264B"/>
                </a:solidFill>
                <a:latin typeface="Georgia"/>
                <a:ea typeface="Georgia"/>
                <a:cs typeface="Georgia"/>
              </a:defRPr>
            </a:lvl1pPr>
            <a:lvl2pPr>
              <a:defRPr sz="2229" b="1">
                <a:solidFill>
                  <a:srgbClr val="12264B"/>
                </a:solidFill>
                <a:latin typeface="Georgia"/>
                <a:ea typeface="Georgia"/>
                <a:cs typeface="Georgia"/>
              </a:defRPr>
            </a:lvl2pPr>
            <a:lvl3pPr>
              <a:defRPr sz="2229" b="1">
                <a:solidFill>
                  <a:srgbClr val="12264B"/>
                </a:solidFill>
                <a:latin typeface="Georgia"/>
                <a:ea typeface="Georgia"/>
                <a:cs typeface="Georgia"/>
              </a:defRPr>
            </a:lvl3pPr>
            <a:lvl4pPr>
              <a:defRPr sz="2229" b="1">
                <a:solidFill>
                  <a:srgbClr val="12264B"/>
                </a:solidFill>
                <a:latin typeface="Georgia"/>
                <a:ea typeface="Georgia"/>
                <a:cs typeface="Georgia"/>
              </a:defRPr>
            </a:lvl4pPr>
            <a:lvl5pPr>
              <a:defRPr sz="2229" b="1">
                <a:solidFill>
                  <a:srgbClr val="12264B"/>
                </a:solidFill>
                <a:latin typeface="Georgia"/>
                <a:ea typeface="Georgia"/>
                <a:cs typeface="Georgia"/>
              </a:defRPr>
            </a:lvl5pPr>
            <a:lvl6pPr>
              <a:defRPr sz="2229" b="1">
                <a:solidFill>
                  <a:srgbClr val="12264B"/>
                </a:solidFill>
                <a:latin typeface="Georgia"/>
                <a:ea typeface="Georgia"/>
                <a:cs typeface="Georgia"/>
              </a:defRPr>
            </a:lvl6pPr>
            <a:lvl7pPr>
              <a:defRPr sz="2229" b="1">
                <a:solidFill>
                  <a:srgbClr val="12264B"/>
                </a:solidFill>
                <a:latin typeface="Georgia"/>
                <a:ea typeface="Georgia"/>
                <a:cs typeface="Georgia"/>
              </a:defRPr>
            </a:lvl7pPr>
            <a:lvl8pPr>
              <a:defRPr sz="2229" b="1">
                <a:solidFill>
                  <a:srgbClr val="12264B"/>
                </a:solidFill>
                <a:latin typeface="Georgia"/>
                <a:ea typeface="Georgia"/>
                <a:cs typeface="Georgia"/>
              </a:defRPr>
            </a:lvl8pPr>
            <a:lvl9pPr>
              <a:defRPr sz="2229" b="1">
                <a:solidFill>
                  <a:srgbClr val="12264B"/>
                </a:solidFill>
                <a:latin typeface="Georgia"/>
                <a:ea typeface="Georgia"/>
                <a:cs typeface="Georgia"/>
              </a:defRPr>
            </a:lvl9pPr>
          </a:lstStyle>
          <a:p>
            <a:pPr>
              <a:defRPr sz="2229" b="1">
                <a:solidFill>
                  <a:srgbClr val="12264B"/>
                </a:solidFill>
                <a:latin typeface="Georgia"/>
                <a:ea typeface="Georgia"/>
                <a:cs typeface="Georgia"/>
              </a:defRPr>
            </a:pPr>
            <a:r>
              <a:rPr sz="2229" b="1">
                <a:solidFill>
                  <a:srgbClr val="12264B"/>
                </a:solidFill>
                <a:latin typeface="Georgia"/>
                <a:ea typeface="Georgia"/>
                <a:cs typeface="Georgia"/>
              </a:rPr>
              <a:t>Two ways to lose</a:t>
            </a:r>
          </a:p>
        </p:txBody>
      </p:sp>
      <p:sp>
        <p:nvSpPr>
          <p:cNvPr id="81" name="Risk explanation">
            <a:extLst>
              <a:ext uri="{FF2B5EF4-FFF2-40B4-BE49-F238E27FC236}">
                <a16:creationId xmlns:a16="http://schemas.microsoft.com/office/drawing/2014/main" id="{E9DC01DF-C535-4A88-9BC7-ED8B7D069572}"/>
              </a:ext>
            </a:extLst>
          </p:cNvPr>
          <p:cNvSpPr>
            <a:spLocks noGrp="1"/>
          </p:cNvSpPr>
          <p:nvPr/>
        </p:nvSpPr>
        <p:spPr>
          <a:xfrm>
            <a:off x="7832016" y="4419793"/>
            <a:ext cx="3666050" cy="474180"/>
          </a:xfrm>
          <a:prstGeom prst="rect">
            <a:avLst/>
          </a:prstGeom>
          <a:noFill/>
          <a:ln w="0">
            <a:noFill/>
            <a:prstDash val="solid"/>
          </a:ln>
        </p:spPr>
        <p:txBody>
          <a:bodyPr lIns="0" tIns="0" rIns="0" bIns="0" anchor="t"/>
          <a:lstStyle>
            <a:defPPr>
              <a:defRPr sz="1337" b="0">
                <a:solidFill>
                  <a:srgbClr val="7C858B"/>
                </a:solidFill>
                <a:latin typeface="Arial"/>
                <a:ea typeface="Arial"/>
                <a:cs typeface="Arial"/>
              </a:defRPr>
            </a:defPPr>
            <a:lvl1pPr>
              <a:defRPr sz="1337" b="0">
                <a:solidFill>
                  <a:srgbClr val="7C858B"/>
                </a:solidFill>
                <a:latin typeface="Arial"/>
                <a:ea typeface="Arial"/>
                <a:cs typeface="Arial"/>
              </a:defRPr>
            </a:lvl1pPr>
            <a:lvl2pPr>
              <a:defRPr sz="1337" b="0">
                <a:solidFill>
                  <a:srgbClr val="7C858B"/>
                </a:solidFill>
                <a:latin typeface="Arial"/>
                <a:ea typeface="Arial"/>
                <a:cs typeface="Arial"/>
              </a:defRPr>
            </a:lvl2pPr>
            <a:lvl3pPr>
              <a:defRPr sz="1337" b="0">
                <a:solidFill>
                  <a:srgbClr val="7C858B"/>
                </a:solidFill>
                <a:latin typeface="Arial"/>
                <a:ea typeface="Arial"/>
                <a:cs typeface="Arial"/>
              </a:defRPr>
            </a:lvl3pPr>
            <a:lvl4pPr>
              <a:defRPr sz="1337" b="0">
                <a:solidFill>
                  <a:srgbClr val="7C858B"/>
                </a:solidFill>
                <a:latin typeface="Arial"/>
                <a:ea typeface="Arial"/>
                <a:cs typeface="Arial"/>
              </a:defRPr>
            </a:lvl4pPr>
            <a:lvl5pPr>
              <a:defRPr sz="1337" b="0">
                <a:solidFill>
                  <a:srgbClr val="7C858B"/>
                </a:solidFill>
                <a:latin typeface="Arial"/>
                <a:ea typeface="Arial"/>
                <a:cs typeface="Arial"/>
              </a:defRPr>
            </a:lvl5pPr>
            <a:lvl6pPr>
              <a:defRPr sz="1337" b="0">
                <a:solidFill>
                  <a:srgbClr val="7C858B"/>
                </a:solidFill>
                <a:latin typeface="Arial"/>
                <a:ea typeface="Arial"/>
                <a:cs typeface="Arial"/>
              </a:defRPr>
            </a:lvl6pPr>
            <a:lvl7pPr>
              <a:defRPr sz="1337" b="0">
                <a:solidFill>
                  <a:srgbClr val="7C858B"/>
                </a:solidFill>
                <a:latin typeface="Arial"/>
                <a:ea typeface="Arial"/>
                <a:cs typeface="Arial"/>
              </a:defRPr>
            </a:lvl7pPr>
            <a:lvl8pPr>
              <a:defRPr sz="1337" b="0">
                <a:solidFill>
                  <a:srgbClr val="7C858B"/>
                </a:solidFill>
                <a:latin typeface="Arial"/>
                <a:ea typeface="Arial"/>
                <a:cs typeface="Arial"/>
              </a:defRPr>
            </a:lvl8pPr>
            <a:lvl9pPr>
              <a:defRPr sz="1337" b="0">
                <a:solidFill>
                  <a:srgbClr val="7C858B"/>
                </a:solidFill>
                <a:latin typeface="Arial"/>
                <a:ea typeface="Arial"/>
                <a:cs typeface="Arial"/>
              </a:defRPr>
            </a:lvl9pPr>
          </a:lstStyle>
          <a:p>
            <a:pPr>
              <a:defRPr sz="1337" b="0">
                <a:solidFill>
                  <a:srgbClr val="7C858B"/>
                </a:solidFill>
                <a:latin typeface="Arial"/>
                <a:ea typeface="Arial"/>
                <a:cs typeface="Arial"/>
              </a:defRPr>
            </a:pPr>
            <a:r>
              <a:rPr sz="1337" b="0">
                <a:solidFill>
                  <a:srgbClr val="7C858B"/>
                </a:solidFill>
                <a:latin typeface="Arial"/>
                <a:ea typeface="Arial"/>
                <a:cs typeface="Arial"/>
              </a:rPr>
              <a:t>When investment and procurement depend</a:t>
            </a:r>
          </a:p>
          <a:p>
            <a:pPr>
              <a:defRPr sz="1337" b="0">
                <a:solidFill>
                  <a:srgbClr val="7C858B"/>
                </a:solidFill>
                <a:latin typeface="Arial"/>
                <a:ea typeface="Arial"/>
                <a:cs typeface="Arial"/>
              </a:defRPr>
            </a:pPr>
            <a:r>
              <a:rPr sz="1337" b="0">
                <a:solidFill>
                  <a:srgbClr val="7C858B"/>
                </a:solidFill>
                <a:latin typeface="Arial"/>
                <a:ea typeface="Arial"/>
                <a:cs typeface="Arial"/>
              </a:rPr>
              <a:t>on the same expansion cycle:</a:t>
            </a:r>
          </a:p>
        </p:txBody>
      </p:sp>
      <p:sp>
        <p:nvSpPr>
          <p:cNvPr id="82" name="Risk accent">
            <a:extLst>
              <a:ext uri="{FF2B5EF4-FFF2-40B4-BE49-F238E27FC236}">
                <a16:creationId xmlns:a16="http://schemas.microsoft.com/office/drawing/2014/main" id="{3EA38A87-7714-4F21-8BAA-E2BCD9F738E7}"/>
              </a:ext>
            </a:extLst>
          </p:cNvPr>
          <p:cNvSpPr>
            <a:spLocks noGrp="1"/>
          </p:cNvSpPr>
          <p:nvPr/>
        </p:nvSpPr>
        <p:spPr>
          <a:xfrm>
            <a:off x="7839094" y="5127525"/>
            <a:ext cx="56619" cy="828046"/>
          </a:xfrm>
          <a:prstGeom prst="rect">
            <a:avLst/>
          </a:prstGeom>
          <a:solidFill>
            <a:srgbClr val="CDA379"/>
          </a:solidFill>
          <a:ln w="0">
            <a:noFill/>
            <a:prstDash val="solid"/>
          </a:ln>
        </p:spPr>
        <p:txBody>
          <a:bodyPr/>
          <a:lstStyle/>
          <a:p>
            <a:endParaRPr lang="en-US"/>
          </a:p>
        </p:txBody>
      </p:sp>
      <p:sp>
        <p:nvSpPr>
          <p:cNvPr id="83" name="Risk takeaway">
            <a:extLst>
              <a:ext uri="{FF2B5EF4-FFF2-40B4-BE49-F238E27FC236}">
                <a16:creationId xmlns:a16="http://schemas.microsoft.com/office/drawing/2014/main" id="{B7D86E31-4EBF-418B-A8CC-D54D7F0BADE6}"/>
              </a:ext>
            </a:extLst>
          </p:cNvPr>
          <p:cNvSpPr>
            <a:spLocks noGrp="1"/>
          </p:cNvSpPr>
          <p:nvPr/>
        </p:nvSpPr>
        <p:spPr>
          <a:xfrm>
            <a:off x="8037258" y="5247839"/>
            <a:ext cx="3680204" cy="778505"/>
          </a:xfrm>
          <a:prstGeom prst="rect">
            <a:avLst/>
          </a:prstGeom>
          <a:noFill/>
          <a:ln w="0">
            <a:noFill/>
            <a:prstDash val="solid"/>
          </a:ln>
        </p:spPr>
        <p:txBody>
          <a:bodyPr lIns="0" tIns="0" rIns="0" bIns="0" anchor="t"/>
          <a:lstStyle>
            <a:defPPr>
              <a:defRPr sz="1337" b="1">
                <a:solidFill>
                  <a:srgbClr val="12264B"/>
                </a:solidFill>
                <a:latin typeface="Arial"/>
                <a:ea typeface="Arial"/>
                <a:cs typeface="Arial"/>
              </a:defRPr>
            </a:defPPr>
            <a:lvl1pPr>
              <a:defRPr sz="1337" b="1">
                <a:solidFill>
                  <a:srgbClr val="12264B"/>
                </a:solidFill>
                <a:latin typeface="Arial"/>
                <a:ea typeface="Arial"/>
                <a:cs typeface="Arial"/>
              </a:defRPr>
            </a:lvl1pPr>
            <a:lvl2pPr>
              <a:defRPr sz="1337" b="1">
                <a:solidFill>
                  <a:srgbClr val="12264B"/>
                </a:solidFill>
                <a:latin typeface="Arial"/>
                <a:ea typeface="Arial"/>
                <a:cs typeface="Arial"/>
              </a:defRPr>
            </a:lvl2pPr>
            <a:lvl3pPr>
              <a:defRPr sz="1337" b="1">
                <a:solidFill>
                  <a:srgbClr val="12264B"/>
                </a:solidFill>
                <a:latin typeface="Arial"/>
                <a:ea typeface="Arial"/>
                <a:cs typeface="Arial"/>
              </a:defRPr>
            </a:lvl3pPr>
            <a:lvl4pPr>
              <a:defRPr sz="1337" b="1">
                <a:solidFill>
                  <a:srgbClr val="12264B"/>
                </a:solidFill>
                <a:latin typeface="Arial"/>
                <a:ea typeface="Arial"/>
                <a:cs typeface="Arial"/>
              </a:defRPr>
            </a:lvl4pPr>
            <a:lvl5pPr>
              <a:defRPr sz="1337" b="1">
                <a:solidFill>
                  <a:srgbClr val="12264B"/>
                </a:solidFill>
                <a:latin typeface="Arial"/>
                <a:ea typeface="Arial"/>
                <a:cs typeface="Arial"/>
              </a:defRPr>
            </a:lvl5pPr>
            <a:lvl6pPr>
              <a:defRPr sz="1337" b="1">
                <a:solidFill>
                  <a:srgbClr val="12264B"/>
                </a:solidFill>
                <a:latin typeface="Arial"/>
                <a:ea typeface="Arial"/>
                <a:cs typeface="Arial"/>
              </a:defRPr>
            </a:lvl6pPr>
            <a:lvl7pPr>
              <a:defRPr sz="1337" b="1">
                <a:solidFill>
                  <a:srgbClr val="12264B"/>
                </a:solidFill>
                <a:latin typeface="Arial"/>
                <a:ea typeface="Arial"/>
                <a:cs typeface="Arial"/>
              </a:defRPr>
            </a:lvl7pPr>
            <a:lvl8pPr>
              <a:defRPr sz="1337" b="1">
                <a:solidFill>
                  <a:srgbClr val="12264B"/>
                </a:solidFill>
                <a:latin typeface="Arial"/>
                <a:ea typeface="Arial"/>
                <a:cs typeface="Arial"/>
              </a:defRPr>
            </a:lvl8pPr>
            <a:lvl9pPr>
              <a:defRPr sz="1337" b="1">
                <a:solidFill>
                  <a:srgbClr val="12264B"/>
                </a:solidFill>
                <a:latin typeface="Arial"/>
                <a:ea typeface="Arial"/>
                <a:cs typeface="Arial"/>
              </a:defRPr>
            </a:lvl9pPr>
          </a:lstStyle>
          <a:p>
            <a:pPr>
              <a:defRPr sz="1337" b="1">
                <a:solidFill>
                  <a:srgbClr val="12264B"/>
                </a:solidFill>
                <a:latin typeface="Arial"/>
                <a:ea typeface="Arial"/>
                <a:cs typeface="Arial"/>
              </a:defRPr>
            </a:pPr>
            <a:r>
              <a:rPr sz="1337" b="1" dirty="0">
                <a:solidFill>
                  <a:srgbClr val="12264B"/>
                </a:solidFill>
                <a:latin typeface="Arial"/>
                <a:ea typeface="Arial"/>
                <a:cs typeface="Arial"/>
              </a:rPr>
              <a:t>A slowdown can reduce supplier revenue</a:t>
            </a:r>
          </a:p>
          <a:p>
            <a:pPr>
              <a:defRPr sz="1337" b="1">
                <a:solidFill>
                  <a:srgbClr val="12264B"/>
                </a:solidFill>
                <a:latin typeface="Arial"/>
                <a:ea typeface="Arial"/>
                <a:cs typeface="Arial"/>
              </a:defRPr>
            </a:pPr>
            <a:r>
              <a:rPr sz="1337" b="1" dirty="0">
                <a:solidFill>
                  <a:srgbClr val="12264B"/>
                </a:solidFill>
                <a:latin typeface="Arial"/>
                <a:ea typeface="Arial"/>
                <a:cs typeface="Arial"/>
              </a:rPr>
              <a:t>and the value of supplier-owned</a:t>
            </a:r>
          </a:p>
          <a:p>
            <a:pPr>
              <a:defRPr sz="1337" b="1">
                <a:solidFill>
                  <a:srgbClr val="12264B"/>
                </a:solidFill>
                <a:latin typeface="Arial"/>
                <a:ea typeface="Arial"/>
                <a:cs typeface="Arial"/>
              </a:defRPr>
            </a:pPr>
            <a:r>
              <a:rPr sz="1337" b="1" dirty="0">
                <a:solidFill>
                  <a:srgbClr val="12264B"/>
                </a:solidFill>
                <a:latin typeface="Arial"/>
                <a:ea typeface="Arial"/>
                <a:cs typeface="Arial"/>
              </a:rPr>
              <a:t>customer equity.</a:t>
            </a:r>
          </a:p>
        </p:txBody>
      </p:sp>
      <p:sp>
        <p:nvSpPr>
          <p:cNvPr id="1085" name="TextBox 2"/>
          <p:cNvSpPr txBox="1"/>
          <p:nvPr/>
        </p:nvSpPr>
        <p:spPr>
          <a:xfrm>
            <a:off x="457200" y="6492240"/>
            <a:ext cx="10698480" cy="146304"/>
          </a:xfrm>
          <a:prstGeom prst="rect">
            <a:avLst/>
          </a:prstGeom>
          <a:noFill/>
        </p:spPr>
        <p:txBody>
          <a:bodyPr wrap="square" lIns="0" tIns="0" rIns="0" bIns="0" anchor="t">
            <a:spAutoFit/>
          </a:bodyPr>
          <a:lstStyle/>
          <a:p>
            <a:pPr algn="l"/>
            <a:r>
              <a:rPr sz="770">
                <a:solidFill>
                  <a:srgbClr val="78838B"/>
                </a:solidFill>
                <a:latin typeface="Aptos"/>
              </a:rPr>
              <a:t>Source: WSJ / Jonathan Weil (Oct. 22, 2025), graphic citing Morgan Stanley; user-supplied exhibit.</a:t>
            </a:r>
          </a:p>
        </p:txBody>
      </p:sp>
      <p:sp>
        <p:nvSpPr>
          <p:cNvPr id="1086" name="TextBox 3"/>
          <p:cNvSpPr txBox="1"/>
          <p:nvPr/>
        </p:nvSpPr>
        <p:spPr>
          <a:xfrm>
            <a:off x="11292840" y="6473952"/>
            <a:ext cx="256032" cy="109728"/>
          </a:xfrm>
          <a:prstGeom prst="rect">
            <a:avLst/>
          </a:prstGeom>
          <a:noFill/>
        </p:spPr>
        <p:txBody>
          <a:bodyPr wrap="square" lIns="0" tIns="0" rIns="0" bIns="0" anchor="ctr">
            <a:spAutoFit/>
          </a:bodyPr>
          <a:lstStyle/>
          <a:p>
            <a:pPr algn="r"/>
            <a:r>
              <a:rPr sz="900">
                <a:solidFill>
                  <a:srgbClr val="5F6973"/>
                </a:solidFill>
                <a:latin typeface="Aptos"/>
              </a:rPr>
              <a:t>7</a:t>
            </a:r>
          </a:p>
        </p:txBody>
      </p:sp>
    </p:spTree>
    <p:extLst>
      <p:ext uri="{BB962C8B-B14F-4D97-AF65-F5344CB8AC3E}">
        <p14:creationId xmlns:p14="http://schemas.microsoft.com/office/powerpoint/2010/main" val="4013648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77824" y="192024"/>
            <a:ext cx="10927080" cy="438912"/>
          </a:xfrm>
          <a:prstGeom prst="rect">
            <a:avLst/>
          </a:prstGeom>
          <a:noFill/>
        </p:spPr>
        <p:txBody>
          <a:bodyPr wrap="square" lIns="13716" tIns="0" rIns="13716" bIns="0" anchor="ctr">
            <a:spAutoFit/>
          </a:bodyPr>
          <a:lstStyle/>
          <a:p>
            <a:pPr algn="l">
              <a:spcBef>
                <a:spcPts val="0"/>
              </a:spcBef>
              <a:spcAft>
                <a:spcPts val="0"/>
              </a:spcAft>
            </a:pPr>
            <a:r>
              <a:rPr sz="2570" b="1" i="0">
                <a:solidFill>
                  <a:srgbClr val="022169"/>
                </a:solidFill>
                <a:latin typeface="EB Garamond"/>
              </a:rPr>
              <a:t>Nvidia is backstopping demand for its own AI infrastructure</a:t>
            </a:r>
          </a:p>
        </p:txBody>
      </p:sp>
      <p:sp>
        <p:nvSpPr>
          <p:cNvPr id="3" name="TextBox 2"/>
          <p:cNvSpPr txBox="1"/>
          <p:nvPr/>
        </p:nvSpPr>
        <p:spPr>
          <a:xfrm>
            <a:off x="877824" y="813816"/>
            <a:ext cx="10698480" cy="292608"/>
          </a:xfrm>
          <a:prstGeom prst="rect">
            <a:avLst/>
          </a:prstGeom>
          <a:noFill/>
        </p:spPr>
        <p:txBody>
          <a:bodyPr wrap="square" lIns="13716" tIns="0" rIns="13716" bIns="0" anchor="ctr">
            <a:spAutoFit/>
          </a:bodyPr>
          <a:lstStyle/>
          <a:p>
            <a:pPr algn="l">
              <a:spcBef>
                <a:spcPts val="0"/>
              </a:spcBef>
              <a:spcAft>
                <a:spcPts val="0"/>
              </a:spcAft>
            </a:pPr>
            <a:r>
              <a:rPr sz="1470" b="0" i="0">
                <a:solidFill>
                  <a:srgbClr val="5D6974"/>
                </a:solidFill>
                <a:latin typeface="Aptos"/>
              </a:rPr>
              <a:t>Nvidia supports AI-cloud capacity and infrastructure through purchase commitments, leases and guarantees.</a:t>
            </a:r>
          </a:p>
        </p:txBody>
      </p:sp>
      <p:sp>
        <p:nvSpPr>
          <p:cNvPr id="4" name="TextBox 3"/>
          <p:cNvSpPr txBox="1"/>
          <p:nvPr/>
        </p:nvSpPr>
        <p:spPr>
          <a:xfrm>
            <a:off x="420624" y="6291072"/>
            <a:ext cx="11018520" cy="246888"/>
          </a:xfrm>
          <a:prstGeom prst="rect">
            <a:avLst/>
          </a:prstGeom>
          <a:noFill/>
        </p:spPr>
        <p:txBody>
          <a:bodyPr wrap="square" lIns="13716" tIns="0" rIns="13716" bIns="0" anchor="t">
            <a:spAutoFit/>
          </a:bodyPr>
          <a:lstStyle/>
          <a:p>
            <a:pPr algn="l">
              <a:spcBef>
                <a:spcPts val="0"/>
              </a:spcBef>
              <a:spcAft>
                <a:spcPts val="0"/>
              </a:spcAft>
            </a:pPr>
            <a:r>
              <a:rPr sz="745" b="0" i="0">
                <a:solidFill>
                  <a:srgbClr val="76808B"/>
                </a:solidFill>
                <a:latin typeface="Aptos"/>
              </a:rPr>
              <a:t>Source: Nvidia FY2027 Q2 Form 10-Q, Note 10 and MD&amp;A (Aug. 2026). $20B leases not commenced and intended for assignment; $108.5B maximum gross guarantees.</a:t>
            </a:r>
          </a:p>
        </p:txBody>
      </p:sp>
      <p:sp>
        <p:nvSpPr>
          <p:cNvPr id="5" name="TextBox 4"/>
          <p:cNvSpPr txBox="1"/>
          <p:nvPr/>
        </p:nvSpPr>
        <p:spPr>
          <a:xfrm>
            <a:off x="11365992" y="6464808"/>
            <a:ext cx="310896" cy="164592"/>
          </a:xfrm>
          <a:prstGeom prst="rect">
            <a:avLst/>
          </a:prstGeom>
          <a:noFill/>
        </p:spPr>
        <p:txBody>
          <a:bodyPr wrap="square" lIns="13716" tIns="0" rIns="13716" bIns="0" anchor="ctr">
            <a:spAutoFit/>
          </a:bodyPr>
          <a:lstStyle/>
          <a:p>
            <a:pPr algn="r">
              <a:spcBef>
                <a:spcPts val="0"/>
              </a:spcBef>
              <a:spcAft>
                <a:spcPts val="0"/>
              </a:spcAft>
            </a:pPr>
            <a:r>
              <a:rPr sz="900">
                <a:solidFill>
                  <a:srgbClr val="5F6973"/>
                </a:solidFill>
                <a:latin typeface="Aptos"/>
              </a:rPr>
              <a:t>8</a:t>
            </a:r>
          </a:p>
        </p:txBody>
      </p:sp>
      <p:sp>
        <p:nvSpPr>
          <p:cNvPr id="6" name="Rounded Rectangle 5"/>
          <p:cNvSpPr/>
          <p:nvPr/>
        </p:nvSpPr>
        <p:spPr>
          <a:xfrm>
            <a:off x="603504" y="1335024"/>
            <a:ext cx="3273552" cy="1335024"/>
          </a:xfrm>
          <a:prstGeom prst="roundRect">
            <a:avLst>
              <a:gd name="adj" fmla="val 12000"/>
            </a:avLst>
          </a:prstGeom>
          <a:solidFill>
            <a:srgbClr val="F0F7FB"/>
          </a:solidFill>
          <a:ln w="15875">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68096" y="1426464"/>
            <a:ext cx="2962656" cy="484632"/>
          </a:xfrm>
          <a:prstGeom prst="rect">
            <a:avLst/>
          </a:prstGeom>
          <a:noFill/>
        </p:spPr>
        <p:txBody>
          <a:bodyPr wrap="square" lIns="13716" tIns="0" rIns="13716" bIns="0" anchor="ctr">
            <a:spAutoFit/>
          </a:bodyPr>
          <a:lstStyle/>
          <a:p>
            <a:pPr algn="ctr">
              <a:spcBef>
                <a:spcPts val="0"/>
              </a:spcBef>
              <a:spcAft>
                <a:spcPts val="0"/>
              </a:spcAft>
            </a:pPr>
            <a:r>
              <a:rPr sz="3250" b="1" i="0">
                <a:solidFill>
                  <a:srgbClr val="0072CE"/>
                </a:solidFill>
                <a:latin typeface="EB Garamond"/>
              </a:rPr>
              <a:t>$36B</a:t>
            </a:r>
          </a:p>
        </p:txBody>
      </p:sp>
      <p:sp>
        <p:nvSpPr>
          <p:cNvPr id="8" name="TextBox 7"/>
          <p:cNvSpPr txBox="1"/>
          <p:nvPr/>
        </p:nvSpPr>
        <p:spPr>
          <a:xfrm>
            <a:off x="713232" y="1938528"/>
            <a:ext cx="3054096" cy="283464"/>
          </a:xfrm>
          <a:prstGeom prst="rect">
            <a:avLst/>
          </a:prstGeom>
          <a:noFill/>
        </p:spPr>
        <p:txBody>
          <a:bodyPr wrap="square" lIns="13716" tIns="0" rIns="13716" bIns="0" anchor="ctr">
            <a:spAutoFit/>
          </a:bodyPr>
          <a:lstStyle/>
          <a:p>
            <a:pPr algn="ctr">
              <a:spcBef>
                <a:spcPts val="0"/>
              </a:spcBef>
              <a:spcAft>
                <a:spcPts val="0"/>
              </a:spcAft>
            </a:pPr>
            <a:r>
              <a:rPr sz="1430" b="1" i="0">
                <a:solidFill>
                  <a:srgbClr val="022169"/>
                </a:solidFill>
                <a:latin typeface="EB Garamond"/>
              </a:rPr>
              <a:t>AI-cloud offtake</a:t>
            </a:r>
          </a:p>
        </p:txBody>
      </p:sp>
      <p:sp>
        <p:nvSpPr>
          <p:cNvPr id="9" name="TextBox 8"/>
          <p:cNvSpPr txBox="1"/>
          <p:nvPr/>
        </p:nvSpPr>
        <p:spPr>
          <a:xfrm>
            <a:off x="694944" y="2286000"/>
            <a:ext cx="3108960" cy="219456"/>
          </a:xfrm>
          <a:prstGeom prst="rect">
            <a:avLst/>
          </a:prstGeom>
          <a:noFill/>
        </p:spPr>
        <p:txBody>
          <a:bodyPr wrap="square" lIns="13716" tIns="0" rIns="13716" bIns="0" anchor="ctr">
            <a:spAutoFit/>
          </a:bodyPr>
          <a:lstStyle/>
          <a:p>
            <a:pPr algn="ctr">
              <a:spcBef>
                <a:spcPts val="0"/>
              </a:spcBef>
              <a:spcAft>
                <a:spcPts val="0"/>
              </a:spcAft>
            </a:pPr>
            <a:r>
              <a:rPr sz="1050" b="0" i="0">
                <a:solidFill>
                  <a:srgbClr val="5D6974"/>
                </a:solidFill>
                <a:latin typeface="Aptos"/>
              </a:rPr>
              <a:t>Cloud capacity commitments, Jul. 2026</a:t>
            </a:r>
          </a:p>
        </p:txBody>
      </p:sp>
      <p:sp>
        <p:nvSpPr>
          <p:cNvPr id="10" name="Rounded Rectangle 9"/>
          <p:cNvSpPr/>
          <p:nvPr/>
        </p:nvSpPr>
        <p:spPr>
          <a:xfrm>
            <a:off x="4462272" y="1335024"/>
            <a:ext cx="3273552" cy="1335024"/>
          </a:xfrm>
          <a:prstGeom prst="roundRect">
            <a:avLst>
              <a:gd name="adj" fmla="val 12000"/>
            </a:avLst>
          </a:prstGeom>
          <a:solidFill>
            <a:srgbClr val="F0F7FB"/>
          </a:solidFill>
          <a:ln w="15875">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626864" y="1426464"/>
            <a:ext cx="2962656" cy="484632"/>
          </a:xfrm>
          <a:prstGeom prst="rect">
            <a:avLst/>
          </a:prstGeom>
          <a:noFill/>
        </p:spPr>
        <p:txBody>
          <a:bodyPr wrap="square" lIns="13716" tIns="0" rIns="13716" bIns="0" anchor="ctr">
            <a:spAutoFit/>
          </a:bodyPr>
          <a:lstStyle/>
          <a:p>
            <a:pPr algn="ctr">
              <a:spcBef>
                <a:spcPts val="0"/>
              </a:spcBef>
              <a:spcAft>
                <a:spcPts val="0"/>
              </a:spcAft>
            </a:pPr>
            <a:r>
              <a:rPr sz="3250" b="1" i="0">
                <a:solidFill>
                  <a:srgbClr val="0072CE"/>
                </a:solidFill>
                <a:latin typeface="EB Garamond"/>
              </a:rPr>
              <a:t>$20B</a:t>
            </a:r>
          </a:p>
        </p:txBody>
      </p:sp>
      <p:sp>
        <p:nvSpPr>
          <p:cNvPr id="12" name="TextBox 11"/>
          <p:cNvSpPr txBox="1"/>
          <p:nvPr/>
        </p:nvSpPr>
        <p:spPr>
          <a:xfrm>
            <a:off x="4572000" y="1938528"/>
            <a:ext cx="3054096" cy="283464"/>
          </a:xfrm>
          <a:prstGeom prst="rect">
            <a:avLst/>
          </a:prstGeom>
          <a:noFill/>
        </p:spPr>
        <p:txBody>
          <a:bodyPr wrap="square" lIns="13716" tIns="0" rIns="13716" bIns="0" anchor="ctr">
            <a:spAutoFit/>
          </a:bodyPr>
          <a:lstStyle/>
          <a:p>
            <a:pPr algn="ctr">
              <a:spcBef>
                <a:spcPts val="0"/>
              </a:spcBef>
              <a:spcAft>
                <a:spcPts val="0"/>
              </a:spcAft>
            </a:pPr>
            <a:r>
              <a:rPr sz="1400" b="1" i="0">
                <a:solidFill>
                  <a:srgbClr val="022169"/>
                </a:solidFill>
                <a:latin typeface="EB Garamond"/>
              </a:rPr>
              <a:t>Third-party data-center leases</a:t>
            </a:r>
          </a:p>
        </p:txBody>
      </p:sp>
      <p:sp>
        <p:nvSpPr>
          <p:cNvPr id="13" name="TextBox 12"/>
          <p:cNvSpPr txBox="1"/>
          <p:nvPr/>
        </p:nvSpPr>
        <p:spPr>
          <a:xfrm>
            <a:off x="4553712" y="2286000"/>
            <a:ext cx="3108960" cy="219456"/>
          </a:xfrm>
          <a:prstGeom prst="rect">
            <a:avLst/>
          </a:prstGeom>
          <a:noFill/>
        </p:spPr>
        <p:txBody>
          <a:bodyPr wrap="square" lIns="13716" tIns="0" rIns="13716" bIns="0" anchor="ctr">
            <a:spAutoFit/>
          </a:bodyPr>
          <a:lstStyle/>
          <a:p>
            <a:pPr algn="ctr">
              <a:spcBef>
                <a:spcPts val="0"/>
              </a:spcBef>
              <a:spcAft>
                <a:spcPts val="0"/>
              </a:spcAft>
            </a:pPr>
            <a:r>
              <a:rPr sz="1000" b="0" i="0">
                <a:solidFill>
                  <a:srgbClr val="5D6974"/>
                </a:solidFill>
                <a:latin typeface="Aptos"/>
              </a:rPr>
              <a:t>Not started; intended to be reassigned</a:t>
            </a:r>
          </a:p>
        </p:txBody>
      </p:sp>
      <p:sp>
        <p:nvSpPr>
          <p:cNvPr id="14" name="Rounded Rectangle 13"/>
          <p:cNvSpPr/>
          <p:nvPr/>
        </p:nvSpPr>
        <p:spPr>
          <a:xfrm>
            <a:off x="8302752" y="1335024"/>
            <a:ext cx="3273552" cy="1335024"/>
          </a:xfrm>
          <a:prstGeom prst="roundRect">
            <a:avLst>
              <a:gd name="adj" fmla="val 12000"/>
            </a:avLst>
          </a:prstGeom>
          <a:solidFill>
            <a:srgbClr val="F0F7FB"/>
          </a:solidFill>
          <a:ln w="15875">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467344" y="1426464"/>
            <a:ext cx="2962656" cy="484632"/>
          </a:xfrm>
          <a:prstGeom prst="rect">
            <a:avLst/>
          </a:prstGeom>
          <a:noFill/>
        </p:spPr>
        <p:txBody>
          <a:bodyPr wrap="square" lIns="13716" tIns="0" rIns="13716" bIns="0" anchor="ctr">
            <a:spAutoFit/>
          </a:bodyPr>
          <a:lstStyle/>
          <a:p>
            <a:pPr algn="ctr">
              <a:spcBef>
                <a:spcPts val="0"/>
              </a:spcBef>
              <a:spcAft>
                <a:spcPts val="0"/>
              </a:spcAft>
            </a:pPr>
            <a:r>
              <a:rPr sz="3150" b="1" i="0">
                <a:solidFill>
                  <a:srgbClr val="0072CE"/>
                </a:solidFill>
                <a:latin typeface="EB Garamond"/>
              </a:rPr>
              <a:t>$108.5B</a:t>
            </a:r>
          </a:p>
        </p:txBody>
      </p:sp>
      <p:sp>
        <p:nvSpPr>
          <p:cNvPr id="16" name="TextBox 15"/>
          <p:cNvSpPr txBox="1"/>
          <p:nvPr/>
        </p:nvSpPr>
        <p:spPr>
          <a:xfrm>
            <a:off x="8412480" y="1938528"/>
            <a:ext cx="3054096" cy="283464"/>
          </a:xfrm>
          <a:prstGeom prst="rect">
            <a:avLst/>
          </a:prstGeom>
          <a:noFill/>
        </p:spPr>
        <p:txBody>
          <a:bodyPr wrap="square" lIns="13716" tIns="0" rIns="13716" bIns="0" anchor="ctr">
            <a:spAutoFit/>
          </a:bodyPr>
          <a:lstStyle/>
          <a:p>
            <a:pPr algn="ctr">
              <a:spcBef>
                <a:spcPts val="0"/>
              </a:spcBef>
              <a:spcAft>
                <a:spcPts val="0"/>
              </a:spcAft>
            </a:pPr>
            <a:r>
              <a:rPr sz="1400" b="1" i="0">
                <a:solidFill>
                  <a:srgbClr val="022169"/>
                </a:solidFill>
                <a:latin typeface="EB Garamond"/>
              </a:rPr>
              <a:t>Gross contingent guarantees</a:t>
            </a:r>
          </a:p>
        </p:txBody>
      </p:sp>
      <p:sp>
        <p:nvSpPr>
          <p:cNvPr id="17" name="TextBox 16"/>
          <p:cNvSpPr txBox="1"/>
          <p:nvPr/>
        </p:nvSpPr>
        <p:spPr>
          <a:xfrm>
            <a:off x="8394192" y="2286000"/>
            <a:ext cx="3108960" cy="219456"/>
          </a:xfrm>
          <a:prstGeom prst="rect">
            <a:avLst/>
          </a:prstGeom>
          <a:noFill/>
        </p:spPr>
        <p:txBody>
          <a:bodyPr wrap="square" lIns="13716" tIns="0" rIns="13716" bIns="0" anchor="ctr">
            <a:spAutoFit/>
          </a:bodyPr>
          <a:lstStyle/>
          <a:p>
            <a:pPr algn="ctr">
              <a:spcBef>
                <a:spcPts val="0"/>
              </a:spcBef>
              <a:spcAft>
                <a:spcPts val="0"/>
              </a:spcAft>
            </a:pPr>
            <a:r>
              <a:rPr sz="980" b="0" i="0">
                <a:solidFill>
                  <a:srgbClr val="5D6974"/>
                </a:solidFill>
                <a:latin typeface="Aptos"/>
              </a:rPr>
              <a:t>$105B SB Energy + $3.5B other AI clouds</a:t>
            </a:r>
          </a:p>
        </p:txBody>
      </p:sp>
      <p:sp>
        <p:nvSpPr>
          <p:cNvPr id="18" name="Rounded Rectangle 17"/>
          <p:cNvSpPr/>
          <p:nvPr/>
        </p:nvSpPr>
        <p:spPr>
          <a:xfrm>
            <a:off x="603504" y="2852928"/>
            <a:ext cx="5468112" cy="2276856"/>
          </a:xfrm>
          <a:prstGeom prst="roundRect">
            <a:avLst>
              <a:gd name="adj" fmla="val 12000"/>
            </a:avLst>
          </a:prstGeom>
          <a:solidFill>
            <a:srgbClr val="FFFFFF"/>
          </a:solidFill>
          <a:ln w="1524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6272784" y="2852928"/>
            <a:ext cx="5303520" cy="2276856"/>
          </a:xfrm>
          <a:prstGeom prst="roundRect">
            <a:avLst>
              <a:gd name="adj" fmla="val 12000"/>
            </a:avLst>
          </a:prstGeom>
          <a:solidFill>
            <a:srgbClr val="FFFFFF"/>
          </a:solidFill>
          <a:ln w="1524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50392" y="2999232"/>
            <a:ext cx="4846320" cy="246888"/>
          </a:xfrm>
          <a:prstGeom prst="rect">
            <a:avLst/>
          </a:prstGeom>
          <a:noFill/>
        </p:spPr>
        <p:txBody>
          <a:bodyPr wrap="square" lIns="13716" tIns="0" rIns="13716" bIns="0" anchor="ctr">
            <a:spAutoFit/>
          </a:bodyPr>
          <a:lstStyle/>
          <a:p>
            <a:pPr algn="l">
              <a:spcBef>
                <a:spcPts val="0"/>
              </a:spcBef>
              <a:spcAft>
                <a:spcPts val="0"/>
              </a:spcAft>
            </a:pPr>
            <a:r>
              <a:rPr sz="1500" b="1" i="0">
                <a:solidFill>
                  <a:srgbClr val="022169"/>
                </a:solidFill>
                <a:latin typeface="EB Garamond"/>
              </a:rPr>
              <a:t>1  COMPUTE-CAPACITY BACKSTOP</a:t>
            </a:r>
          </a:p>
        </p:txBody>
      </p:sp>
      <p:sp>
        <p:nvSpPr>
          <p:cNvPr id="21" name="TextBox 20"/>
          <p:cNvSpPr txBox="1"/>
          <p:nvPr/>
        </p:nvSpPr>
        <p:spPr>
          <a:xfrm>
            <a:off x="6528816" y="2999232"/>
            <a:ext cx="4846320" cy="246888"/>
          </a:xfrm>
          <a:prstGeom prst="rect">
            <a:avLst/>
          </a:prstGeom>
          <a:noFill/>
        </p:spPr>
        <p:txBody>
          <a:bodyPr wrap="square" lIns="13716" tIns="0" rIns="13716" bIns="0" anchor="ctr">
            <a:spAutoFit/>
          </a:bodyPr>
          <a:lstStyle/>
          <a:p>
            <a:pPr algn="l">
              <a:spcBef>
                <a:spcPts val="0"/>
              </a:spcBef>
              <a:spcAft>
                <a:spcPts val="0"/>
              </a:spcAft>
            </a:pPr>
            <a:r>
              <a:rPr sz="1470" b="1" i="0">
                <a:solidFill>
                  <a:srgbClr val="022169"/>
                </a:solidFill>
                <a:latin typeface="EB Garamond"/>
              </a:rPr>
              <a:t>2  INFRASTRUCTURE CREDIT BACKSTOP</a:t>
            </a:r>
          </a:p>
        </p:txBody>
      </p:sp>
      <p:sp>
        <p:nvSpPr>
          <p:cNvPr id="22" name="Rounded Rectangle 21"/>
          <p:cNvSpPr/>
          <p:nvPr/>
        </p:nvSpPr>
        <p:spPr>
          <a:xfrm>
            <a:off x="896112" y="3447288"/>
            <a:ext cx="1252728" cy="576072"/>
          </a:xfrm>
          <a:prstGeom prst="roundRect">
            <a:avLst>
              <a:gd name="adj" fmla="val 12000"/>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0976" y="3538728"/>
            <a:ext cx="1161288" cy="320040"/>
          </a:xfrm>
          <a:prstGeom prst="rect">
            <a:avLst/>
          </a:prstGeom>
          <a:noFill/>
        </p:spPr>
        <p:txBody>
          <a:bodyPr wrap="square" lIns="13716" tIns="0" rIns="13716" bIns="0" anchor="ctr">
            <a:spAutoFit/>
          </a:bodyPr>
          <a:lstStyle/>
          <a:p>
            <a:pPr algn="ctr">
              <a:spcBef>
                <a:spcPts val="0"/>
              </a:spcBef>
              <a:spcAft>
                <a:spcPts val="0"/>
              </a:spcAft>
            </a:pPr>
            <a:r>
              <a:rPr sz="1160" b="1" i="0">
                <a:solidFill>
                  <a:srgbClr val="022169"/>
                </a:solidFill>
                <a:latin typeface="EB Garamond"/>
              </a:rPr>
              <a:t>Nvidia</a:t>
            </a:r>
          </a:p>
          <a:p>
            <a:pPr algn="ctr">
              <a:spcBef>
                <a:spcPts val="0"/>
              </a:spcBef>
              <a:spcAft>
                <a:spcPts val="0"/>
              </a:spcAft>
            </a:pPr>
            <a:r>
              <a:rPr sz="1160" b="1" i="0">
                <a:solidFill>
                  <a:srgbClr val="022169"/>
                </a:solidFill>
                <a:latin typeface="EB Garamond"/>
              </a:rPr>
              <a:t>GPU systems</a:t>
            </a:r>
          </a:p>
        </p:txBody>
      </p:sp>
      <p:sp>
        <p:nvSpPr>
          <p:cNvPr id="24" name="TextBox 23"/>
          <p:cNvSpPr txBox="1"/>
          <p:nvPr/>
        </p:nvSpPr>
        <p:spPr>
          <a:xfrm>
            <a:off x="2221992" y="3584448"/>
            <a:ext cx="384048" cy="338328"/>
          </a:xfrm>
          <a:prstGeom prst="rect">
            <a:avLst/>
          </a:prstGeom>
          <a:noFill/>
        </p:spPr>
        <p:txBody>
          <a:bodyPr wrap="square" lIns="13716" tIns="0" rIns="13716" bIns="0" anchor="ctr">
            <a:spAutoFit/>
          </a:bodyPr>
          <a:lstStyle/>
          <a:p>
            <a:pPr algn="ctr">
              <a:spcBef>
                <a:spcPts val="0"/>
              </a:spcBef>
              <a:spcAft>
                <a:spcPts val="0"/>
              </a:spcAft>
            </a:pPr>
            <a:r>
              <a:rPr sz="2300" b="1" i="0">
                <a:solidFill>
                  <a:srgbClr val="0072CE"/>
                </a:solidFill>
                <a:latin typeface="EB Garamond"/>
              </a:rPr>
              <a:t>→</a:t>
            </a:r>
          </a:p>
        </p:txBody>
      </p:sp>
      <p:sp>
        <p:nvSpPr>
          <p:cNvPr id="25" name="Rounded Rectangle 24"/>
          <p:cNvSpPr/>
          <p:nvPr/>
        </p:nvSpPr>
        <p:spPr>
          <a:xfrm>
            <a:off x="2688336" y="3447288"/>
            <a:ext cx="1252728" cy="576072"/>
          </a:xfrm>
          <a:prstGeom prst="roundRect">
            <a:avLst>
              <a:gd name="adj" fmla="val 12000"/>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2734056" y="3538728"/>
            <a:ext cx="1161288" cy="320040"/>
          </a:xfrm>
          <a:prstGeom prst="rect">
            <a:avLst/>
          </a:prstGeom>
          <a:noFill/>
        </p:spPr>
        <p:txBody>
          <a:bodyPr wrap="square" lIns="13716" tIns="0" rIns="13716" bIns="0" anchor="ctr">
            <a:spAutoFit/>
          </a:bodyPr>
          <a:lstStyle/>
          <a:p>
            <a:pPr algn="ctr">
              <a:spcBef>
                <a:spcPts val="0"/>
              </a:spcBef>
              <a:spcAft>
                <a:spcPts val="0"/>
              </a:spcAft>
            </a:pPr>
            <a:r>
              <a:rPr sz="1160" b="1" i="0">
                <a:solidFill>
                  <a:srgbClr val="022169"/>
                </a:solidFill>
                <a:latin typeface="EB Garamond"/>
              </a:rPr>
              <a:t>AI cloud</a:t>
            </a:r>
          </a:p>
          <a:p>
            <a:pPr algn="ctr">
              <a:spcBef>
                <a:spcPts val="0"/>
              </a:spcBef>
              <a:spcAft>
                <a:spcPts val="0"/>
              </a:spcAft>
            </a:pPr>
            <a:r>
              <a:rPr sz="1160" b="1" i="0">
                <a:solidFill>
                  <a:srgbClr val="022169"/>
                </a:solidFill>
                <a:latin typeface="EB Garamond"/>
              </a:rPr>
              <a:t>buildout</a:t>
            </a:r>
          </a:p>
        </p:txBody>
      </p:sp>
      <p:sp>
        <p:nvSpPr>
          <p:cNvPr id="27" name="TextBox 26"/>
          <p:cNvSpPr txBox="1"/>
          <p:nvPr/>
        </p:nvSpPr>
        <p:spPr>
          <a:xfrm>
            <a:off x="4014215" y="3584448"/>
            <a:ext cx="384048" cy="338328"/>
          </a:xfrm>
          <a:prstGeom prst="rect">
            <a:avLst/>
          </a:prstGeom>
          <a:noFill/>
        </p:spPr>
        <p:txBody>
          <a:bodyPr wrap="square" lIns="13716" tIns="0" rIns="13716" bIns="0" anchor="ctr">
            <a:spAutoFit/>
          </a:bodyPr>
          <a:lstStyle/>
          <a:p>
            <a:pPr algn="ctr">
              <a:spcBef>
                <a:spcPts val="0"/>
              </a:spcBef>
              <a:spcAft>
                <a:spcPts val="0"/>
              </a:spcAft>
            </a:pPr>
            <a:r>
              <a:rPr sz="2300" b="1" i="0">
                <a:solidFill>
                  <a:srgbClr val="0072CE"/>
                </a:solidFill>
                <a:latin typeface="EB Garamond"/>
              </a:rPr>
              <a:t>→</a:t>
            </a:r>
          </a:p>
        </p:txBody>
      </p:sp>
      <p:sp>
        <p:nvSpPr>
          <p:cNvPr id="28" name="Rounded Rectangle 27"/>
          <p:cNvSpPr/>
          <p:nvPr/>
        </p:nvSpPr>
        <p:spPr>
          <a:xfrm>
            <a:off x="4480560" y="3447288"/>
            <a:ext cx="1234440" cy="576072"/>
          </a:xfrm>
          <a:prstGeom prst="roundRect">
            <a:avLst>
              <a:gd name="adj" fmla="val 12000"/>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526280" y="3538728"/>
            <a:ext cx="1143000" cy="320040"/>
          </a:xfrm>
          <a:prstGeom prst="rect">
            <a:avLst/>
          </a:prstGeom>
          <a:noFill/>
        </p:spPr>
        <p:txBody>
          <a:bodyPr wrap="square" lIns="13716" tIns="0" rIns="13716" bIns="0" anchor="ctr">
            <a:spAutoFit/>
          </a:bodyPr>
          <a:lstStyle/>
          <a:p>
            <a:pPr algn="ctr">
              <a:spcBef>
                <a:spcPts val="0"/>
              </a:spcBef>
              <a:spcAft>
                <a:spcPts val="0"/>
              </a:spcAft>
            </a:pPr>
            <a:r>
              <a:rPr sz="1135" b="1" i="0">
                <a:solidFill>
                  <a:srgbClr val="022169"/>
                </a:solidFill>
                <a:latin typeface="EB Garamond"/>
              </a:rPr>
              <a:t>Third-party</a:t>
            </a:r>
          </a:p>
          <a:p>
            <a:pPr algn="ctr">
              <a:spcBef>
                <a:spcPts val="0"/>
              </a:spcBef>
              <a:spcAft>
                <a:spcPts val="0"/>
              </a:spcAft>
            </a:pPr>
            <a:r>
              <a:rPr sz="1135" b="1" i="0">
                <a:solidFill>
                  <a:srgbClr val="022169"/>
                </a:solidFill>
                <a:latin typeface="EB Garamond"/>
              </a:rPr>
              <a:t>compute users</a:t>
            </a:r>
          </a:p>
        </p:txBody>
      </p:sp>
      <p:sp>
        <p:nvSpPr>
          <p:cNvPr id="30" name="Rounded Rectangle 29"/>
          <p:cNvSpPr/>
          <p:nvPr/>
        </p:nvSpPr>
        <p:spPr>
          <a:xfrm>
            <a:off x="896112" y="4251960"/>
            <a:ext cx="4864608" cy="557784"/>
          </a:xfrm>
          <a:prstGeom prst="roundRect">
            <a:avLst>
              <a:gd name="adj" fmla="val 12000"/>
            </a:avLst>
          </a:prstGeom>
          <a:solidFill>
            <a:srgbClr val="F0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87552" y="4334256"/>
            <a:ext cx="4672584" cy="393192"/>
          </a:xfrm>
          <a:prstGeom prst="rect">
            <a:avLst/>
          </a:prstGeom>
          <a:noFill/>
        </p:spPr>
        <p:txBody>
          <a:bodyPr wrap="square" lIns="13716" tIns="0" rIns="13716" bIns="0" anchor="ctr">
            <a:spAutoFit/>
          </a:bodyPr>
          <a:lstStyle/>
          <a:p>
            <a:pPr algn="ctr">
              <a:spcBef>
                <a:spcPts val="0"/>
              </a:spcBef>
              <a:spcAft>
                <a:spcPts val="0"/>
              </a:spcAft>
            </a:pPr>
            <a:r>
              <a:rPr sz="1250" b="1" i="0">
                <a:solidFill>
                  <a:srgbClr val="022169"/>
                </a:solidFill>
                <a:latin typeface="EB Garamond"/>
              </a:rPr>
              <a:t>If capacity is not sold to third parties, Nvidia purchases it.
Exposure falls as third-party demand or internal usage rises.</a:t>
            </a:r>
          </a:p>
        </p:txBody>
      </p:sp>
      <p:sp>
        <p:nvSpPr>
          <p:cNvPr id="32" name="Rounded Rectangle 31"/>
          <p:cNvSpPr/>
          <p:nvPr/>
        </p:nvSpPr>
        <p:spPr>
          <a:xfrm>
            <a:off x="6547104" y="3447288"/>
            <a:ext cx="1243584" cy="576072"/>
          </a:xfrm>
          <a:prstGeom prst="roundRect">
            <a:avLst>
              <a:gd name="adj" fmla="val 12000"/>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92824" y="3538728"/>
            <a:ext cx="1143000" cy="320040"/>
          </a:xfrm>
          <a:prstGeom prst="rect">
            <a:avLst/>
          </a:prstGeom>
          <a:noFill/>
        </p:spPr>
        <p:txBody>
          <a:bodyPr wrap="square" lIns="13716" tIns="0" rIns="13716" bIns="0" anchor="ctr">
            <a:spAutoFit/>
          </a:bodyPr>
          <a:lstStyle/>
          <a:p>
            <a:pPr algn="ctr">
              <a:spcBef>
                <a:spcPts val="0"/>
              </a:spcBef>
              <a:spcAft>
                <a:spcPts val="0"/>
              </a:spcAft>
            </a:pPr>
            <a:r>
              <a:rPr sz="1160" b="1" i="0">
                <a:solidFill>
                  <a:srgbClr val="022169"/>
                </a:solidFill>
                <a:latin typeface="EB Garamond"/>
              </a:rPr>
              <a:t>SB Energy</a:t>
            </a:r>
          </a:p>
          <a:p>
            <a:pPr algn="ctr">
              <a:spcBef>
                <a:spcPts val="0"/>
              </a:spcBef>
              <a:spcAft>
                <a:spcPts val="0"/>
              </a:spcAft>
            </a:pPr>
            <a:r>
              <a:rPr sz="1160" b="1" i="0">
                <a:solidFill>
                  <a:srgbClr val="022169"/>
                </a:solidFill>
                <a:latin typeface="EB Garamond"/>
              </a:rPr>
              <a:t>site / leases</a:t>
            </a:r>
          </a:p>
        </p:txBody>
      </p:sp>
      <p:sp>
        <p:nvSpPr>
          <p:cNvPr id="34" name="TextBox 33"/>
          <p:cNvSpPr txBox="1"/>
          <p:nvPr/>
        </p:nvSpPr>
        <p:spPr>
          <a:xfrm>
            <a:off x="7882127" y="3584448"/>
            <a:ext cx="384048" cy="338328"/>
          </a:xfrm>
          <a:prstGeom prst="rect">
            <a:avLst/>
          </a:prstGeom>
          <a:noFill/>
        </p:spPr>
        <p:txBody>
          <a:bodyPr wrap="square" lIns="13716" tIns="0" rIns="13716" bIns="0" anchor="ctr">
            <a:spAutoFit/>
          </a:bodyPr>
          <a:lstStyle/>
          <a:p>
            <a:pPr algn="ctr">
              <a:spcBef>
                <a:spcPts val="0"/>
              </a:spcBef>
              <a:spcAft>
                <a:spcPts val="0"/>
              </a:spcAft>
            </a:pPr>
            <a:r>
              <a:rPr sz="2300" b="1" i="0">
                <a:solidFill>
                  <a:srgbClr val="0072CE"/>
                </a:solidFill>
                <a:latin typeface="EB Garamond"/>
              </a:rPr>
              <a:t>→</a:t>
            </a:r>
          </a:p>
        </p:txBody>
      </p:sp>
      <p:sp>
        <p:nvSpPr>
          <p:cNvPr id="35" name="Rounded Rectangle 34"/>
          <p:cNvSpPr/>
          <p:nvPr/>
        </p:nvSpPr>
        <p:spPr>
          <a:xfrm>
            <a:off x="8366760" y="3447288"/>
            <a:ext cx="1243584" cy="576072"/>
          </a:xfrm>
          <a:prstGeom prst="roundRect">
            <a:avLst>
              <a:gd name="adj" fmla="val 12000"/>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12480" y="3538728"/>
            <a:ext cx="1143000" cy="320040"/>
          </a:xfrm>
          <a:prstGeom prst="rect">
            <a:avLst/>
          </a:prstGeom>
          <a:noFill/>
        </p:spPr>
        <p:txBody>
          <a:bodyPr wrap="square" lIns="13716" tIns="0" rIns="13716" bIns="0" anchor="ctr">
            <a:spAutoFit/>
          </a:bodyPr>
          <a:lstStyle/>
          <a:p>
            <a:pPr algn="ctr">
              <a:spcBef>
                <a:spcPts val="0"/>
              </a:spcBef>
              <a:spcAft>
                <a:spcPts val="0"/>
              </a:spcAft>
            </a:pPr>
            <a:r>
              <a:rPr sz="1160" b="1" i="0">
                <a:solidFill>
                  <a:srgbClr val="022169"/>
                </a:solidFill>
                <a:latin typeface="EB Garamond"/>
              </a:rPr>
              <a:t>OpenAI</a:t>
            </a:r>
          </a:p>
          <a:p>
            <a:pPr algn="ctr">
              <a:spcBef>
                <a:spcPts val="0"/>
              </a:spcBef>
              <a:spcAft>
                <a:spcPts val="0"/>
              </a:spcAft>
            </a:pPr>
            <a:r>
              <a:rPr sz="1160" b="1" i="0">
                <a:solidFill>
                  <a:srgbClr val="022169"/>
                </a:solidFill>
                <a:latin typeface="EB Garamond"/>
              </a:rPr>
              <a:t>lease tenant</a:t>
            </a:r>
          </a:p>
        </p:txBody>
      </p:sp>
      <p:sp>
        <p:nvSpPr>
          <p:cNvPr id="37" name="TextBox 36"/>
          <p:cNvSpPr txBox="1"/>
          <p:nvPr/>
        </p:nvSpPr>
        <p:spPr>
          <a:xfrm>
            <a:off x="9701784" y="3584448"/>
            <a:ext cx="384048" cy="338328"/>
          </a:xfrm>
          <a:prstGeom prst="rect">
            <a:avLst/>
          </a:prstGeom>
          <a:noFill/>
        </p:spPr>
        <p:txBody>
          <a:bodyPr wrap="square" lIns="13716" tIns="0" rIns="13716" bIns="0" anchor="ctr">
            <a:spAutoFit/>
          </a:bodyPr>
          <a:lstStyle/>
          <a:p>
            <a:pPr algn="ctr">
              <a:spcBef>
                <a:spcPts val="0"/>
              </a:spcBef>
              <a:spcAft>
                <a:spcPts val="0"/>
              </a:spcAft>
            </a:pPr>
            <a:r>
              <a:rPr sz="2300" b="1" i="0">
                <a:solidFill>
                  <a:srgbClr val="0072CE"/>
                </a:solidFill>
                <a:latin typeface="EB Garamond"/>
              </a:rPr>
              <a:t>→</a:t>
            </a:r>
          </a:p>
        </p:txBody>
      </p:sp>
      <p:sp>
        <p:nvSpPr>
          <p:cNvPr id="38" name="Rounded Rectangle 37"/>
          <p:cNvSpPr/>
          <p:nvPr/>
        </p:nvSpPr>
        <p:spPr>
          <a:xfrm>
            <a:off x="10186416" y="3447288"/>
            <a:ext cx="1051560" cy="576072"/>
          </a:xfrm>
          <a:prstGeom prst="roundRect">
            <a:avLst>
              <a:gd name="adj" fmla="val 12000"/>
            </a:avLst>
          </a:prstGeom>
          <a:solidFill>
            <a:srgbClr val="E2EF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0222992" y="3538728"/>
            <a:ext cx="987552" cy="320040"/>
          </a:xfrm>
          <a:prstGeom prst="rect">
            <a:avLst/>
          </a:prstGeom>
          <a:noFill/>
        </p:spPr>
        <p:txBody>
          <a:bodyPr wrap="square" lIns="13716" tIns="0" rIns="13716" bIns="0" anchor="ctr">
            <a:spAutoFit/>
          </a:bodyPr>
          <a:lstStyle/>
          <a:p>
            <a:pPr algn="ctr">
              <a:spcBef>
                <a:spcPts val="0"/>
              </a:spcBef>
              <a:spcAft>
                <a:spcPts val="0"/>
              </a:spcAft>
            </a:pPr>
            <a:r>
              <a:rPr sz="1160" b="1" i="0">
                <a:solidFill>
                  <a:srgbClr val="022169"/>
                </a:solidFill>
                <a:latin typeface="EB Garamond"/>
              </a:rPr>
              <a:t>Nvidia</a:t>
            </a:r>
          </a:p>
          <a:p>
            <a:pPr algn="ctr">
              <a:spcBef>
                <a:spcPts val="0"/>
              </a:spcBef>
              <a:spcAft>
                <a:spcPts val="0"/>
              </a:spcAft>
            </a:pPr>
            <a:r>
              <a:rPr sz="1160" b="1" i="0">
                <a:solidFill>
                  <a:srgbClr val="022169"/>
                </a:solidFill>
                <a:latin typeface="EB Garamond"/>
              </a:rPr>
              <a:t>compute</a:t>
            </a:r>
          </a:p>
        </p:txBody>
      </p:sp>
      <p:sp>
        <p:nvSpPr>
          <p:cNvPr id="40" name="Rounded Rectangle 39"/>
          <p:cNvSpPr/>
          <p:nvPr/>
        </p:nvSpPr>
        <p:spPr>
          <a:xfrm>
            <a:off x="6547104" y="4251960"/>
            <a:ext cx="4709160" cy="557784"/>
          </a:xfrm>
          <a:prstGeom prst="roundRect">
            <a:avLst>
              <a:gd name="adj" fmla="val 12000"/>
            </a:avLst>
          </a:prstGeom>
          <a:solidFill>
            <a:srgbClr val="F0F7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29400" y="4334256"/>
            <a:ext cx="4544568" cy="393192"/>
          </a:xfrm>
          <a:prstGeom prst="rect">
            <a:avLst/>
          </a:prstGeom>
          <a:noFill/>
        </p:spPr>
        <p:txBody>
          <a:bodyPr wrap="square" lIns="13716" tIns="0" rIns="13716" bIns="0" anchor="ctr">
            <a:spAutoFit/>
          </a:bodyPr>
          <a:lstStyle/>
          <a:p>
            <a:pPr algn="ctr">
              <a:spcBef>
                <a:spcPts val="0"/>
              </a:spcBef>
              <a:spcAft>
                <a:spcPts val="0"/>
              </a:spcAft>
            </a:pPr>
            <a:r>
              <a:rPr sz="1235" b="1" i="0">
                <a:solidFill>
                  <a:srgbClr val="022169"/>
                </a:solidFill>
                <a:latin typeface="EB Garamond"/>
              </a:rPr>
              <a:t>Nvidia guarantees specified lease / power payments on default.
The $105B SB Energy cap activates in phases from FY2029.</a:t>
            </a:r>
          </a:p>
        </p:txBody>
      </p:sp>
      <p:sp>
        <p:nvSpPr>
          <p:cNvPr id="42" name="Rounded Rectangle 41"/>
          <p:cNvSpPr/>
          <p:nvPr/>
        </p:nvSpPr>
        <p:spPr>
          <a:xfrm>
            <a:off x="621792" y="5330952"/>
            <a:ext cx="10954512" cy="475488"/>
          </a:xfrm>
          <a:prstGeom prst="roundRect">
            <a:avLst>
              <a:gd name="adj" fmla="val 12000"/>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7240" y="5422392"/>
            <a:ext cx="10661904" cy="274320"/>
          </a:xfrm>
          <a:prstGeom prst="rect">
            <a:avLst/>
          </a:prstGeom>
          <a:noFill/>
        </p:spPr>
        <p:txBody>
          <a:bodyPr wrap="square" lIns="13716" tIns="0" rIns="13716" bIns="0" anchor="ctr">
            <a:spAutoFit/>
          </a:bodyPr>
          <a:lstStyle/>
          <a:p>
            <a:pPr algn="ctr">
              <a:spcBef>
                <a:spcPts val="0"/>
              </a:spcBef>
              <a:spcAft>
                <a:spcPts val="0"/>
              </a:spcAft>
            </a:pPr>
            <a:r>
              <a:rPr sz="1600" b="1" i="0">
                <a:solidFill>
                  <a:srgbClr val="FFFFFF"/>
                </a:solidFill>
                <a:latin typeface="EB Garamond"/>
              </a:rPr>
              <a:t>The hardware supplier becomes a customer of last resort and a contingent credit-support provider.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14400" y="1600200"/>
            <a:ext cx="10332720" cy="658368"/>
          </a:xfrm>
          <a:prstGeom prst="rect">
            <a:avLst/>
          </a:prstGeom>
          <a:noFill/>
          <a:ln/>
        </p:spPr>
        <p:txBody>
          <a:bodyPr wrap="square" lIns="0" tIns="0" rIns="0" bIns="0" rtlCol="0" anchor="ctr">
            <a:normAutofit/>
          </a:bodyPr>
          <a:lstStyle/>
          <a:p>
            <a:pPr marL="0" indent="0" algn="ctr">
              <a:buNone/>
            </a:pPr>
            <a:r>
              <a:rPr lang="en-US" sz="3400" b="1" dirty="0">
                <a:solidFill>
                  <a:srgbClr val="FFFFFF"/>
                </a:solidFill>
                <a:latin typeface="EB Garamond" pitchFamily="34" charset="0"/>
                <a:ea typeface="EB Garamond" pitchFamily="34" charset="-122"/>
                <a:cs typeface="EB Garamond" pitchFamily="34" charset="-120"/>
              </a:rPr>
              <a:t>Now give the bull side its strongest assumptions.</a:t>
            </a:r>
            <a:endParaRPr lang="en-US" sz="3400" dirty="0"/>
          </a:p>
        </p:txBody>
      </p:sp>
      <p:sp>
        <p:nvSpPr>
          <p:cNvPr id="3" name="Text 1"/>
          <p:cNvSpPr/>
          <p:nvPr/>
        </p:nvSpPr>
        <p:spPr>
          <a:xfrm>
            <a:off x="1234440" y="2743200"/>
            <a:ext cx="9692640" cy="1645920"/>
          </a:xfrm>
          <a:prstGeom prst="rect">
            <a:avLst/>
          </a:prstGeom>
          <a:noFill/>
          <a:ln/>
        </p:spPr>
        <p:txBody>
          <a:bodyPr wrap="square" lIns="0" tIns="0" rIns="0" bIns="0" rtlCol="0" anchor="ctr">
            <a:normAutofit/>
          </a:bodyPr>
          <a:lstStyle/>
          <a:p>
            <a:pPr marL="0" indent="0" algn="ctr">
              <a:buNone/>
            </a:pPr>
            <a:r>
              <a:rPr lang="en-US" sz="2500" dirty="0">
                <a:solidFill>
                  <a:srgbClr val="B9D9EB"/>
                </a:solidFill>
                <a:latin typeface="EB Garamond" pitchFamily="34" charset="0"/>
                <a:ea typeface="EB Garamond" pitchFamily="34" charset="-122"/>
                <a:cs typeface="EB Garamond" pitchFamily="34" charset="-120"/>
              </a:rPr>
              <a:t>Assume AI is genuinely transformative.</a:t>
            </a:r>
            <a:endParaRPr lang="en-US" sz="2500" dirty="0"/>
          </a:p>
          <a:p>
            <a:pPr marL="0" indent="0" algn="ctr">
              <a:buNone/>
            </a:pPr>
            <a:r>
              <a:rPr lang="en-US" sz="2500" dirty="0">
                <a:solidFill>
                  <a:srgbClr val="B9D9EB"/>
                </a:solidFill>
                <a:latin typeface="EB Garamond" pitchFamily="34" charset="0"/>
                <a:ea typeface="EB Garamond" pitchFamily="34" charset="-122"/>
                <a:cs typeface="EB Garamond" pitchFamily="34" charset="-120"/>
              </a:rPr>
              <a:t>Assume the aggregate infrastructure buildout is economically justified.</a:t>
            </a:r>
            <a:endParaRPr lang="en-US" sz="2500" dirty="0"/>
          </a:p>
          <a:p>
            <a:pPr marL="0" indent="0" algn="ctr">
              <a:buNone/>
            </a:pPr>
            <a:endParaRPr lang="en-US" sz="2500" dirty="0"/>
          </a:p>
          <a:p>
            <a:pPr marL="0" indent="0" algn="ctr">
              <a:buNone/>
            </a:pPr>
            <a:r>
              <a:rPr lang="en-US" sz="2500" dirty="0">
                <a:solidFill>
                  <a:srgbClr val="B9D9EB"/>
                </a:solidFill>
                <a:latin typeface="EB Garamond" pitchFamily="34" charset="0"/>
                <a:ea typeface="EB Garamond" pitchFamily="34" charset="-122"/>
                <a:cs typeface="EB Garamond" pitchFamily="34" charset="-120"/>
              </a:rPr>
              <a:t>But that still doesn’t mean current valuations reflect the ultimate winners.</a:t>
            </a:r>
            <a:endParaRPr lang="en-US" sz="2500" dirty="0"/>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B9D9EB"/>
                </a:solidFill>
                <a:latin typeface="EB Garamond"/>
                <a:ea typeface="EB Garamond"/>
                <a:cs typeface="EB Garamond"/>
              </a:defRPr>
            </a:lvl1pPr>
          </a:lstStyle>
          <a:p>
            <a:r>
              <a:rPr sz="900">
                <a:solidFill>
                  <a:srgbClr val="5F6973"/>
                </a:solidFill>
                <a:latin typeface="Apto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The productivity J-curve</a:t>
            </a:r>
            <a:endParaRPr lang="en-US" sz="2600" dirty="0"/>
          </a:p>
        </p:txBody>
      </p:sp>
      <p:sp>
        <p:nvSpPr>
          <p:cNvPr id="3" name="Text 1"/>
          <p:cNvSpPr/>
          <p:nvPr/>
        </p:nvSpPr>
        <p:spPr>
          <a:xfrm>
            <a:off x="777240" y="1060704"/>
            <a:ext cx="10607040" cy="603504"/>
          </a:xfrm>
          <a:prstGeom prst="rect">
            <a:avLst/>
          </a:prstGeom>
          <a:noFill/>
          <a:ln/>
        </p:spPr>
        <p:txBody>
          <a:bodyPr wrap="square" lIns="0" tIns="0" rIns="0" bIns="0" rtlCol="0" anchor="ctr">
            <a:normAutofit/>
          </a:bodyPr>
          <a:lstStyle/>
          <a:p>
            <a:pPr marL="0" indent="0" algn="ctr">
              <a:buNone/>
            </a:pPr>
            <a:r>
              <a:rPr lang="en-US" sz="1900" dirty="0">
                <a:solidFill>
                  <a:srgbClr val="2F3437"/>
                </a:solidFill>
                <a:latin typeface="EB Garamond" pitchFamily="34" charset="0"/>
                <a:ea typeface="EB Garamond" pitchFamily="34" charset="-122"/>
                <a:cs typeface="EB Garamond" pitchFamily="34" charset="-120"/>
              </a:rPr>
              <a:t>General-purpose technologies require complementary capital, organizational redesign, diffusion, and learning before the measured productivity payoff appears.</a:t>
            </a:r>
            <a:endParaRPr lang="en-US" sz="1900" dirty="0"/>
          </a:p>
        </p:txBody>
      </p:sp>
      <p:sp>
        <p:nvSpPr>
          <p:cNvPr id="5" name="Text 2"/>
          <p:cNvSpPr/>
          <p:nvPr/>
        </p:nvSpPr>
        <p:spPr>
          <a:xfrm>
            <a:off x="6492240" y="1874520"/>
            <a:ext cx="4617720" cy="3154680"/>
          </a:xfrm>
          <a:prstGeom prst="rect">
            <a:avLst/>
          </a:prstGeom>
          <a:noFill/>
          <a:ln/>
        </p:spPr>
        <p:txBody>
          <a:bodyPr wrap="square" lIns="381" tIns="381" rIns="381" bIns="381" rtlCol="0" anchor="t">
            <a:normAutofit/>
          </a:bodyPr>
          <a:lstStyle/>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The technology can be economically transformative even while measured productivity remains weak early in adoption.</a:t>
            </a:r>
            <a:endParaRPr lang="en-US" sz="1800" dirty="0"/>
          </a:p>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Complementary investment and organizational change occur before much of the output gain becomes visible.</a:t>
            </a:r>
            <a:endParaRPr lang="en-US" sz="1800" dirty="0"/>
          </a:p>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That means the cash-flow horizon supporting today’s AI valuations may extend well beyond the life of today’s competitive advantages.</a:t>
            </a:r>
            <a:endParaRPr lang="en-US" sz="1800" dirty="0"/>
          </a:p>
        </p:txBody>
      </p:sp>
      <p:sp>
        <p:nvSpPr>
          <p:cNvPr id="6" name="Text 3"/>
          <p:cNvSpPr/>
          <p:nvPr/>
        </p:nvSpPr>
        <p:spPr>
          <a:xfrm>
            <a:off x="6446520" y="5257800"/>
            <a:ext cx="4754880" cy="566928"/>
          </a:xfrm>
          <a:prstGeom prst="rect">
            <a:avLst/>
          </a:prstGeom>
          <a:noFill/>
          <a:ln/>
        </p:spPr>
        <p:txBody>
          <a:bodyPr wrap="square" lIns="0" tIns="0" rIns="0" bIns="0" rtlCol="0" anchor="ctr">
            <a:normAutofit/>
          </a:bodyPr>
          <a:lstStyle/>
          <a:p>
            <a:pPr marL="0" indent="0" algn="ctr">
              <a:buNone/>
            </a:pPr>
            <a:r>
              <a:rPr lang="en-US" sz="1850" b="1" dirty="0">
                <a:solidFill>
                  <a:srgbClr val="022169"/>
                </a:solidFill>
                <a:latin typeface="EB Garamond" pitchFamily="34" charset="0"/>
                <a:ea typeface="EB Garamond" pitchFamily="34" charset="-122"/>
                <a:cs typeface="EB Garamond" pitchFamily="34" charset="-120"/>
              </a:rPr>
              <a:t>The question is whether today’s moats survive long enough to realize rents.</a:t>
            </a:r>
            <a:endParaRPr lang="en-US" sz="1850" dirty="0"/>
          </a:p>
        </p:txBody>
      </p:sp>
      <p:sp>
        <p:nvSpPr>
          <p:cNvPr id="7" name="Text 4"/>
          <p:cNvSpPr/>
          <p:nvPr/>
        </p:nvSpPr>
        <p:spPr>
          <a:xfrm>
            <a:off x="438912" y="6345936"/>
            <a:ext cx="10835640" cy="219456"/>
          </a:xfrm>
          <a:prstGeom prst="rect">
            <a:avLst/>
          </a:prstGeom>
          <a:noFill/>
          <a:ln/>
        </p:spPr>
        <p:txBody>
          <a:bodyPr wrap="square" lIns="0" tIns="0" rIns="0" bIns="0" rtlCol="0" anchor="ctr">
            <a:normAutofit/>
          </a:bodyPr>
          <a:lstStyle/>
          <a:p>
            <a:pPr marL="0" indent="0">
              <a:buNone/>
            </a:pPr>
            <a:r>
              <a:rPr lang="en-US" sz="820" i="1" dirty="0">
                <a:solidFill>
                  <a:srgbClr val="78838B"/>
                </a:solidFill>
                <a:latin typeface="EB Garamond" pitchFamily="34" charset="0"/>
                <a:ea typeface="EB Garamond" pitchFamily="34" charset="-122"/>
                <a:cs typeface="EB Garamond" pitchFamily="34" charset="-120"/>
              </a:rPr>
              <a:t>Historical figure: Barclays Research / IBM, “AI revolution: productivity boom and beyond” (2024). Concept: Brynjolfsson, Rock &amp; Syverson, “The Productivity J-Curve.”</a:t>
            </a:r>
            <a:endParaRPr lang="en-US" sz="820" dirty="0"/>
          </a:p>
        </p:txBody>
      </p:sp>
      <p:sp>
        <p:nvSpPr>
          <p:cNvPr id="25" name="Slide Number Placeholder 0"/>
          <p:cNvSpPr>
            <a:spLocks noGrp="1"/>
          </p:cNvSpPr>
          <p:nvPr>
            <p:ph type="sldNum" sz="quarter" idx="4294967295"/>
          </p:nvPr>
        </p:nvSpPr>
        <p:spPr>
          <a:xfrm>
            <a:off x="11780838" y="6492875"/>
            <a:ext cx="411162" cy="163513"/>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10</a:t>
            </a:r>
          </a:p>
        </p:txBody>
      </p:sp>
      <p:pic>
        <p:nvPicPr>
          <p:cNvPr id="26" name="Picture 25" descr="barclays_raw_figure.png"/>
          <p:cNvPicPr>
            <a:picLocks noChangeAspect="1"/>
          </p:cNvPicPr>
          <p:nvPr/>
        </p:nvPicPr>
        <p:blipFill>
          <a:blip r:embed="rId3"/>
          <a:stretch>
            <a:fillRect/>
          </a:stretch>
        </p:blipFill>
        <p:spPr>
          <a:xfrm>
            <a:off x="731520" y="1810512"/>
            <a:ext cx="5532120" cy="3913632"/>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155448"/>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228600"/>
            <a:ext cx="10607040" cy="457200"/>
          </a:xfrm>
          <a:prstGeom prst="rect">
            <a:avLst/>
          </a:prstGeom>
          <a:noFill/>
        </p:spPr>
        <p:txBody>
          <a:bodyPr wrap="square" anchor="ctr">
            <a:spAutoFit/>
          </a:bodyPr>
          <a:lstStyle/>
          <a:p>
            <a:pPr algn="l"/>
            <a:r>
              <a:rPr sz="2600" b="1">
                <a:solidFill>
                  <a:srgbClr val="022169"/>
                </a:solidFill>
                <a:latin typeface="EB Garamond"/>
              </a:rPr>
              <a:t>What drives the productivity J-curve?</a:t>
            </a:r>
          </a:p>
        </p:txBody>
      </p:sp>
      <p:sp>
        <p:nvSpPr>
          <p:cNvPr id="6" name="Rectangle 5"/>
          <p:cNvSpPr/>
          <p:nvPr/>
        </p:nvSpPr>
        <p:spPr>
          <a:xfrm>
            <a:off x="795528" y="658368"/>
            <a:ext cx="10881360" cy="18288"/>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768096"/>
            <a:ext cx="10424160" cy="457200"/>
          </a:xfrm>
          <a:prstGeom prst="rect">
            <a:avLst/>
          </a:prstGeom>
          <a:noFill/>
        </p:spPr>
        <p:txBody>
          <a:bodyPr wrap="square" anchor="ctr">
            <a:spAutoFit/>
          </a:bodyPr>
          <a:lstStyle/>
          <a:p>
            <a:pPr algn="l"/>
            <a:r>
              <a:rPr sz="1550" b="0">
                <a:solidFill>
                  <a:srgbClr val="5F6973"/>
                </a:solidFill>
                <a:latin typeface="EB Garamond"/>
              </a:rPr>
              <a:t>AI is a general-purpose technology: firms must build complementary intangible capital before the productivity payoff is fully realized.</a:t>
            </a:r>
          </a:p>
        </p:txBody>
      </p:sp>
      <p:sp>
        <p:nvSpPr>
          <p:cNvPr id="8" name="TextBox 7"/>
          <p:cNvSpPr txBox="1"/>
          <p:nvPr/>
        </p:nvSpPr>
        <p:spPr>
          <a:xfrm>
            <a:off x="914400" y="1371600"/>
            <a:ext cx="5897880" cy="310896"/>
          </a:xfrm>
          <a:prstGeom prst="rect">
            <a:avLst/>
          </a:prstGeom>
          <a:noFill/>
        </p:spPr>
        <p:txBody>
          <a:bodyPr wrap="square" anchor="ctr">
            <a:spAutoFit/>
          </a:bodyPr>
          <a:lstStyle/>
          <a:p>
            <a:pPr algn="l"/>
            <a:r>
              <a:rPr sz="1700" b="1">
                <a:solidFill>
                  <a:srgbClr val="022169"/>
                </a:solidFill>
                <a:latin typeface="EB Garamond"/>
              </a:rPr>
              <a:t>The early phase is investment-heavy and output-light</a:t>
            </a:r>
          </a:p>
        </p:txBody>
      </p:sp>
      <p:sp>
        <p:nvSpPr>
          <p:cNvPr id="9" name="Rectangle 8"/>
          <p:cNvSpPr/>
          <p:nvPr/>
        </p:nvSpPr>
        <p:spPr>
          <a:xfrm>
            <a:off x="914400" y="1810512"/>
            <a:ext cx="64008" cy="7498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115568" y="1792224"/>
            <a:ext cx="5440680" cy="256032"/>
          </a:xfrm>
          <a:prstGeom prst="rect">
            <a:avLst/>
          </a:prstGeom>
          <a:noFill/>
        </p:spPr>
        <p:txBody>
          <a:bodyPr wrap="square" anchor="ctr">
            <a:spAutoFit/>
          </a:bodyPr>
          <a:lstStyle/>
          <a:p>
            <a:pPr algn="l"/>
            <a:r>
              <a:rPr sz="1500" b="1">
                <a:solidFill>
                  <a:srgbClr val="022169"/>
                </a:solidFill>
                <a:latin typeface="EB Garamond"/>
              </a:rPr>
              <a:t>1  Redesign the organization</a:t>
            </a:r>
          </a:p>
        </p:txBody>
      </p:sp>
      <p:sp>
        <p:nvSpPr>
          <p:cNvPr id="11" name="TextBox 10"/>
          <p:cNvSpPr txBox="1"/>
          <p:nvPr/>
        </p:nvSpPr>
        <p:spPr>
          <a:xfrm>
            <a:off x="1115568" y="2066543"/>
            <a:ext cx="5440680" cy="493776"/>
          </a:xfrm>
          <a:prstGeom prst="rect">
            <a:avLst/>
          </a:prstGeom>
          <a:noFill/>
        </p:spPr>
        <p:txBody>
          <a:bodyPr wrap="square" anchor="t">
            <a:spAutoFit/>
          </a:bodyPr>
          <a:lstStyle/>
          <a:p>
            <a:pPr algn="l"/>
            <a:r>
              <a:rPr sz="1230" b="0">
                <a:solidFill>
                  <a:srgbClr val="1F2A37"/>
                </a:solidFill>
                <a:latin typeface="EB Garamond"/>
              </a:rPr>
              <a:t>Firms rework business processes, decision rights, products, and workflows around the new technology.</a:t>
            </a:r>
          </a:p>
        </p:txBody>
      </p:sp>
      <p:sp>
        <p:nvSpPr>
          <p:cNvPr id="12" name="Rectangle 11"/>
          <p:cNvSpPr/>
          <p:nvPr/>
        </p:nvSpPr>
        <p:spPr>
          <a:xfrm>
            <a:off x="914400" y="2788920"/>
            <a:ext cx="64008" cy="7498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115568" y="2770632"/>
            <a:ext cx="5440680" cy="256032"/>
          </a:xfrm>
          <a:prstGeom prst="rect">
            <a:avLst/>
          </a:prstGeom>
          <a:noFill/>
        </p:spPr>
        <p:txBody>
          <a:bodyPr wrap="square" anchor="ctr">
            <a:spAutoFit/>
          </a:bodyPr>
          <a:lstStyle/>
          <a:p>
            <a:pPr algn="l"/>
            <a:r>
              <a:rPr sz="1500" b="1">
                <a:solidFill>
                  <a:srgbClr val="022169"/>
                </a:solidFill>
                <a:latin typeface="EB Garamond"/>
              </a:rPr>
              <a:t>2  Integrate the technology</a:t>
            </a:r>
          </a:p>
        </p:txBody>
      </p:sp>
      <p:sp>
        <p:nvSpPr>
          <p:cNvPr id="14" name="TextBox 13"/>
          <p:cNvSpPr txBox="1"/>
          <p:nvPr/>
        </p:nvSpPr>
        <p:spPr>
          <a:xfrm>
            <a:off x="1115568" y="3044952"/>
            <a:ext cx="5440680" cy="493776"/>
          </a:xfrm>
          <a:prstGeom prst="rect">
            <a:avLst/>
          </a:prstGeom>
          <a:noFill/>
        </p:spPr>
        <p:txBody>
          <a:bodyPr wrap="square" anchor="t">
            <a:spAutoFit/>
          </a:bodyPr>
          <a:lstStyle/>
          <a:p>
            <a:pPr algn="l"/>
            <a:r>
              <a:rPr sz="1230" b="0">
                <a:solidFill>
                  <a:srgbClr val="1F2A37"/>
                </a:solidFill>
                <a:latin typeface="EB Garamond"/>
              </a:rPr>
              <a:t>Data, software, controls, and operating systems have to be rebuilt or connected before AI can scale.</a:t>
            </a:r>
          </a:p>
        </p:txBody>
      </p:sp>
      <p:sp>
        <p:nvSpPr>
          <p:cNvPr id="15" name="Rectangle 14"/>
          <p:cNvSpPr/>
          <p:nvPr/>
        </p:nvSpPr>
        <p:spPr>
          <a:xfrm>
            <a:off x="914400" y="3767328"/>
            <a:ext cx="64008" cy="74980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115568" y="3749040"/>
            <a:ext cx="5440680" cy="256032"/>
          </a:xfrm>
          <a:prstGeom prst="rect">
            <a:avLst/>
          </a:prstGeom>
          <a:noFill/>
        </p:spPr>
        <p:txBody>
          <a:bodyPr wrap="square" anchor="ctr">
            <a:spAutoFit/>
          </a:bodyPr>
          <a:lstStyle/>
          <a:p>
            <a:pPr algn="l"/>
            <a:r>
              <a:rPr sz="1500" b="1">
                <a:solidFill>
                  <a:srgbClr val="022169"/>
                </a:solidFill>
                <a:latin typeface="EB Garamond"/>
              </a:rPr>
              <a:t>3  Build human capital</a:t>
            </a:r>
          </a:p>
        </p:txBody>
      </p:sp>
      <p:sp>
        <p:nvSpPr>
          <p:cNvPr id="17" name="TextBox 16"/>
          <p:cNvSpPr txBox="1"/>
          <p:nvPr/>
        </p:nvSpPr>
        <p:spPr>
          <a:xfrm>
            <a:off x="1115568" y="4023360"/>
            <a:ext cx="5440680" cy="493776"/>
          </a:xfrm>
          <a:prstGeom prst="rect">
            <a:avLst/>
          </a:prstGeom>
          <a:noFill/>
        </p:spPr>
        <p:txBody>
          <a:bodyPr wrap="square" anchor="t">
            <a:spAutoFit/>
          </a:bodyPr>
          <a:lstStyle/>
          <a:p>
            <a:pPr algn="l"/>
            <a:r>
              <a:rPr sz="1230" b="0">
                <a:solidFill>
                  <a:srgbClr val="1F2A37"/>
                </a:solidFill>
                <a:latin typeface="EB Garamond"/>
              </a:rPr>
              <a:t>Workers need new skills, managers need new practices, and firms learn where the technology actually creates value.</a:t>
            </a:r>
          </a:p>
        </p:txBody>
      </p:sp>
      <p:sp>
        <p:nvSpPr>
          <p:cNvPr id="18" name="Rounded Rectangle 17"/>
          <p:cNvSpPr/>
          <p:nvPr/>
        </p:nvSpPr>
        <p:spPr>
          <a:xfrm>
            <a:off x="914400" y="4736592"/>
            <a:ext cx="5715000" cy="758952"/>
          </a:xfrm>
          <a:prstGeom prst="roundRect">
            <a:avLst/>
          </a:prstGeom>
          <a:solidFill>
            <a:srgbClr val="F2F7FB"/>
          </a:solidFill>
          <a:ln w="1270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78992" y="4846320"/>
            <a:ext cx="5394960" cy="493776"/>
          </a:xfrm>
          <a:prstGeom prst="rect">
            <a:avLst/>
          </a:prstGeom>
          <a:noFill/>
        </p:spPr>
        <p:txBody>
          <a:bodyPr wrap="square" anchor="ctr">
            <a:spAutoFit/>
          </a:bodyPr>
          <a:lstStyle/>
          <a:p>
            <a:pPr algn="ctr"/>
            <a:r>
              <a:rPr sz="1330" b="1">
                <a:solidFill>
                  <a:srgbClr val="022169"/>
                </a:solidFill>
                <a:latin typeface="EB Garamond"/>
              </a:rPr>
              <a:t>Those costs arrive first. The intangible assets they create are poorly measured, while the output gains arrive later.</a:t>
            </a:r>
          </a:p>
        </p:txBody>
      </p:sp>
      <p:sp>
        <p:nvSpPr>
          <p:cNvPr id="20" name="Rounded Rectangle 19"/>
          <p:cNvSpPr/>
          <p:nvPr/>
        </p:nvSpPr>
        <p:spPr>
          <a:xfrm>
            <a:off x="7059168" y="1353312"/>
            <a:ext cx="4160520" cy="4142232"/>
          </a:xfrm>
          <a:prstGeom prst="roundRect">
            <a:avLst/>
          </a:prstGeom>
          <a:solidFill>
            <a:srgbClr val="FFFFFF"/>
          </a:solidFill>
          <a:ln w="1905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7333488" y="1600200"/>
            <a:ext cx="3611880" cy="310896"/>
          </a:xfrm>
          <a:prstGeom prst="rect">
            <a:avLst/>
          </a:prstGeom>
          <a:noFill/>
        </p:spPr>
        <p:txBody>
          <a:bodyPr wrap="square" anchor="ctr">
            <a:spAutoFit/>
          </a:bodyPr>
          <a:lstStyle/>
          <a:p>
            <a:pPr algn="ctr"/>
            <a:r>
              <a:rPr sz="1600" b="1">
                <a:solidFill>
                  <a:srgbClr val="022169"/>
                </a:solidFill>
                <a:latin typeface="EB Garamond"/>
              </a:rPr>
              <a:t>And the aggregate data still look like the early phase</a:t>
            </a:r>
          </a:p>
        </p:txBody>
      </p:sp>
      <p:sp>
        <p:nvSpPr>
          <p:cNvPr id="22" name="TextBox 21"/>
          <p:cNvSpPr txBox="1"/>
          <p:nvPr/>
        </p:nvSpPr>
        <p:spPr>
          <a:xfrm>
            <a:off x="7315200" y="2039112"/>
            <a:ext cx="3639312" cy="987552"/>
          </a:xfrm>
          <a:prstGeom prst="rect">
            <a:avLst/>
          </a:prstGeom>
          <a:noFill/>
        </p:spPr>
        <p:txBody>
          <a:bodyPr wrap="square" anchor="ctr">
            <a:spAutoFit/>
          </a:bodyPr>
          <a:lstStyle/>
          <a:p>
            <a:pPr algn="ctr"/>
            <a:r>
              <a:rPr sz="4800" b="1">
                <a:solidFill>
                  <a:srgbClr val="0072CE"/>
                </a:solidFill>
                <a:latin typeface="EB Garamond"/>
              </a:rPr>
              <a:t>2.2%</a:t>
            </a:r>
          </a:p>
        </p:txBody>
      </p:sp>
      <p:sp>
        <p:nvSpPr>
          <p:cNvPr id="23" name="TextBox 22"/>
          <p:cNvSpPr txBox="1"/>
          <p:nvPr/>
        </p:nvSpPr>
        <p:spPr>
          <a:xfrm>
            <a:off x="7424927" y="2871216"/>
            <a:ext cx="3401568" cy="530352"/>
          </a:xfrm>
          <a:prstGeom prst="rect">
            <a:avLst/>
          </a:prstGeom>
          <a:noFill/>
        </p:spPr>
        <p:txBody>
          <a:bodyPr wrap="square" anchor="ctr">
            <a:spAutoFit/>
          </a:bodyPr>
          <a:lstStyle/>
          <a:p>
            <a:pPr algn="ctr"/>
            <a:r>
              <a:rPr sz="1300" b="1">
                <a:solidFill>
                  <a:srgbClr val="1F2A37"/>
                </a:solidFill>
                <a:latin typeface="EB Garamond"/>
              </a:rPr>
              <a:t>U.S. private nonfarm business
labor-productivity growth in 2025</a:t>
            </a:r>
          </a:p>
        </p:txBody>
      </p:sp>
      <p:sp>
        <p:nvSpPr>
          <p:cNvPr id="24" name="Rectangle 23"/>
          <p:cNvSpPr/>
          <p:nvPr/>
        </p:nvSpPr>
        <p:spPr>
          <a:xfrm>
            <a:off x="7452360" y="3547872"/>
            <a:ext cx="3337560" cy="13716"/>
          </a:xfrm>
          <a:prstGeom prst="rect">
            <a:avLst/>
          </a:prstGeom>
          <a:solidFill>
            <a:srgbClr val="E2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7452360" y="3703320"/>
            <a:ext cx="1481328" cy="530352"/>
          </a:xfrm>
          <a:prstGeom prst="rect">
            <a:avLst/>
          </a:prstGeom>
          <a:noFill/>
        </p:spPr>
        <p:txBody>
          <a:bodyPr wrap="square" anchor="ctr">
            <a:spAutoFit/>
          </a:bodyPr>
          <a:lstStyle/>
          <a:p>
            <a:pPr algn="ctr"/>
            <a:r>
              <a:rPr sz="2500" b="1">
                <a:solidFill>
                  <a:srgbClr val="022169"/>
                </a:solidFill>
                <a:latin typeface="EB Garamond"/>
              </a:rPr>
              <a:t>2.0%</a:t>
            </a:r>
          </a:p>
        </p:txBody>
      </p:sp>
      <p:sp>
        <p:nvSpPr>
          <p:cNvPr id="26" name="TextBox 25"/>
          <p:cNvSpPr txBox="1"/>
          <p:nvPr/>
        </p:nvSpPr>
        <p:spPr>
          <a:xfrm>
            <a:off x="9189720" y="3703320"/>
            <a:ext cx="1481328" cy="530352"/>
          </a:xfrm>
          <a:prstGeom prst="rect">
            <a:avLst/>
          </a:prstGeom>
          <a:noFill/>
        </p:spPr>
        <p:txBody>
          <a:bodyPr wrap="square" anchor="ctr">
            <a:spAutoFit/>
          </a:bodyPr>
          <a:lstStyle/>
          <a:p>
            <a:pPr algn="ctr"/>
            <a:r>
              <a:rPr sz="2500" b="1">
                <a:solidFill>
                  <a:srgbClr val="022169"/>
                </a:solidFill>
                <a:latin typeface="EB Garamond"/>
              </a:rPr>
              <a:t>1.5%</a:t>
            </a:r>
          </a:p>
        </p:txBody>
      </p:sp>
      <p:sp>
        <p:nvSpPr>
          <p:cNvPr id="27" name="TextBox 26"/>
          <p:cNvSpPr txBox="1"/>
          <p:nvPr/>
        </p:nvSpPr>
        <p:spPr>
          <a:xfrm>
            <a:off x="7360920" y="4187952"/>
            <a:ext cx="1664208" cy="420624"/>
          </a:xfrm>
          <a:prstGeom prst="rect">
            <a:avLst/>
          </a:prstGeom>
          <a:noFill/>
        </p:spPr>
        <p:txBody>
          <a:bodyPr wrap="square" anchor="ctr">
            <a:spAutoFit/>
          </a:bodyPr>
          <a:lstStyle/>
          <a:p>
            <a:pPr algn="ctr"/>
            <a:r>
              <a:rPr sz="1050" b="1">
                <a:solidFill>
                  <a:srgbClr val="5F6973"/>
                </a:solidFill>
                <a:latin typeface="EB Garamond"/>
              </a:rPr>
              <a:t>1987–2025
average</a:t>
            </a:r>
          </a:p>
        </p:txBody>
      </p:sp>
      <p:sp>
        <p:nvSpPr>
          <p:cNvPr id="28" name="TextBox 27"/>
          <p:cNvSpPr txBox="1"/>
          <p:nvPr/>
        </p:nvSpPr>
        <p:spPr>
          <a:xfrm>
            <a:off x="9098280" y="4187952"/>
            <a:ext cx="1664208" cy="420624"/>
          </a:xfrm>
          <a:prstGeom prst="rect">
            <a:avLst/>
          </a:prstGeom>
          <a:noFill/>
        </p:spPr>
        <p:txBody>
          <a:bodyPr wrap="square" anchor="ctr">
            <a:spAutoFit/>
          </a:bodyPr>
          <a:lstStyle/>
          <a:p>
            <a:pPr algn="ctr"/>
            <a:r>
              <a:rPr sz="1050" b="1">
                <a:solidFill>
                  <a:srgbClr val="5F6973"/>
                </a:solidFill>
                <a:latin typeface="EB Garamond"/>
              </a:rPr>
              <a:t>2007–2019
average</a:t>
            </a:r>
          </a:p>
        </p:txBody>
      </p:sp>
      <p:sp>
        <p:nvSpPr>
          <p:cNvPr id="29" name="TextBox 28"/>
          <p:cNvSpPr txBox="1"/>
          <p:nvPr/>
        </p:nvSpPr>
        <p:spPr>
          <a:xfrm>
            <a:off x="7342631" y="4754880"/>
            <a:ext cx="3566160" cy="530352"/>
          </a:xfrm>
          <a:prstGeom prst="rect">
            <a:avLst/>
          </a:prstGeom>
          <a:noFill/>
        </p:spPr>
        <p:txBody>
          <a:bodyPr wrap="square" anchor="ctr">
            <a:spAutoFit/>
          </a:bodyPr>
          <a:lstStyle/>
          <a:p>
            <a:pPr algn="ctr"/>
            <a:r>
              <a:rPr sz="1300" b="1">
                <a:solidFill>
                  <a:srgbClr val="022169"/>
                </a:solidFill>
                <a:latin typeface="EB Garamond"/>
              </a:rPr>
              <a:t>Positive, but not yet an extraordinary AI-era productivity breakout.</a:t>
            </a:r>
          </a:p>
        </p:txBody>
      </p:sp>
      <p:sp>
        <p:nvSpPr>
          <p:cNvPr id="30" name="Rounded Rectangle 29"/>
          <p:cNvSpPr/>
          <p:nvPr/>
        </p:nvSpPr>
        <p:spPr>
          <a:xfrm>
            <a:off x="914400" y="5632704"/>
            <a:ext cx="10305288" cy="521207"/>
          </a:xfrm>
          <a:prstGeom prst="roundRect">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078992" y="5734892"/>
            <a:ext cx="9976104" cy="298543"/>
          </a:xfrm>
          <a:prstGeom prst="rect">
            <a:avLst/>
          </a:prstGeom>
          <a:noFill/>
        </p:spPr>
        <p:txBody>
          <a:bodyPr wrap="square" anchor="ctr">
            <a:spAutoFit/>
          </a:bodyPr>
          <a:lstStyle/>
          <a:p>
            <a:pPr algn="ctr"/>
            <a:r>
              <a:rPr lang="en-US" sz="1340" b="1" dirty="0">
                <a:solidFill>
                  <a:srgbClr val="FFFFFF"/>
                </a:solidFill>
                <a:latin typeface="EB Garamond"/>
              </a:rPr>
              <a:t>In a nutshell t</a:t>
            </a:r>
            <a:r>
              <a:rPr sz="1340" b="1" dirty="0">
                <a:solidFill>
                  <a:srgbClr val="FFFFFF"/>
                </a:solidFill>
                <a:latin typeface="EB Garamond"/>
              </a:rPr>
              <a:t>he J-curve predicts </a:t>
            </a:r>
            <a:r>
              <a:rPr lang="en-US" sz="1340" b="1" dirty="0">
                <a:solidFill>
                  <a:srgbClr val="FFFFFF"/>
                </a:solidFill>
                <a:latin typeface="EB Garamond"/>
              </a:rPr>
              <a:t>that real productivity gains lag the</a:t>
            </a:r>
            <a:r>
              <a:rPr sz="1340" b="1" dirty="0">
                <a:solidFill>
                  <a:srgbClr val="FFFFFF"/>
                </a:solidFill>
                <a:latin typeface="EB Garamond"/>
              </a:rPr>
              <a:t> </a:t>
            </a:r>
            <a:r>
              <a:rPr lang="en-US" sz="1340" b="1" dirty="0">
                <a:solidFill>
                  <a:srgbClr val="FFFFFF"/>
                </a:solidFill>
                <a:latin typeface="EB Garamond"/>
              </a:rPr>
              <a:t>immense </a:t>
            </a:r>
            <a:r>
              <a:rPr sz="1340" b="1" dirty="0">
                <a:solidFill>
                  <a:srgbClr val="FFFFFF"/>
                </a:solidFill>
                <a:latin typeface="EB Garamond"/>
              </a:rPr>
              <a:t>investment </a:t>
            </a:r>
            <a:r>
              <a:rPr lang="en-US" sz="1340" b="1" dirty="0">
                <a:solidFill>
                  <a:srgbClr val="FFFFFF"/>
                </a:solidFill>
                <a:latin typeface="EB Garamond"/>
              </a:rPr>
              <a:t>that is put into transformative technologies</a:t>
            </a:r>
            <a:endParaRPr sz="1340" b="1" dirty="0">
              <a:solidFill>
                <a:srgbClr val="FFFFFF"/>
              </a:solidFill>
              <a:latin typeface="EB Garamond"/>
            </a:endParaRPr>
          </a:p>
        </p:txBody>
      </p:sp>
      <p:sp>
        <p:nvSpPr>
          <p:cNvPr id="32" name="TextBox 31"/>
          <p:cNvSpPr txBox="1"/>
          <p:nvPr/>
        </p:nvSpPr>
        <p:spPr>
          <a:xfrm>
            <a:off x="502920" y="6336792"/>
            <a:ext cx="10789920" cy="201168"/>
          </a:xfrm>
          <a:prstGeom prst="rect">
            <a:avLst/>
          </a:prstGeom>
          <a:noFill/>
        </p:spPr>
        <p:txBody>
          <a:bodyPr wrap="square" anchor="ctr">
            <a:spAutoFit/>
          </a:bodyPr>
          <a:lstStyle/>
          <a:p>
            <a:pPr algn="l"/>
            <a:r>
              <a:rPr sz="720" b="0">
                <a:solidFill>
                  <a:srgbClr val="5F6973"/>
                </a:solidFill>
                <a:latin typeface="EB Garamond"/>
              </a:rPr>
              <a:t>Sources: Brynjolfsson, Rock &amp; Syverson, “The Productivity J-Curve” (AER: Macroeconomics / NBER); U.S. Bureau of Labor Statistics, Total Factor Productivity 2025, Tables A–B.</a:t>
            </a:r>
          </a:p>
        </p:txBody>
      </p:sp>
      <p:sp>
        <p:nvSpPr>
          <p:cNvPr id="33" name="TextBox 32"/>
          <p:cNvSpPr txBox="1"/>
          <p:nvPr/>
        </p:nvSpPr>
        <p:spPr>
          <a:xfrm>
            <a:off x="11320272" y="6436260"/>
            <a:ext cx="429768" cy="230832"/>
          </a:xfrm>
          <a:prstGeom prst="rect">
            <a:avLst/>
          </a:prstGeom>
          <a:noFill/>
        </p:spPr>
        <p:txBody>
          <a:bodyPr wrap="square" anchor="ctr">
            <a:spAutoFit/>
          </a:bodyPr>
          <a:lstStyle/>
          <a:p>
            <a:r>
              <a:rPr sz="900" dirty="0">
                <a:solidFill>
                  <a:srgbClr val="5F6973"/>
                </a:solidFill>
                <a:latin typeface="Aptos"/>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The valuation horizon is longer than the moat half-life</a:t>
            </a:r>
            <a:endParaRPr lang="en-US" sz="2600" dirty="0"/>
          </a:p>
        </p:txBody>
      </p:sp>
      <p:sp>
        <p:nvSpPr>
          <p:cNvPr id="3" name="Text 1"/>
          <p:cNvSpPr/>
          <p:nvPr/>
        </p:nvSpPr>
        <p:spPr>
          <a:xfrm>
            <a:off x="822960" y="1078992"/>
            <a:ext cx="10515600" cy="457200"/>
          </a:xfrm>
          <a:prstGeom prst="rect">
            <a:avLst/>
          </a:prstGeom>
          <a:noFill/>
          <a:ln/>
        </p:spPr>
        <p:txBody>
          <a:bodyPr wrap="square" lIns="0" tIns="0" rIns="0" bIns="0" rtlCol="0" anchor="ctr">
            <a:normAutofit/>
          </a:bodyPr>
          <a:lstStyle/>
          <a:p>
            <a:pPr marL="0" indent="0" algn="ctr">
              <a:buNone/>
            </a:pPr>
            <a:r>
              <a:rPr lang="en-US" sz="2000" b="1" dirty="0">
                <a:solidFill>
                  <a:srgbClr val="022169"/>
                </a:solidFill>
                <a:latin typeface="EB Garamond" pitchFamily="34" charset="0"/>
                <a:ea typeface="EB Garamond" pitchFamily="34" charset="-122"/>
                <a:cs typeface="EB Garamond" pitchFamily="34" charset="-120"/>
              </a:rPr>
              <a:t>The productivity lag creates time for the competitive structure to change before the rents arrive.</a:t>
            </a:r>
            <a:endParaRPr lang="en-US" sz="2000" dirty="0"/>
          </a:p>
        </p:txBody>
      </p:sp>
      <p:sp>
        <p:nvSpPr>
          <p:cNvPr id="4" name="Text 2"/>
          <p:cNvSpPr/>
          <p:nvPr/>
        </p:nvSpPr>
        <p:spPr>
          <a:xfrm>
            <a:off x="914400" y="1920240"/>
            <a:ext cx="6446520" cy="2697480"/>
          </a:xfrm>
          <a:prstGeom prst="rect">
            <a:avLst/>
          </a:prstGeom>
          <a:noFill/>
          <a:ln/>
        </p:spPr>
        <p:txBody>
          <a:bodyPr wrap="square" lIns="381" tIns="381" rIns="381" bIns="381" rtlCol="0" anchor="t">
            <a:normAutofit/>
          </a:bodyPr>
          <a:lstStyle/>
          <a:p>
            <a:pPr marL="215900" indent="-215900">
              <a:buSzPct val="100000"/>
              <a:buChar char="•"/>
            </a:pPr>
            <a:r>
              <a:rPr lang="en-US" sz="2000" dirty="0">
                <a:solidFill>
                  <a:srgbClr val="2F3437"/>
                </a:solidFill>
                <a:latin typeface="EB Garamond" pitchFamily="34" charset="0"/>
                <a:ea typeface="EB Garamond" pitchFamily="34" charset="-122"/>
                <a:cs typeface="EB Garamond" pitchFamily="34" charset="-120"/>
              </a:rPr>
              <a:t>Major economy-wide productivity gains are a multi-year diffusion story.</a:t>
            </a:r>
            <a:endParaRPr lang="en-US" sz="2000" dirty="0"/>
          </a:p>
          <a:p>
            <a:pPr marL="215900" indent="-215900">
              <a:buSzPct val="100000"/>
              <a:buChar char="•"/>
            </a:pPr>
            <a:r>
              <a:rPr lang="en-US" sz="2000" dirty="0">
                <a:solidFill>
                  <a:srgbClr val="2F3437"/>
                </a:solidFill>
                <a:latin typeface="EB Garamond" pitchFamily="34" charset="0"/>
                <a:ea typeface="EB Garamond" pitchFamily="34" charset="-122"/>
                <a:cs typeface="EB Garamond" pitchFamily="34" charset="-120"/>
              </a:rPr>
              <a:t>Chip architectures, model leads, inference prices, and switching costs can change in months to a few years.</a:t>
            </a:r>
            <a:endParaRPr lang="en-US" sz="2000" dirty="0"/>
          </a:p>
          <a:p>
            <a:pPr marL="215900" indent="-215900">
              <a:buSzPct val="100000"/>
              <a:buChar char="•"/>
            </a:pPr>
            <a:r>
              <a:rPr lang="en-US" sz="2000" dirty="0">
                <a:solidFill>
                  <a:srgbClr val="2F3437"/>
                </a:solidFill>
                <a:latin typeface="EB Garamond" pitchFamily="34" charset="0"/>
                <a:ea typeface="EB Garamond" pitchFamily="34" charset="-122"/>
                <a:cs typeface="EB Garamond" pitchFamily="34" charset="-120"/>
              </a:rPr>
              <a:t>Current valuations therefore capitalize far-future rents using competitive advantages observed in a much earlier regime.</a:t>
            </a:r>
            <a:endParaRPr lang="en-US" sz="2000" dirty="0"/>
          </a:p>
        </p:txBody>
      </p:sp>
      <p:sp>
        <p:nvSpPr>
          <p:cNvPr id="7" name="Text 5"/>
          <p:cNvSpPr/>
          <p:nvPr/>
        </p:nvSpPr>
        <p:spPr>
          <a:xfrm>
            <a:off x="960120" y="5120640"/>
            <a:ext cx="10195560" cy="658368"/>
          </a:xfrm>
          <a:prstGeom prst="rect">
            <a:avLst/>
          </a:prstGeom>
          <a:noFill/>
          <a:ln/>
        </p:spPr>
        <p:txBody>
          <a:bodyPr wrap="square" lIns="0" tIns="0" rIns="0" bIns="0" rtlCol="0" anchor="ctr">
            <a:normAutofit lnSpcReduction="10000"/>
          </a:bodyPr>
          <a:lstStyle/>
          <a:p>
            <a:pPr marL="0" indent="0" algn="ctr">
              <a:buNone/>
            </a:pPr>
            <a:r>
              <a:rPr lang="en-US" sz="2300" b="1" dirty="0">
                <a:solidFill>
                  <a:srgbClr val="0072CE"/>
                </a:solidFill>
                <a:latin typeface="EB Garamond" pitchFamily="34" charset="0"/>
                <a:ea typeface="EB Garamond" pitchFamily="34" charset="-122"/>
                <a:cs typeface="EB Garamond" pitchFamily="34" charset="-120"/>
              </a:rPr>
              <a:t>“A moat that does not survive until the productivity horizon is not the moat supporting the valuation.” –AI Sun Tzu</a:t>
            </a:r>
            <a:endParaRPr lang="en-US" sz="2300" dirty="0"/>
          </a:p>
        </p:txBody>
      </p:sp>
      <p:sp>
        <p:nvSpPr>
          <p:cNvPr id="25" name="Slide Number Placeholder 0"/>
          <p:cNvSpPr>
            <a:spLocks noGrp="1"/>
          </p:cNvSpPr>
          <p:nvPr>
            <p:ph type="sldNum" sz="quarter" idx="4294967295"/>
          </p:nvPr>
        </p:nvSpPr>
        <p:spPr>
          <a:xfrm>
            <a:off x="11780838" y="6492875"/>
            <a:ext cx="411162" cy="163513"/>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Rectangle 2"/>
          <p:cNvSpPr/>
          <p:nvPr/>
        </p:nvSpPr>
        <p:spPr>
          <a:xfrm>
            <a:off x="0" y="0"/>
            <a:ext cx="12192000" cy="155448"/>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228600"/>
            <a:ext cx="10607040" cy="457200"/>
          </a:xfrm>
          <a:prstGeom prst="rect">
            <a:avLst/>
          </a:prstGeom>
          <a:noFill/>
        </p:spPr>
        <p:txBody>
          <a:bodyPr wrap="square" anchor="ctr">
            <a:spAutoFit/>
          </a:bodyPr>
          <a:lstStyle/>
          <a:p>
            <a:pPr algn="l"/>
            <a:r>
              <a:rPr sz="2600" b="1">
                <a:solidFill>
                  <a:srgbClr val="022169"/>
                </a:solidFill>
                <a:latin typeface="EB Garamond"/>
              </a:rPr>
              <a:t>AI compute is commoditizing from two directions</a:t>
            </a:r>
          </a:p>
        </p:txBody>
      </p:sp>
      <p:sp>
        <p:nvSpPr>
          <p:cNvPr id="6" name="Rectangle 5"/>
          <p:cNvSpPr/>
          <p:nvPr/>
        </p:nvSpPr>
        <p:spPr>
          <a:xfrm>
            <a:off x="795528" y="658368"/>
            <a:ext cx="10881360" cy="18288"/>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786384"/>
            <a:ext cx="10424160" cy="475488"/>
          </a:xfrm>
          <a:prstGeom prst="rect">
            <a:avLst/>
          </a:prstGeom>
          <a:noFill/>
        </p:spPr>
        <p:txBody>
          <a:bodyPr wrap="square" anchor="ctr">
            <a:spAutoFit/>
          </a:bodyPr>
          <a:lstStyle/>
          <a:p>
            <a:pPr algn="l"/>
            <a:r>
              <a:rPr sz="1550" b="0">
                <a:solidFill>
                  <a:srgbClr val="5F6973"/>
                </a:solidFill>
                <a:latin typeface="EB Garamond"/>
              </a:rPr>
              <a:t>Nvidia does not merely face other GPUs. A growing share of AI workloads can move to custom accelerators that bypass GPUs entirely.</a:t>
            </a:r>
          </a:p>
        </p:txBody>
      </p:sp>
      <p:sp>
        <p:nvSpPr>
          <p:cNvPr id="8" name="Rounded Rectangle 7"/>
          <p:cNvSpPr/>
          <p:nvPr/>
        </p:nvSpPr>
        <p:spPr>
          <a:xfrm>
            <a:off x="502920" y="1389888"/>
            <a:ext cx="5568696" cy="4407408"/>
          </a:xfrm>
          <a:prstGeom prst="roundRect">
            <a:avLst/>
          </a:prstGeom>
          <a:solidFill>
            <a:srgbClr val="FFFFFF"/>
          </a:solidFill>
          <a:ln w="1524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ounded Rectangle 8"/>
          <p:cNvSpPr/>
          <p:nvPr/>
        </p:nvSpPr>
        <p:spPr>
          <a:xfrm>
            <a:off x="6254496" y="1389888"/>
            <a:ext cx="5230368" cy="4407408"/>
          </a:xfrm>
          <a:prstGeom prst="roundRect">
            <a:avLst/>
          </a:prstGeom>
          <a:solidFill>
            <a:srgbClr val="FFFFFF"/>
          </a:solidFill>
          <a:ln w="1524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10" name="TextBox 9"/>
          <p:cNvSpPr txBox="1"/>
          <p:nvPr/>
        </p:nvSpPr>
        <p:spPr>
          <a:xfrm>
            <a:off x="1069848" y="1572768"/>
            <a:ext cx="4709160" cy="347472"/>
          </a:xfrm>
          <a:prstGeom prst="rect">
            <a:avLst/>
          </a:prstGeom>
          <a:noFill/>
        </p:spPr>
        <p:txBody>
          <a:bodyPr wrap="square" anchor="ctr">
            <a:spAutoFit/>
          </a:bodyPr>
          <a:lstStyle/>
          <a:p>
            <a:pPr algn="l"/>
            <a:r>
              <a:rPr sz="1700" b="1">
                <a:solidFill>
                  <a:srgbClr val="022169"/>
                </a:solidFill>
                <a:latin typeface="EB Garamond"/>
              </a:rPr>
              <a:t>1  Direct GPU competition</a:t>
            </a:r>
          </a:p>
        </p:txBody>
      </p:sp>
      <p:sp>
        <p:nvSpPr>
          <p:cNvPr id="11" name="TextBox 10"/>
          <p:cNvSpPr txBox="1"/>
          <p:nvPr/>
        </p:nvSpPr>
        <p:spPr>
          <a:xfrm>
            <a:off x="1069848" y="1956816"/>
            <a:ext cx="4663440" cy="438912"/>
          </a:xfrm>
          <a:prstGeom prst="rect">
            <a:avLst/>
          </a:prstGeom>
          <a:noFill/>
        </p:spPr>
        <p:txBody>
          <a:bodyPr wrap="square" anchor="ctr">
            <a:spAutoFit/>
          </a:bodyPr>
          <a:lstStyle/>
          <a:p>
            <a:pPr algn="l"/>
            <a:r>
              <a:rPr sz="1250" b="0">
                <a:solidFill>
                  <a:srgbClr val="1F2A37"/>
                </a:solidFill>
                <a:latin typeface="EB Garamond"/>
              </a:rPr>
              <a:t>Even if GPUs remain central, Nvidia faces growing competition from other GPU suppliers.</a:t>
            </a:r>
          </a:p>
        </p:txBody>
      </p:sp>
      <p:sp>
        <p:nvSpPr>
          <p:cNvPr id="12" name="Rectangle 11"/>
          <p:cNvSpPr/>
          <p:nvPr/>
        </p:nvSpPr>
        <p:spPr>
          <a:xfrm>
            <a:off x="1078992" y="2560320"/>
            <a:ext cx="54864" cy="566928"/>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1261872" y="2542032"/>
            <a:ext cx="4251960" cy="219456"/>
          </a:xfrm>
          <a:prstGeom prst="rect">
            <a:avLst/>
          </a:prstGeom>
          <a:noFill/>
        </p:spPr>
        <p:txBody>
          <a:bodyPr wrap="square" anchor="ctr">
            <a:spAutoFit/>
          </a:bodyPr>
          <a:lstStyle/>
          <a:p>
            <a:pPr algn="l"/>
            <a:r>
              <a:rPr sz="1400" b="1">
                <a:solidFill>
                  <a:srgbClr val="022169"/>
                </a:solidFill>
                <a:latin typeface="EB Garamond"/>
              </a:rPr>
              <a:t>AMD Instinct MI400</a:t>
            </a:r>
          </a:p>
        </p:txBody>
      </p:sp>
      <p:sp>
        <p:nvSpPr>
          <p:cNvPr id="14" name="TextBox 13"/>
          <p:cNvSpPr txBox="1"/>
          <p:nvPr/>
        </p:nvSpPr>
        <p:spPr>
          <a:xfrm>
            <a:off x="1261872" y="2761488"/>
            <a:ext cx="4251960" cy="365760"/>
          </a:xfrm>
          <a:prstGeom prst="rect">
            <a:avLst/>
          </a:prstGeom>
          <a:noFill/>
        </p:spPr>
        <p:txBody>
          <a:bodyPr wrap="square" anchor="t">
            <a:spAutoFit/>
          </a:bodyPr>
          <a:lstStyle/>
          <a:p>
            <a:pPr algn="l"/>
            <a:r>
              <a:rPr sz="1140" b="0">
                <a:solidFill>
                  <a:srgbClr val="1F2A37"/>
                </a:solidFill>
                <a:latin typeface="EB Garamond"/>
              </a:rPr>
              <a:t>Frontier-AI GPU family with HBM4 and an open ROCm software stack.</a:t>
            </a:r>
          </a:p>
        </p:txBody>
      </p:sp>
      <p:sp>
        <p:nvSpPr>
          <p:cNvPr id="18" name="Rectangle 17"/>
          <p:cNvSpPr/>
          <p:nvPr/>
        </p:nvSpPr>
        <p:spPr>
          <a:xfrm>
            <a:off x="1078992" y="3968496"/>
            <a:ext cx="54864" cy="969264"/>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61872" y="3950208"/>
            <a:ext cx="4251960" cy="219456"/>
          </a:xfrm>
          <a:prstGeom prst="rect">
            <a:avLst/>
          </a:prstGeom>
          <a:noFill/>
        </p:spPr>
        <p:txBody>
          <a:bodyPr wrap="square" anchor="ctr">
            <a:spAutoFit/>
          </a:bodyPr>
          <a:lstStyle/>
          <a:p>
            <a:pPr algn="l"/>
            <a:r>
              <a:rPr sz="1400" b="1">
                <a:solidFill>
                  <a:srgbClr val="022169"/>
                </a:solidFill>
                <a:latin typeface="EB Garamond"/>
              </a:rPr>
              <a:t>Chinese GPU competitors</a:t>
            </a:r>
          </a:p>
        </p:txBody>
      </p:sp>
      <p:sp>
        <p:nvSpPr>
          <p:cNvPr id="20" name="TextBox 19"/>
          <p:cNvSpPr txBox="1"/>
          <p:nvPr/>
        </p:nvSpPr>
        <p:spPr>
          <a:xfrm>
            <a:off x="1261872" y="4169663"/>
            <a:ext cx="4251960" cy="768096"/>
          </a:xfrm>
          <a:prstGeom prst="rect">
            <a:avLst/>
          </a:prstGeom>
          <a:noFill/>
        </p:spPr>
        <p:txBody>
          <a:bodyPr wrap="square" anchor="t">
            <a:noAutofit/>
          </a:bodyPr>
          <a:lstStyle/>
          <a:p>
            <a:pPr algn="l"/>
            <a:r>
              <a:rPr sz="1070" b="0">
                <a:solidFill>
                  <a:srgbClr val="1F2A37"/>
                </a:solidFill>
                <a:latin typeface="EB Garamond"/>
              </a:rPr>
              <a:t>Moore Threads, MetaX, Biren and Iluvatar CoreX are scaling commercial GPUs, expanding production capacity and developing independent software ecosystems, posing a growing long-term threat to Nvidia's market share and pricing power.</a:t>
            </a:r>
          </a:p>
        </p:txBody>
      </p:sp>
      <p:sp>
        <p:nvSpPr>
          <p:cNvPr id="21" name="TextBox 20"/>
          <p:cNvSpPr txBox="1"/>
          <p:nvPr/>
        </p:nvSpPr>
        <p:spPr>
          <a:xfrm>
            <a:off x="6483096" y="1572768"/>
            <a:ext cx="4572000" cy="347472"/>
          </a:xfrm>
          <a:prstGeom prst="rect">
            <a:avLst/>
          </a:prstGeom>
          <a:noFill/>
        </p:spPr>
        <p:txBody>
          <a:bodyPr wrap="square" anchor="ctr">
            <a:spAutoFit/>
          </a:bodyPr>
          <a:lstStyle/>
          <a:p>
            <a:pPr algn="l"/>
            <a:r>
              <a:rPr sz="1700" b="1">
                <a:solidFill>
                  <a:srgbClr val="022169"/>
                </a:solidFill>
                <a:latin typeface="EB Garamond"/>
              </a:rPr>
              <a:t>2  AI ASICs bypass the GPU layer</a:t>
            </a:r>
          </a:p>
        </p:txBody>
      </p:sp>
      <p:sp>
        <p:nvSpPr>
          <p:cNvPr id="22" name="TextBox 21"/>
          <p:cNvSpPr txBox="1"/>
          <p:nvPr/>
        </p:nvSpPr>
        <p:spPr>
          <a:xfrm>
            <a:off x="6483096" y="1920240"/>
            <a:ext cx="4572000" cy="475488"/>
          </a:xfrm>
          <a:prstGeom prst="rect">
            <a:avLst/>
          </a:prstGeom>
          <a:noFill/>
        </p:spPr>
        <p:txBody>
          <a:bodyPr wrap="square" anchor="ctr">
            <a:spAutoFit/>
          </a:bodyPr>
          <a:lstStyle/>
          <a:p>
            <a:r>
              <a:rPr sz="1220">
                <a:solidFill>
                  <a:srgbClr val="1F2A37"/>
                </a:solidFill>
                <a:latin typeface="EB Garamond"/>
              </a:rPr>
              <a:t>AI ASICs emerge from chip suppliers and from hyperscalers designing silicon around high-volume workloads.</a:t>
            </a:r>
          </a:p>
        </p:txBody>
      </p:sp>
      <p:sp>
        <p:nvSpPr>
          <p:cNvPr id="23" name="TextBox 22"/>
          <p:cNvSpPr txBox="1"/>
          <p:nvPr/>
        </p:nvSpPr>
        <p:spPr>
          <a:xfrm>
            <a:off x="6510528" y="2980944"/>
            <a:ext cx="1325880" cy="658368"/>
          </a:xfrm>
          <a:prstGeom prst="rect">
            <a:avLst/>
          </a:prstGeom>
          <a:noFill/>
        </p:spPr>
        <p:txBody>
          <a:bodyPr wrap="square" anchor="ctr">
            <a:spAutoFit/>
          </a:bodyPr>
          <a:lstStyle/>
          <a:p>
            <a:pPr algn="ctr"/>
            <a:r>
              <a:rPr sz="3000" b="1">
                <a:solidFill>
                  <a:srgbClr val="0072CE"/>
                </a:solidFill>
                <a:latin typeface="EB Garamond"/>
              </a:rPr>
              <a:t>27.8%</a:t>
            </a:r>
          </a:p>
        </p:txBody>
      </p:sp>
      <p:sp>
        <p:nvSpPr>
          <p:cNvPr id="24" name="TextBox 23"/>
          <p:cNvSpPr txBox="1"/>
          <p:nvPr/>
        </p:nvSpPr>
        <p:spPr>
          <a:xfrm>
            <a:off x="7936992" y="3081528"/>
            <a:ext cx="438912" cy="384048"/>
          </a:xfrm>
          <a:prstGeom prst="rect">
            <a:avLst/>
          </a:prstGeom>
          <a:noFill/>
        </p:spPr>
        <p:txBody>
          <a:bodyPr wrap="square" anchor="ctr">
            <a:spAutoFit/>
          </a:bodyPr>
          <a:lstStyle/>
          <a:p>
            <a:pPr algn="ctr"/>
            <a:r>
              <a:rPr sz="2400" b="1">
                <a:solidFill>
                  <a:srgbClr val="5F6973"/>
                </a:solidFill>
                <a:latin typeface="EB Garamond"/>
              </a:rPr>
              <a:t>→</a:t>
            </a:r>
          </a:p>
        </p:txBody>
      </p:sp>
      <p:sp>
        <p:nvSpPr>
          <p:cNvPr id="25" name="TextBox 24"/>
          <p:cNvSpPr txBox="1"/>
          <p:nvPr/>
        </p:nvSpPr>
        <p:spPr>
          <a:xfrm>
            <a:off x="8375904" y="2980944"/>
            <a:ext cx="1325880" cy="658368"/>
          </a:xfrm>
          <a:prstGeom prst="rect">
            <a:avLst/>
          </a:prstGeom>
          <a:noFill/>
        </p:spPr>
        <p:txBody>
          <a:bodyPr wrap="square" anchor="ctr">
            <a:spAutoFit/>
          </a:bodyPr>
          <a:lstStyle/>
          <a:p>
            <a:pPr algn="ctr"/>
            <a:r>
              <a:rPr sz="3000" b="1">
                <a:solidFill>
                  <a:srgbClr val="022169"/>
                </a:solidFill>
                <a:latin typeface="EB Garamond"/>
              </a:rPr>
              <a:t>~40%</a:t>
            </a:r>
          </a:p>
        </p:txBody>
      </p:sp>
      <p:sp>
        <p:nvSpPr>
          <p:cNvPr id="26" name="TextBox 25"/>
          <p:cNvSpPr txBox="1"/>
          <p:nvPr/>
        </p:nvSpPr>
        <p:spPr>
          <a:xfrm>
            <a:off x="6428232" y="3520440"/>
            <a:ext cx="1490472" cy="420624"/>
          </a:xfrm>
          <a:prstGeom prst="rect">
            <a:avLst/>
          </a:prstGeom>
          <a:noFill/>
        </p:spPr>
        <p:txBody>
          <a:bodyPr wrap="square" anchor="ctr">
            <a:spAutoFit/>
          </a:bodyPr>
          <a:lstStyle/>
          <a:p>
            <a:pPr algn="ctr"/>
            <a:r>
              <a:rPr sz="1030" b="1">
                <a:solidFill>
                  <a:srgbClr val="5F6973"/>
                </a:solidFill>
                <a:latin typeface="EB Garamond"/>
              </a:rPr>
              <a:t>ASIC-based AI-server
shipments, 2026</a:t>
            </a:r>
          </a:p>
        </p:txBody>
      </p:sp>
      <p:sp>
        <p:nvSpPr>
          <p:cNvPr id="27" name="TextBox 26"/>
          <p:cNvSpPr txBox="1"/>
          <p:nvPr/>
        </p:nvSpPr>
        <p:spPr>
          <a:xfrm>
            <a:off x="8284464" y="3520440"/>
            <a:ext cx="1490472" cy="420624"/>
          </a:xfrm>
          <a:prstGeom prst="rect">
            <a:avLst/>
          </a:prstGeom>
          <a:noFill/>
        </p:spPr>
        <p:txBody>
          <a:bodyPr wrap="square" anchor="ctr">
            <a:spAutoFit/>
          </a:bodyPr>
          <a:lstStyle/>
          <a:p>
            <a:pPr algn="ctr"/>
            <a:r>
              <a:rPr sz="1030" b="1">
                <a:solidFill>
                  <a:srgbClr val="5F6973"/>
                </a:solidFill>
                <a:latin typeface="EB Garamond"/>
              </a:rPr>
              <a:t>Forecast share
by 2030</a:t>
            </a:r>
          </a:p>
        </p:txBody>
      </p:sp>
      <p:sp>
        <p:nvSpPr>
          <p:cNvPr id="28" name="Rounded Rectangle 27"/>
          <p:cNvSpPr/>
          <p:nvPr/>
        </p:nvSpPr>
        <p:spPr>
          <a:xfrm>
            <a:off x="9857232" y="3095368"/>
            <a:ext cx="1188720" cy="1124712"/>
          </a:xfrm>
          <a:prstGeom prst="roundRect">
            <a:avLst/>
          </a:prstGeom>
          <a:solidFill>
            <a:srgbClr val="F2F7FB"/>
          </a:solidFill>
          <a:ln w="1016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948672" y="3098181"/>
            <a:ext cx="1005840" cy="347472"/>
          </a:xfrm>
          <a:prstGeom prst="rect">
            <a:avLst/>
          </a:prstGeom>
          <a:noFill/>
        </p:spPr>
        <p:txBody>
          <a:bodyPr wrap="square" anchor="ctr">
            <a:spAutoFit/>
          </a:bodyPr>
          <a:lstStyle/>
          <a:p>
            <a:pPr algn="ctr"/>
            <a:r>
              <a:rPr sz="2100" b="1" dirty="0">
                <a:solidFill>
                  <a:srgbClr val="022169"/>
                </a:solidFill>
                <a:latin typeface="EB Garamond"/>
              </a:rPr>
              <a:t>2028</a:t>
            </a:r>
          </a:p>
        </p:txBody>
      </p:sp>
      <p:sp>
        <p:nvSpPr>
          <p:cNvPr id="30" name="TextBox 29"/>
          <p:cNvSpPr txBox="1"/>
          <p:nvPr/>
        </p:nvSpPr>
        <p:spPr>
          <a:xfrm>
            <a:off x="9930384" y="3450808"/>
            <a:ext cx="1042415" cy="612648"/>
          </a:xfrm>
          <a:prstGeom prst="rect">
            <a:avLst/>
          </a:prstGeom>
          <a:noFill/>
        </p:spPr>
        <p:txBody>
          <a:bodyPr wrap="square" anchor="ctr">
            <a:spAutoFit/>
          </a:bodyPr>
          <a:lstStyle/>
          <a:p>
            <a:pPr algn="ctr"/>
            <a:r>
              <a:rPr sz="969" b="1" dirty="0">
                <a:solidFill>
                  <a:srgbClr val="1F2A37"/>
                </a:solidFill>
                <a:latin typeface="EB Garamond"/>
              </a:rPr>
              <a:t>ASIC unit shipments
&gt; GPU shipments</a:t>
            </a:r>
          </a:p>
        </p:txBody>
      </p:sp>
      <p:sp>
        <p:nvSpPr>
          <p:cNvPr id="31" name="TextBox 30"/>
          <p:cNvSpPr txBox="1"/>
          <p:nvPr/>
        </p:nvSpPr>
        <p:spPr>
          <a:xfrm>
            <a:off x="6492240" y="4233672"/>
            <a:ext cx="4526280" cy="228600"/>
          </a:xfrm>
          <a:prstGeom prst="rect">
            <a:avLst/>
          </a:prstGeom>
          <a:noFill/>
        </p:spPr>
        <p:txBody>
          <a:bodyPr wrap="square" anchor="ctr">
            <a:spAutoFit/>
          </a:bodyPr>
          <a:lstStyle/>
          <a:p>
            <a:pPr algn="l"/>
            <a:r>
              <a:rPr sz="1380" b="1">
                <a:solidFill>
                  <a:srgbClr val="022169"/>
                </a:solidFill>
                <a:latin typeface="EB Garamond"/>
              </a:rPr>
              <a:t>Hyperscaler / customer ASIC examples</a:t>
            </a:r>
          </a:p>
        </p:txBody>
      </p:sp>
      <p:sp>
        <p:nvSpPr>
          <p:cNvPr id="32" name="Rounded Rectangle 31"/>
          <p:cNvSpPr/>
          <p:nvPr/>
        </p:nvSpPr>
        <p:spPr>
          <a:xfrm>
            <a:off x="6583680" y="4690872"/>
            <a:ext cx="731520" cy="685800"/>
          </a:xfrm>
          <a:prstGeom prst="roundRect">
            <a:avLst/>
          </a:prstGeom>
          <a:solidFill>
            <a:srgbClr val="F2F7FB"/>
          </a:solidFill>
          <a:ln w="1016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6537959" y="4754880"/>
            <a:ext cx="822960" cy="256032"/>
          </a:xfrm>
          <a:prstGeom prst="rect">
            <a:avLst/>
          </a:prstGeom>
          <a:noFill/>
        </p:spPr>
        <p:txBody>
          <a:bodyPr wrap="square" anchor="ctr">
            <a:spAutoFit/>
          </a:bodyPr>
          <a:lstStyle/>
          <a:p>
            <a:pPr algn="ctr"/>
            <a:r>
              <a:rPr sz="1019" b="1">
                <a:solidFill>
                  <a:srgbClr val="5F6973"/>
                </a:solidFill>
                <a:latin typeface="EB Garamond"/>
              </a:rPr>
              <a:t>Google</a:t>
            </a:r>
          </a:p>
        </p:txBody>
      </p:sp>
      <p:sp>
        <p:nvSpPr>
          <p:cNvPr id="34" name="TextBox 33"/>
          <p:cNvSpPr txBox="1"/>
          <p:nvPr/>
        </p:nvSpPr>
        <p:spPr>
          <a:xfrm>
            <a:off x="6537959" y="5020056"/>
            <a:ext cx="822960" cy="356616"/>
          </a:xfrm>
          <a:prstGeom prst="rect">
            <a:avLst/>
          </a:prstGeom>
          <a:noFill/>
        </p:spPr>
        <p:txBody>
          <a:bodyPr wrap="square" anchor="ctr">
            <a:spAutoFit/>
          </a:bodyPr>
          <a:lstStyle/>
          <a:p>
            <a:pPr algn="ctr"/>
            <a:r>
              <a:rPr sz="1220" b="1">
                <a:solidFill>
                  <a:srgbClr val="022169"/>
                </a:solidFill>
                <a:latin typeface="EB Garamond"/>
              </a:rPr>
              <a:t>TPU</a:t>
            </a:r>
          </a:p>
        </p:txBody>
      </p:sp>
      <p:sp>
        <p:nvSpPr>
          <p:cNvPr id="35" name="Rounded Rectangle 34"/>
          <p:cNvSpPr/>
          <p:nvPr/>
        </p:nvSpPr>
        <p:spPr>
          <a:xfrm>
            <a:off x="7589520" y="4690872"/>
            <a:ext cx="914400" cy="914400"/>
          </a:xfrm>
          <a:prstGeom prst="roundRect">
            <a:avLst/>
          </a:prstGeom>
          <a:solidFill>
            <a:srgbClr val="F2F7FB"/>
          </a:solidFill>
          <a:ln w="1016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635240" y="4754880"/>
            <a:ext cx="822960" cy="256032"/>
          </a:xfrm>
          <a:prstGeom prst="rect">
            <a:avLst/>
          </a:prstGeom>
          <a:noFill/>
        </p:spPr>
        <p:txBody>
          <a:bodyPr wrap="square" anchor="ctr">
            <a:spAutoFit/>
          </a:bodyPr>
          <a:lstStyle/>
          <a:p>
            <a:pPr algn="ctr"/>
            <a:r>
              <a:rPr sz="1019" b="1">
                <a:solidFill>
                  <a:srgbClr val="5F6973"/>
                </a:solidFill>
                <a:latin typeface="EB Garamond"/>
              </a:rPr>
              <a:t>AWS</a:t>
            </a:r>
          </a:p>
        </p:txBody>
      </p:sp>
      <p:sp>
        <p:nvSpPr>
          <p:cNvPr id="37" name="TextBox 36"/>
          <p:cNvSpPr txBox="1"/>
          <p:nvPr/>
        </p:nvSpPr>
        <p:spPr>
          <a:xfrm>
            <a:off x="7635240" y="5020056"/>
            <a:ext cx="822960" cy="356616"/>
          </a:xfrm>
          <a:prstGeom prst="rect">
            <a:avLst/>
          </a:prstGeom>
          <a:noFill/>
        </p:spPr>
        <p:txBody>
          <a:bodyPr wrap="square" anchor="ctr">
            <a:spAutoFit/>
          </a:bodyPr>
          <a:lstStyle/>
          <a:p>
            <a:pPr algn="ctr"/>
            <a:r>
              <a:rPr sz="1220" b="1">
                <a:solidFill>
                  <a:srgbClr val="022169"/>
                </a:solidFill>
                <a:latin typeface="EB Garamond"/>
              </a:rPr>
              <a:t>Trainium</a:t>
            </a:r>
          </a:p>
        </p:txBody>
      </p:sp>
      <p:sp>
        <p:nvSpPr>
          <p:cNvPr id="38" name="Rounded Rectangle 37"/>
          <p:cNvSpPr/>
          <p:nvPr/>
        </p:nvSpPr>
        <p:spPr>
          <a:xfrm>
            <a:off x="8686800" y="4690872"/>
            <a:ext cx="914400" cy="914400"/>
          </a:xfrm>
          <a:prstGeom prst="roundRect">
            <a:avLst/>
          </a:prstGeom>
          <a:solidFill>
            <a:srgbClr val="F2F7FB"/>
          </a:solidFill>
          <a:ln w="1016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732520" y="4754880"/>
            <a:ext cx="822960" cy="256032"/>
          </a:xfrm>
          <a:prstGeom prst="rect">
            <a:avLst/>
          </a:prstGeom>
          <a:noFill/>
        </p:spPr>
        <p:txBody>
          <a:bodyPr wrap="square" anchor="ctr">
            <a:spAutoFit/>
          </a:bodyPr>
          <a:lstStyle/>
          <a:p>
            <a:pPr algn="ctr"/>
            <a:r>
              <a:rPr sz="1019" b="1">
                <a:solidFill>
                  <a:srgbClr val="5F6973"/>
                </a:solidFill>
                <a:latin typeface="EB Garamond"/>
              </a:rPr>
              <a:t>Meta</a:t>
            </a:r>
          </a:p>
        </p:txBody>
      </p:sp>
      <p:sp>
        <p:nvSpPr>
          <p:cNvPr id="40" name="TextBox 39"/>
          <p:cNvSpPr txBox="1"/>
          <p:nvPr/>
        </p:nvSpPr>
        <p:spPr>
          <a:xfrm>
            <a:off x="8732520" y="5020056"/>
            <a:ext cx="822960" cy="356616"/>
          </a:xfrm>
          <a:prstGeom prst="rect">
            <a:avLst/>
          </a:prstGeom>
          <a:noFill/>
        </p:spPr>
        <p:txBody>
          <a:bodyPr wrap="square" anchor="ctr">
            <a:spAutoFit/>
          </a:bodyPr>
          <a:lstStyle/>
          <a:p>
            <a:pPr algn="ctr"/>
            <a:r>
              <a:rPr sz="1220" b="1">
                <a:solidFill>
                  <a:srgbClr val="022169"/>
                </a:solidFill>
                <a:latin typeface="EB Garamond"/>
              </a:rPr>
              <a:t>MTIA</a:t>
            </a:r>
          </a:p>
        </p:txBody>
      </p:sp>
      <p:sp>
        <p:nvSpPr>
          <p:cNvPr id="41" name="Rounded Rectangle 40"/>
          <p:cNvSpPr/>
          <p:nvPr/>
        </p:nvSpPr>
        <p:spPr>
          <a:xfrm>
            <a:off x="9784079" y="4690872"/>
            <a:ext cx="1207007" cy="704088"/>
          </a:xfrm>
          <a:prstGeom prst="roundRect">
            <a:avLst/>
          </a:prstGeom>
          <a:solidFill>
            <a:srgbClr val="F2F7FB"/>
          </a:solidFill>
          <a:ln w="1016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9829800" y="4754880"/>
            <a:ext cx="1207007" cy="256032"/>
          </a:xfrm>
          <a:prstGeom prst="rect">
            <a:avLst/>
          </a:prstGeom>
          <a:noFill/>
        </p:spPr>
        <p:txBody>
          <a:bodyPr wrap="square" anchor="ctr">
            <a:spAutoFit/>
          </a:bodyPr>
          <a:lstStyle/>
          <a:p>
            <a:pPr algn="ctr"/>
            <a:r>
              <a:rPr sz="1019" b="1">
                <a:solidFill>
                  <a:srgbClr val="5F6973"/>
                </a:solidFill>
                <a:latin typeface="EB Garamond"/>
              </a:rPr>
              <a:t>OpenAI + Broadcom</a:t>
            </a:r>
          </a:p>
        </p:txBody>
      </p:sp>
      <p:sp>
        <p:nvSpPr>
          <p:cNvPr id="43" name="TextBox 42"/>
          <p:cNvSpPr txBox="1"/>
          <p:nvPr/>
        </p:nvSpPr>
        <p:spPr>
          <a:xfrm>
            <a:off x="9829800" y="5020056"/>
            <a:ext cx="1207007" cy="356616"/>
          </a:xfrm>
          <a:prstGeom prst="rect">
            <a:avLst/>
          </a:prstGeom>
          <a:noFill/>
        </p:spPr>
        <p:txBody>
          <a:bodyPr wrap="square" anchor="ctr">
            <a:spAutoFit/>
          </a:bodyPr>
          <a:lstStyle/>
          <a:p>
            <a:pPr algn="ctr"/>
            <a:r>
              <a:rPr sz="1220" b="1" dirty="0">
                <a:solidFill>
                  <a:srgbClr val="022169"/>
                </a:solidFill>
                <a:latin typeface="EB Garamond"/>
              </a:rPr>
              <a:t>Jalapeño</a:t>
            </a:r>
          </a:p>
        </p:txBody>
      </p:sp>
      <p:sp>
        <p:nvSpPr>
          <p:cNvPr id="44" name="Rounded Rectangle 43"/>
          <p:cNvSpPr/>
          <p:nvPr/>
        </p:nvSpPr>
        <p:spPr>
          <a:xfrm>
            <a:off x="896112" y="5719572"/>
            <a:ext cx="10332720" cy="512064"/>
          </a:xfrm>
          <a:prstGeom prst="roundRect">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060704" y="5765292"/>
            <a:ext cx="10003536" cy="411480"/>
          </a:xfrm>
          <a:prstGeom prst="rect">
            <a:avLst/>
          </a:prstGeom>
          <a:noFill/>
        </p:spPr>
        <p:txBody>
          <a:bodyPr wrap="square" anchor="ctr">
            <a:spAutoFit/>
          </a:bodyPr>
          <a:lstStyle/>
          <a:p>
            <a:pPr algn="ctr"/>
            <a:r>
              <a:rPr sz="1340" b="1" dirty="0">
                <a:solidFill>
                  <a:srgbClr val="FFFFFF"/>
                </a:solidFill>
                <a:latin typeface="EB Garamond"/>
              </a:rPr>
              <a:t>Nvidia will likely face a double loss in market share: GPU competition and GPU cannibalization by ASICs, where it has negligible market share.</a:t>
            </a:r>
          </a:p>
        </p:txBody>
      </p:sp>
      <p:sp>
        <p:nvSpPr>
          <p:cNvPr id="46" name="TextBox 45"/>
          <p:cNvSpPr txBox="1"/>
          <p:nvPr/>
        </p:nvSpPr>
        <p:spPr>
          <a:xfrm>
            <a:off x="502920" y="6327648"/>
            <a:ext cx="10835640" cy="256032"/>
          </a:xfrm>
          <a:prstGeom prst="rect">
            <a:avLst/>
          </a:prstGeom>
          <a:noFill/>
        </p:spPr>
        <p:txBody>
          <a:bodyPr wrap="square" anchor="ctr">
            <a:spAutoFit/>
          </a:bodyPr>
          <a:lstStyle/>
          <a:p>
            <a:r>
              <a:rPr sz="660" dirty="0">
                <a:solidFill>
                  <a:srgbClr val="5F6973"/>
                </a:solidFill>
                <a:latin typeface="EB Garamond"/>
              </a:rPr>
              <a:t>Sources: </a:t>
            </a:r>
            <a:r>
              <a:rPr sz="660" dirty="0" err="1">
                <a:solidFill>
                  <a:srgbClr val="5F6973"/>
                </a:solidFill>
                <a:latin typeface="EB Garamond"/>
              </a:rPr>
              <a:t>TrendForce</a:t>
            </a:r>
            <a:r>
              <a:rPr sz="660" dirty="0">
                <a:solidFill>
                  <a:srgbClr val="5F6973"/>
                </a:solidFill>
                <a:latin typeface="EB Garamond"/>
              </a:rPr>
              <a:t> (Mar. 18, 2026): ASIC-based AI servers 27.8% of shipments in 2026, nearly 40% by 2030. </a:t>
            </a:r>
            <a:r>
              <a:rPr sz="660" dirty="0" err="1">
                <a:solidFill>
                  <a:srgbClr val="5F6973"/>
                </a:solidFill>
                <a:latin typeface="EB Garamond"/>
              </a:rPr>
              <a:t>Omdia</a:t>
            </a:r>
            <a:r>
              <a:rPr sz="660" dirty="0">
                <a:solidFill>
                  <a:srgbClr val="5F6973"/>
                </a:solidFill>
                <a:latin typeface="EB Garamond"/>
              </a:rPr>
              <a:t> (Aug. 21, 2026): custom AI-ASIC unit shipments forecast to exceed GPUs in 2028. Google Cloud documents TPUs as purpose-built ASICs optimized for ML matrix operations and cost-efficient serving; AWS reports </a:t>
            </a:r>
            <a:r>
              <a:rPr sz="660" dirty="0" err="1">
                <a:solidFill>
                  <a:srgbClr val="5F6973"/>
                </a:solidFill>
                <a:latin typeface="EB Garamond"/>
              </a:rPr>
              <a:t>Trainium</a:t>
            </a:r>
            <a:r>
              <a:rPr sz="660" dirty="0">
                <a:solidFill>
                  <a:srgbClr val="5F6973"/>
                </a:solidFill>
                <a:latin typeface="EB Garamond"/>
              </a:rPr>
              <a:t> workloads with lower training cost and higher energy efficiency versus GPU machines. Examples: Google TPU; AWS </a:t>
            </a:r>
            <a:r>
              <a:rPr sz="660" dirty="0" err="1">
                <a:solidFill>
                  <a:srgbClr val="5F6973"/>
                </a:solidFill>
                <a:latin typeface="EB Garamond"/>
              </a:rPr>
              <a:t>Trainium</a:t>
            </a:r>
            <a:r>
              <a:rPr sz="660" dirty="0">
                <a:solidFill>
                  <a:srgbClr val="5F6973"/>
                </a:solidFill>
                <a:latin typeface="EB Garamond"/>
              </a:rPr>
              <a:t>; Meta MTIA; OpenAI–Broadcom Jalapeño; AMD Instinct MI400; Intel D-Series (Jon Peddie Research, Oct. 2026). China share: Huang, Computex (May 2025); </a:t>
            </a:r>
            <a:r>
              <a:rPr sz="660" dirty="0" err="1">
                <a:solidFill>
                  <a:srgbClr val="5F6973"/>
                </a:solidFill>
                <a:latin typeface="EB Garamond"/>
              </a:rPr>
              <a:t>TrendForce</a:t>
            </a:r>
            <a:r>
              <a:rPr sz="660" dirty="0">
                <a:solidFill>
                  <a:srgbClr val="5F6973"/>
                </a:solidFill>
                <a:latin typeface="EB Garamond"/>
              </a:rPr>
              <a:t> via SCMP (June 25, 2026).</a:t>
            </a:r>
          </a:p>
        </p:txBody>
      </p:sp>
      <p:sp>
        <p:nvSpPr>
          <p:cNvPr id="47" name="TextBox 46"/>
          <p:cNvSpPr txBox="1"/>
          <p:nvPr/>
        </p:nvSpPr>
        <p:spPr>
          <a:xfrm>
            <a:off x="11384280" y="6492240"/>
            <a:ext cx="411480" cy="164592"/>
          </a:xfrm>
          <a:prstGeom prst="rect">
            <a:avLst/>
          </a:prstGeom>
          <a:noFill/>
        </p:spPr>
        <p:txBody>
          <a:bodyPr wrap="square" anchor="ctr">
            <a:spAutoFit/>
          </a:bodyPr>
          <a:lstStyle/>
          <a:p>
            <a:r>
              <a:rPr sz="900">
                <a:solidFill>
                  <a:srgbClr val="5F6973"/>
                </a:solidFill>
                <a:latin typeface="Aptos"/>
              </a:rPr>
              <a:t>13</a:t>
            </a:r>
          </a:p>
        </p:txBody>
      </p:sp>
      <p:sp>
        <p:nvSpPr>
          <p:cNvPr id="48" name="Rounded Rectangle 47"/>
          <p:cNvSpPr/>
          <p:nvPr/>
        </p:nvSpPr>
        <p:spPr>
          <a:xfrm>
            <a:off x="6492240" y="2395728"/>
            <a:ext cx="4498848" cy="576072"/>
          </a:xfrm>
          <a:prstGeom prst="roundRect">
            <a:avLst/>
          </a:prstGeom>
          <a:solidFill>
            <a:srgbClr val="F2F7FB"/>
          </a:solidFill>
          <a:ln w="1016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6620256" y="2459736"/>
            <a:ext cx="4242816" cy="448056"/>
          </a:xfrm>
          <a:prstGeom prst="rect">
            <a:avLst/>
          </a:prstGeom>
          <a:noFill/>
        </p:spPr>
        <p:txBody>
          <a:bodyPr wrap="square" anchor="ctr">
            <a:spAutoFit/>
          </a:bodyPr>
          <a:lstStyle/>
          <a:p>
            <a:pPr algn="ctr"/>
            <a:r>
              <a:rPr sz="1120" b="1">
                <a:solidFill>
                  <a:srgbClr val="022169"/>
                </a:solidFill>
                <a:latin typeface="EB Garamond"/>
              </a:rPr>
              <a:t>For a fixed specialized task, ASICs can deliver equivalent capability at lower cost and higher energy efficiency by stripping out GPU flexibility overhead.</a:t>
            </a:r>
          </a:p>
        </p:txBody>
      </p:sp>
      <p:sp>
        <p:nvSpPr>
          <p:cNvPr id="50" name="TextBox 49"/>
          <p:cNvSpPr txBox="1"/>
          <p:nvPr/>
        </p:nvSpPr>
        <p:spPr>
          <a:xfrm>
            <a:off x="1261872" y="5020056"/>
            <a:ext cx="4297680" cy="429768"/>
          </a:xfrm>
          <a:prstGeom prst="rect">
            <a:avLst/>
          </a:prstGeom>
          <a:noFill/>
        </p:spPr>
        <p:txBody>
          <a:bodyPr wrap="square" lIns="0" tIns="0" rIns="0" bIns="0">
            <a:noAutofit/>
          </a:bodyPr>
          <a:lstStyle/>
          <a:p>
            <a:pPr algn="l">
              <a:lnSpc>
                <a:spcPct val="100000"/>
              </a:lnSpc>
              <a:spcBef>
                <a:spcPts val="0"/>
              </a:spcBef>
              <a:spcAft>
                <a:spcPts val="0"/>
              </a:spcAft>
            </a:pPr>
            <a:r>
              <a:rPr sz="1050" b="1" dirty="0">
                <a:solidFill>
                  <a:srgbClr val="022169"/>
                </a:solidFill>
                <a:latin typeface="EB Garamond"/>
              </a:rPr>
              <a:t>China AI-chip shift: </a:t>
            </a:r>
            <a:r>
              <a:rPr sz="1050" dirty="0">
                <a:solidFill>
                  <a:srgbClr val="58636D"/>
                </a:solidFill>
                <a:latin typeface="EB Garamond"/>
              </a:rPr>
              <a:t>Nvidia ~95% (2021, Huang); all foreign suppliers incl. Nvidia/AMD 34% (2025) → 21% (2026 forecast, </a:t>
            </a:r>
            <a:r>
              <a:rPr sz="1050" dirty="0" err="1">
                <a:solidFill>
                  <a:srgbClr val="58636D"/>
                </a:solidFill>
                <a:latin typeface="EB Garamond"/>
              </a:rPr>
              <a:t>TrendForce</a:t>
            </a:r>
            <a:r>
              <a:rPr sz="1050" dirty="0">
                <a:solidFill>
                  <a:srgbClr val="58636D"/>
                </a:solidFill>
                <a:latin typeface="EB Garamond"/>
              </a:rPr>
              <a:t>).</a:t>
            </a:r>
          </a:p>
        </p:txBody>
      </p:sp>
      <p:sp>
        <p:nvSpPr>
          <p:cNvPr id="52" name="Intel D-Series accent"/>
          <p:cNvSpPr/>
          <p:nvPr/>
        </p:nvSpPr>
        <p:spPr>
          <a:xfrm>
            <a:off x="1078992" y="3246120"/>
            <a:ext cx="54864" cy="548640"/>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Intel D-Series title"/>
          <p:cNvSpPr txBox="1"/>
          <p:nvPr/>
        </p:nvSpPr>
        <p:spPr>
          <a:xfrm>
            <a:off x="1261872" y="3246120"/>
            <a:ext cx="4251960" cy="219456"/>
          </a:xfrm>
          <a:prstGeom prst="rect">
            <a:avLst/>
          </a:prstGeom>
          <a:noFill/>
        </p:spPr>
        <p:txBody>
          <a:bodyPr wrap="square" anchor="ctr">
            <a:spAutoFit/>
          </a:bodyPr>
          <a:lstStyle/>
          <a:p>
            <a:pPr algn="l"/>
            <a:r>
              <a:rPr sz="1400" b="1">
                <a:solidFill>
                  <a:srgbClr val="022169"/>
                </a:solidFill>
                <a:latin typeface="EB Garamond"/>
              </a:rPr>
              <a:t>Intel GPU D-Series (Crescent Island)</a:t>
            </a:r>
          </a:p>
        </p:txBody>
      </p:sp>
      <p:sp>
        <p:nvSpPr>
          <p:cNvPr id="54" name="Intel D-Series description"/>
          <p:cNvSpPr txBox="1"/>
          <p:nvPr/>
        </p:nvSpPr>
        <p:spPr>
          <a:xfrm>
            <a:off x="1261872" y="3465576"/>
            <a:ext cx="4251960" cy="411480"/>
          </a:xfrm>
          <a:prstGeom prst="rect">
            <a:avLst/>
          </a:prstGeom>
          <a:noFill/>
        </p:spPr>
        <p:txBody>
          <a:bodyPr wrap="square" anchor="t">
            <a:spAutoFit/>
          </a:bodyPr>
          <a:lstStyle/>
          <a:p>
            <a:pPr algn="l"/>
            <a:r>
              <a:rPr sz="1140" b="0">
                <a:solidFill>
                  <a:srgbClr val="1F2A37"/>
                </a:solidFill>
                <a:latin typeface="EB Garamond"/>
              </a:rPr>
              <a:t>Inference-focused GPUs targeting lower-cost, power-efficient deployment in existing data centers; customer sampling in 2026.</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8F6"/>
        </a:solidFill>
        <a:effectLst/>
      </p:bgPr>
    </p:bg>
    <p:spTree>
      <p:nvGrpSpPr>
        <p:cNvPr id="1" name=""/>
        <p:cNvGrpSpPr/>
        <p:nvPr/>
      </p:nvGrpSpPr>
      <p:grpSpPr>
        <a:xfrm>
          <a:off x="0" y="0"/>
          <a:ext cx="0" cy="0"/>
          <a:chOff x="0" y="0"/>
          <a:chExt cx="0" cy="0"/>
        </a:xfrm>
      </p:grpSpPr>
      <p:sp>
        <p:nvSpPr>
          <p:cNvPr id="69" name="Rectangle 7"/>
          <p:cNvSpPr/>
          <p:nvPr/>
        </p:nvSpPr>
        <p:spPr>
          <a:xfrm>
            <a:off x="0" y="0"/>
            <a:ext cx="12189960" cy="98640"/>
          </a:xfrm>
          <a:prstGeom prst="rect">
            <a:avLst/>
          </a:prstGeom>
          <a:solidFill>
            <a:srgbClr val="BCDCE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lstStyle/>
          <a:p>
            <a:endParaRPr lang="en-US" sz="1800" b="0" u="none" strike="noStrike">
              <a:solidFill>
                <a:schemeClr val="lt1"/>
              </a:solidFill>
              <a:effectLst/>
              <a:uFillTx/>
              <a:latin typeface="Calibri"/>
            </a:endParaRPr>
          </a:p>
        </p:txBody>
      </p:sp>
      <p:sp>
        <p:nvSpPr>
          <p:cNvPr id="70" name="TextBox 10"/>
          <p:cNvSpPr/>
          <p:nvPr/>
        </p:nvSpPr>
        <p:spPr>
          <a:xfrm>
            <a:off x="749880" y="329040"/>
            <a:ext cx="10605240" cy="124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endParaRPr/>
          </a:p>
        </p:txBody>
      </p:sp>
      <p:sp>
        <p:nvSpPr>
          <p:cNvPr id="71" name="TextBox 11"/>
          <p:cNvSpPr/>
          <p:nvPr/>
        </p:nvSpPr>
        <p:spPr>
          <a:xfrm>
            <a:off x="896112" y="228600"/>
            <a:ext cx="10607040" cy="457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spAutoFit/>
          </a:bodyPr>
          <a:lstStyle/>
          <a:p>
            <a:pPr defTabSz="914400">
              <a:lnSpc>
                <a:spcPct val="100000"/>
              </a:lnSpc>
            </a:pPr>
            <a:r>
              <a:rPr lang="en-US" sz="2400" b="1" u="none" strike="noStrike">
                <a:solidFill>
                  <a:srgbClr val="0A2878"/>
                </a:solidFill>
                <a:effectLst/>
                <a:uFillTx/>
                <a:latin typeface="EB Garamond"/>
                <a:ea typeface="Arial"/>
              </a:rPr>
              <a:t>The hype: demand beyond a 70% growth year</a:t>
            </a:r>
            <a:endParaRPr lang="en-US" sz="2200" b="0" u="none" strike="noStrike">
              <a:solidFill>
                <a:srgbClr val="000000"/>
              </a:solidFill>
              <a:effectLst/>
              <a:uFillTx/>
              <a:latin typeface="Arial"/>
            </a:endParaRPr>
          </a:p>
        </p:txBody>
      </p:sp>
      <p:sp>
        <p:nvSpPr>
          <p:cNvPr id="74" name="Rectangle 73"/>
          <p:cNvSpPr/>
          <p:nvPr/>
        </p:nvSpPr>
        <p:spPr>
          <a:xfrm>
            <a:off x="718380" y="1212030"/>
            <a:ext cx="10753200" cy="1247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2700" b="1" u="none" strike="noStrike" dirty="0">
                <a:solidFill>
                  <a:srgbClr val="0A2878"/>
                </a:solidFill>
                <a:effectLst/>
                <a:uFillTx/>
                <a:latin typeface="Aptos"/>
                <a:ea typeface="Arial"/>
              </a:rPr>
              <a:t>“Our demand is much greater than 70%, our supply allows us to confidently deliver 70%.”</a:t>
            </a:r>
            <a:endParaRPr lang="en-US" sz="2550" b="0" u="none" strike="noStrike" dirty="0">
              <a:solidFill>
                <a:srgbClr val="000000"/>
              </a:solidFill>
              <a:effectLst/>
              <a:uFillTx/>
              <a:latin typeface="Arial"/>
            </a:endParaRPr>
          </a:p>
        </p:txBody>
      </p:sp>
      <p:sp>
        <p:nvSpPr>
          <p:cNvPr id="75" name="Rectangle 74"/>
          <p:cNvSpPr/>
          <p:nvPr/>
        </p:nvSpPr>
        <p:spPr>
          <a:xfrm>
            <a:off x="718380" y="2351700"/>
            <a:ext cx="10753200" cy="266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1600" b="0" u="none" strike="noStrike" dirty="0">
                <a:solidFill>
                  <a:srgbClr val="5C708C"/>
                </a:solidFill>
                <a:effectLst/>
                <a:uFillTx/>
                <a:latin typeface="Aptos"/>
                <a:ea typeface="Arial"/>
              </a:rPr>
              <a:t>Jensen Huang, CEO  •  Q2 FY2027 earnings call, August 26, 2026  •  Transcript p. 8</a:t>
            </a:r>
            <a:endParaRPr lang="en-US" sz="1200" b="0" u="none" strike="noStrike" dirty="0">
              <a:solidFill>
                <a:srgbClr val="000000"/>
              </a:solidFill>
              <a:effectLst/>
              <a:uFillTx/>
              <a:latin typeface="Arial"/>
            </a:endParaRPr>
          </a:p>
        </p:txBody>
      </p:sp>
      <p:sp>
        <p:nvSpPr>
          <p:cNvPr id="84" name="Rectangle 83"/>
          <p:cNvSpPr/>
          <p:nvPr/>
        </p:nvSpPr>
        <p:spPr>
          <a:xfrm>
            <a:off x="914400" y="5886360"/>
            <a:ext cx="10429560" cy="323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endParaRPr lang="en-US" sz="1580" b="0" u="none" strike="noStrike" dirty="0">
              <a:solidFill>
                <a:srgbClr val="000000"/>
              </a:solidFill>
              <a:effectLst/>
              <a:uFillTx/>
              <a:latin typeface="Arial"/>
            </a:endParaRPr>
          </a:p>
        </p:txBody>
      </p:sp>
      <p:sp>
        <p:nvSpPr>
          <p:cNvPr id="85" name="Rectangle 84"/>
          <p:cNvSpPr/>
          <p:nvPr/>
        </p:nvSpPr>
        <p:spPr>
          <a:xfrm>
            <a:off x="657360" y="6400800"/>
            <a:ext cx="10743840" cy="285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900" b="0" u="none" strike="noStrike">
                <a:solidFill>
                  <a:srgbClr val="5C708C"/>
                </a:solidFill>
                <a:effectLst/>
                <a:uFillTx/>
                <a:latin typeface="Aptos"/>
                <a:ea typeface="Arial"/>
              </a:rPr>
              <a:t>Source: Nvidia official Q2 FY27 earnings-call transcript, Aug. 26, 2026, pp. 8, 13–14. Management outlook, not independent demand verification or market consensus.</a:t>
            </a:r>
            <a:endParaRPr lang="en-US" sz="710" b="0" u="none" strike="noStrike">
              <a:solidFill>
                <a:srgbClr val="000000"/>
              </a:solidFill>
              <a:effectLst/>
              <a:uFillTx/>
              <a:latin typeface="Arial"/>
            </a:endParaRPr>
          </a:p>
        </p:txBody>
      </p:sp>
      <p:sp>
        <p:nvSpPr>
          <p:cNvPr id="86" name="Rectangle 85"/>
          <p:cNvSpPr/>
          <p:nvPr/>
        </p:nvSpPr>
        <p:spPr>
          <a:xfrm>
            <a:off x="11353680" y="6610320"/>
            <a:ext cx="266400" cy="171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pPr>
            <a:r>
              <a:rPr lang="en-US" sz="900" b="0" u="none" strike="noStrike">
                <a:solidFill>
                  <a:srgbClr val="5C708C"/>
                </a:solidFill>
                <a:effectLst/>
                <a:uFillTx/>
                <a:latin typeface="Aptos"/>
                <a:ea typeface="Arial"/>
              </a:rPr>
              <a:t>14</a:t>
            </a:r>
            <a:endParaRPr lang="en-US" sz="750" b="0" u="none" strike="noStrike">
              <a:solidFill>
                <a:srgbClr val="000000"/>
              </a:solidFill>
              <a:effectLst/>
              <a:uFillTx/>
              <a:latin typeface="Arial"/>
            </a:endParaRPr>
          </a:p>
        </p:txBody>
      </p:sp>
      <p:pic>
        <p:nvPicPr>
          <p:cNvPr id="3" name="Picture 2">
            <a:extLst>
              <a:ext uri="{FF2B5EF4-FFF2-40B4-BE49-F238E27FC236}">
                <a16:creationId xmlns:a16="http://schemas.microsoft.com/office/drawing/2014/main" id="{5E8FDF86-DA99-40E8-DB0E-03020EF8EFEA}"/>
              </a:ext>
            </a:extLst>
          </p:cNvPr>
          <p:cNvPicPr>
            <a:picLocks noChangeAspect="1"/>
          </p:cNvPicPr>
          <p:nvPr/>
        </p:nvPicPr>
        <p:blipFill>
          <a:blip r:embed="rId3">
            <a:extLst>
              <a:ext uri="{28A0092B-C50C-407E-A947-70E740481C1C}">
                <a14:useLocalDpi xmlns:a14="http://schemas.microsoft.com/office/drawing/2010/main" val="0"/>
              </a:ext>
            </a:extLst>
          </a:blip>
          <a:srcRect l="563" t="1" r="5248" b="40325"/>
          <a:stretch>
            <a:fillRect/>
          </a:stretch>
        </p:blipFill>
        <p:spPr>
          <a:xfrm>
            <a:off x="3343859" y="2854586"/>
            <a:ext cx="5417281" cy="3209539"/>
          </a:xfrm>
          <a:prstGeom prst="rect">
            <a:avLst/>
          </a:prstGeom>
        </p:spPr>
      </p:pic>
      <p:sp>
        <p:nvSpPr>
          <p:cNvPr id="88" name="Rectangle 87"/>
          <p:cNvSpPr/>
          <p:nvPr/>
        </p:nvSpPr>
        <p:spPr>
          <a:xfrm>
            <a:off x="795528" y="658368"/>
            <a:ext cx="10881360" cy="18288"/>
          </a:xfrm>
          <a:prstGeom prst="rect">
            <a:avLst/>
          </a:prstGeom>
          <a:solidFill>
            <a:srgbClr val="BCDC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780838" y="6492875"/>
            <a:ext cx="411162" cy="163513"/>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r>
              <a:rPr sz="1200">
                <a:solidFill>
                  <a:srgbClr val="666666"/>
                </a:solidFill>
                <a:latin typeface="EB Garamond"/>
              </a:rPr>
              <a:t>15</a:t>
            </a:r>
          </a:p>
        </p:txBody>
      </p:sp>
      <p:sp>
        <p:nvSpPr>
          <p:cNvPr id="26" name="TextBox 25"/>
          <p:cNvSpPr txBox="1"/>
          <p:nvPr/>
        </p:nvSpPr>
        <p:spPr>
          <a:xfrm>
            <a:off x="822960" y="256032"/>
            <a:ext cx="10881360" cy="429768"/>
          </a:xfrm>
          <a:prstGeom prst="rect">
            <a:avLst/>
          </a:prstGeom>
          <a:noFill/>
        </p:spPr>
        <p:txBody>
          <a:bodyPr wrap="square" lIns="18288" tIns="9144" rIns="18288" bIns="9144">
            <a:spAutoFit/>
          </a:bodyPr>
          <a:lstStyle/>
          <a:p>
            <a:r>
              <a:rPr lang="en-US" sz="2600" b="1" dirty="0">
                <a:solidFill>
                  <a:srgbClr val="022169"/>
                </a:solidFill>
              </a:rPr>
              <a:t>The expectation is that Nvidia beats expectations.</a:t>
            </a:r>
          </a:p>
        </p:txBody>
      </p:sp>
      <p:sp>
        <p:nvSpPr>
          <p:cNvPr id="27" name="TextBox 26"/>
          <p:cNvSpPr txBox="1"/>
          <p:nvPr/>
        </p:nvSpPr>
        <p:spPr>
          <a:xfrm>
            <a:off x="694944" y="850392"/>
            <a:ext cx="10881360" cy="347472"/>
          </a:xfrm>
          <a:prstGeom prst="rect">
            <a:avLst/>
          </a:prstGeom>
          <a:noFill/>
        </p:spPr>
        <p:txBody>
          <a:bodyPr wrap="square" lIns="18288" tIns="9144" rIns="18288" bIns="9144">
            <a:spAutoFit/>
          </a:bodyPr>
          <a:lstStyle/>
          <a:p>
            <a:pPr algn="l"/>
            <a:r>
              <a:rPr sz="1800" b="0">
                <a:solidFill>
                  <a:srgbClr val="212935"/>
                </a:solidFill>
                <a:latin typeface="EB Garamond"/>
              </a:rPr>
              <a:t>15 consecutive positive EPS surprises; the size of the beat increasingly matters.</a:t>
            </a:r>
          </a:p>
        </p:txBody>
      </p:sp>
      <p:sp>
        <p:nvSpPr>
          <p:cNvPr id="28" name="Rounded Rectangle 27"/>
          <p:cNvSpPr/>
          <p:nvPr/>
        </p:nvSpPr>
        <p:spPr>
          <a:xfrm>
            <a:off x="667512" y="1371600"/>
            <a:ext cx="4069080" cy="4261104"/>
          </a:xfrm>
          <a:prstGeom prst="roundRect">
            <a:avLst>
              <a:gd name="adj" fmla="val 16000"/>
            </a:avLst>
          </a:prstGeom>
          <a:solidFill>
            <a:srgbClr val="F2F8FB"/>
          </a:solidFill>
          <a:ln w="12700">
            <a:solidFill>
              <a:srgbClr val="C4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4882896" y="1371600"/>
            <a:ext cx="6656832" cy="4261104"/>
          </a:xfrm>
          <a:prstGeom prst="roundRect">
            <a:avLst>
              <a:gd name="adj" fmla="val 16000"/>
            </a:avLst>
          </a:prstGeom>
          <a:solidFill>
            <a:srgbClr val="FFFFFF"/>
          </a:solidFill>
          <a:ln w="12700">
            <a:solidFill>
              <a:srgbClr val="C4E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859536" y="1545336"/>
            <a:ext cx="3749039" cy="265176"/>
          </a:xfrm>
          <a:prstGeom prst="rect">
            <a:avLst/>
          </a:prstGeom>
          <a:noFill/>
        </p:spPr>
        <p:txBody>
          <a:bodyPr wrap="square" lIns="18288" tIns="9144" rIns="18288" bIns="9144">
            <a:spAutoFit/>
          </a:bodyPr>
          <a:lstStyle/>
          <a:p>
            <a:pPr algn="l"/>
            <a:r>
              <a:rPr sz="1660" b="1">
                <a:solidFill>
                  <a:srgbClr val="022169"/>
                </a:solidFill>
                <a:latin typeface="EB Garamond"/>
              </a:rPr>
              <a:t>EPS ESTIMATES VS. RESULTS</a:t>
            </a:r>
          </a:p>
        </p:txBody>
      </p:sp>
      <p:sp>
        <p:nvSpPr>
          <p:cNvPr id="31" name="TextBox 30"/>
          <p:cNvSpPr txBox="1"/>
          <p:nvPr/>
        </p:nvSpPr>
        <p:spPr>
          <a:xfrm>
            <a:off x="859536" y="1828800"/>
            <a:ext cx="3703320" cy="210312"/>
          </a:xfrm>
          <a:prstGeom prst="rect">
            <a:avLst/>
          </a:prstGeom>
          <a:noFill/>
        </p:spPr>
        <p:txBody>
          <a:bodyPr wrap="square" lIns="18288" tIns="9144" rIns="18288" bIns="9144">
            <a:spAutoFit/>
          </a:bodyPr>
          <a:lstStyle/>
          <a:p>
            <a:pPr algn="l"/>
            <a:r>
              <a:rPr sz="1230" b="0">
                <a:solidFill>
                  <a:srgbClr val="5B6672"/>
                </a:solidFill>
                <a:latin typeface="EB Garamond"/>
              </a:rPr>
              <a:t>Recent quarters | Normalized diluted EPS</a:t>
            </a:r>
          </a:p>
        </p:txBody>
      </p:sp>
      <p:graphicFrame>
        <p:nvGraphicFramePr>
          <p:cNvPr id="32" name="Table 31"/>
          <p:cNvGraphicFramePr>
            <a:graphicFrameLocks noGrp="1"/>
          </p:cNvGraphicFramePr>
          <p:nvPr/>
        </p:nvGraphicFramePr>
        <p:xfrm>
          <a:off x="795528" y="2167128"/>
          <a:ext cx="3831336" cy="1938525"/>
        </p:xfrm>
        <a:graphic>
          <a:graphicData uri="http://schemas.openxmlformats.org/drawingml/2006/table">
            <a:tbl>
              <a:tblPr firstRow="1" bandRow="1">
                <a:tableStyleId>{5C22544A-7EE6-4342-B048-85BDC9FD1C3A}</a:tableStyleId>
              </a:tblPr>
              <a:tblGrid>
                <a:gridCol w="1024128">
                  <a:extLst>
                    <a:ext uri="{9D8B030D-6E8A-4147-A177-3AD203B41FA5}">
                      <a16:colId xmlns:a16="http://schemas.microsoft.com/office/drawing/2014/main" val="20000"/>
                    </a:ext>
                  </a:extLst>
                </a:gridCol>
                <a:gridCol w="950976">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987552">
                  <a:extLst>
                    <a:ext uri="{9D8B030D-6E8A-4147-A177-3AD203B41FA5}">
                      <a16:colId xmlns:a16="http://schemas.microsoft.com/office/drawing/2014/main" val="20003"/>
                    </a:ext>
                  </a:extLst>
                </a:gridCol>
              </a:tblGrid>
              <a:tr h="387705">
                <a:tc>
                  <a:txBody>
                    <a:bodyPr/>
                    <a:lstStyle/>
                    <a:p>
                      <a:pPr algn="ctr"/>
                      <a:r>
                        <a:rPr sz="1280" b="1">
                          <a:solidFill>
                            <a:srgbClr val="022169"/>
                          </a:solidFill>
                          <a:latin typeface="EB Garamond"/>
                        </a:rPr>
                        <a:t>Quarter</a:t>
                      </a:r>
                    </a:p>
                  </a:txBody>
                  <a:tcPr marL="18288" marR="18288" marT="9144" marB="9144" anchor="ctr">
                    <a:solidFill>
                      <a:srgbClr val="E5F2F8"/>
                    </a:solidFill>
                  </a:tcPr>
                </a:tc>
                <a:tc>
                  <a:txBody>
                    <a:bodyPr/>
                    <a:lstStyle/>
                    <a:p>
                      <a:pPr algn="ctr"/>
                      <a:r>
                        <a:rPr sz="1280" b="1">
                          <a:solidFill>
                            <a:srgbClr val="022169"/>
                          </a:solidFill>
                          <a:latin typeface="EB Garamond"/>
                        </a:rPr>
                        <a:t>Est. EPS</a:t>
                      </a:r>
                    </a:p>
                  </a:txBody>
                  <a:tcPr marL="18288" marR="18288" marT="9144" marB="9144" anchor="ctr">
                    <a:solidFill>
                      <a:srgbClr val="E5F2F8"/>
                    </a:solidFill>
                  </a:tcPr>
                </a:tc>
                <a:tc>
                  <a:txBody>
                    <a:bodyPr/>
                    <a:lstStyle/>
                    <a:p>
                      <a:pPr algn="ctr"/>
                      <a:r>
                        <a:rPr sz="1280" b="1">
                          <a:solidFill>
                            <a:srgbClr val="022169"/>
                          </a:solidFill>
                          <a:latin typeface="EB Garamond"/>
                        </a:rPr>
                        <a:t>Actual</a:t>
                      </a:r>
                    </a:p>
                  </a:txBody>
                  <a:tcPr marL="18288" marR="18288" marT="9144" marB="9144" anchor="ctr">
                    <a:solidFill>
                      <a:srgbClr val="E5F2F8"/>
                    </a:solidFill>
                  </a:tcPr>
                </a:tc>
                <a:tc>
                  <a:txBody>
                    <a:bodyPr/>
                    <a:lstStyle/>
                    <a:p>
                      <a:pPr algn="ctr"/>
                      <a:r>
                        <a:rPr sz="1280" b="1">
                          <a:solidFill>
                            <a:srgbClr val="022169"/>
                          </a:solidFill>
                          <a:latin typeface="EB Garamond"/>
                        </a:rPr>
                        <a:t>Surprise</a:t>
                      </a:r>
                    </a:p>
                  </a:txBody>
                  <a:tcPr marL="18288" marR="18288" marT="9144" marB="9144" anchor="ctr">
                    <a:solidFill>
                      <a:srgbClr val="E5F2F8"/>
                    </a:solidFill>
                  </a:tcPr>
                </a:tc>
                <a:extLst>
                  <a:ext uri="{0D108BD9-81ED-4DB2-BD59-A6C34878D82A}">
                    <a16:rowId xmlns:a16="http://schemas.microsoft.com/office/drawing/2014/main" val="10000"/>
                  </a:ext>
                </a:extLst>
              </a:tr>
              <a:tr h="387705">
                <a:tc>
                  <a:txBody>
                    <a:bodyPr/>
                    <a:lstStyle/>
                    <a:p>
                      <a:pPr algn="ctr"/>
                      <a:r>
                        <a:rPr sz="1350" b="0">
                          <a:solidFill>
                            <a:srgbClr val="212935"/>
                          </a:solidFill>
                          <a:latin typeface="EB Garamond"/>
                        </a:rPr>
                        <a:t>Q3 FY26</a:t>
                      </a:r>
                    </a:p>
                  </a:txBody>
                  <a:tcPr marL="18288" marR="18288" marT="9144" marB="9144" anchor="ctr">
                    <a:solidFill>
                      <a:srgbClr val="FFFFFF"/>
                    </a:solidFill>
                  </a:tcPr>
                </a:tc>
                <a:tc>
                  <a:txBody>
                    <a:bodyPr/>
                    <a:lstStyle/>
                    <a:p>
                      <a:pPr algn="ctr"/>
                      <a:r>
                        <a:rPr sz="1350" b="0">
                          <a:solidFill>
                            <a:srgbClr val="212935"/>
                          </a:solidFill>
                          <a:latin typeface="EB Garamond"/>
                        </a:rPr>
                        <a:t>$1.26</a:t>
                      </a:r>
                    </a:p>
                  </a:txBody>
                  <a:tcPr marL="18288" marR="18288" marT="9144" marB="9144" anchor="ctr">
                    <a:solidFill>
                      <a:srgbClr val="FFFFFF"/>
                    </a:solidFill>
                  </a:tcPr>
                </a:tc>
                <a:tc>
                  <a:txBody>
                    <a:bodyPr/>
                    <a:lstStyle/>
                    <a:p>
                      <a:pPr algn="ctr"/>
                      <a:r>
                        <a:rPr sz="1350" b="0">
                          <a:solidFill>
                            <a:srgbClr val="212935"/>
                          </a:solidFill>
                          <a:latin typeface="EB Garamond"/>
                        </a:rPr>
                        <a:t>$1.30</a:t>
                      </a:r>
                    </a:p>
                  </a:txBody>
                  <a:tcPr marL="18288" marR="18288" marT="9144" marB="9144" anchor="ctr">
                    <a:solidFill>
                      <a:srgbClr val="FFFFFF"/>
                    </a:solidFill>
                  </a:tcPr>
                </a:tc>
                <a:tc>
                  <a:txBody>
                    <a:bodyPr/>
                    <a:lstStyle/>
                    <a:p>
                      <a:pPr algn="ctr"/>
                      <a:r>
                        <a:rPr sz="1350" b="1">
                          <a:solidFill>
                            <a:srgbClr val="0072CE"/>
                          </a:solidFill>
                          <a:latin typeface="EB Garamond"/>
                        </a:rPr>
                        <a:t>+3.46%</a:t>
                      </a:r>
                    </a:p>
                  </a:txBody>
                  <a:tcPr marL="18288" marR="18288" marT="9144" marB="9144" anchor="ctr">
                    <a:solidFill>
                      <a:srgbClr val="FFFFFF"/>
                    </a:solidFill>
                  </a:tcPr>
                </a:tc>
                <a:extLst>
                  <a:ext uri="{0D108BD9-81ED-4DB2-BD59-A6C34878D82A}">
                    <a16:rowId xmlns:a16="http://schemas.microsoft.com/office/drawing/2014/main" val="10001"/>
                  </a:ext>
                </a:extLst>
              </a:tr>
              <a:tr h="387705">
                <a:tc>
                  <a:txBody>
                    <a:bodyPr/>
                    <a:lstStyle/>
                    <a:p>
                      <a:pPr algn="ctr"/>
                      <a:r>
                        <a:rPr sz="1350" b="0">
                          <a:solidFill>
                            <a:srgbClr val="212935"/>
                          </a:solidFill>
                          <a:latin typeface="EB Garamond"/>
                        </a:rPr>
                        <a:t>Q4 FY26</a:t>
                      </a:r>
                    </a:p>
                  </a:txBody>
                  <a:tcPr marL="18288" marR="18288" marT="9144" marB="9144" anchor="ctr">
                    <a:solidFill>
                      <a:srgbClr val="F2F8FB"/>
                    </a:solidFill>
                  </a:tcPr>
                </a:tc>
                <a:tc>
                  <a:txBody>
                    <a:bodyPr/>
                    <a:lstStyle/>
                    <a:p>
                      <a:pPr algn="ctr"/>
                      <a:r>
                        <a:rPr sz="1350" b="0">
                          <a:solidFill>
                            <a:srgbClr val="212935"/>
                          </a:solidFill>
                          <a:latin typeface="EB Garamond"/>
                        </a:rPr>
                        <a:t>$1.54</a:t>
                      </a:r>
                    </a:p>
                  </a:txBody>
                  <a:tcPr marL="18288" marR="18288" marT="9144" marB="9144" anchor="ctr">
                    <a:solidFill>
                      <a:srgbClr val="F2F8FB"/>
                    </a:solidFill>
                  </a:tcPr>
                </a:tc>
                <a:tc>
                  <a:txBody>
                    <a:bodyPr/>
                    <a:lstStyle/>
                    <a:p>
                      <a:pPr algn="ctr"/>
                      <a:r>
                        <a:rPr sz="1350" b="0">
                          <a:solidFill>
                            <a:srgbClr val="212935"/>
                          </a:solidFill>
                          <a:latin typeface="EB Garamond"/>
                        </a:rPr>
                        <a:t>$1.62</a:t>
                      </a:r>
                    </a:p>
                  </a:txBody>
                  <a:tcPr marL="18288" marR="18288" marT="9144" marB="9144" anchor="ctr">
                    <a:solidFill>
                      <a:srgbClr val="F2F8FB"/>
                    </a:solidFill>
                  </a:tcPr>
                </a:tc>
                <a:tc>
                  <a:txBody>
                    <a:bodyPr/>
                    <a:lstStyle/>
                    <a:p>
                      <a:pPr algn="ctr"/>
                      <a:r>
                        <a:rPr sz="1350" b="1">
                          <a:solidFill>
                            <a:srgbClr val="0072CE"/>
                          </a:solidFill>
                          <a:latin typeface="EB Garamond"/>
                        </a:rPr>
                        <a:t>+5.32%</a:t>
                      </a:r>
                    </a:p>
                  </a:txBody>
                  <a:tcPr marL="18288" marR="18288" marT="9144" marB="9144" anchor="ctr">
                    <a:solidFill>
                      <a:srgbClr val="F2F8FB"/>
                    </a:solidFill>
                  </a:tcPr>
                </a:tc>
                <a:extLst>
                  <a:ext uri="{0D108BD9-81ED-4DB2-BD59-A6C34878D82A}">
                    <a16:rowId xmlns:a16="http://schemas.microsoft.com/office/drawing/2014/main" val="10002"/>
                  </a:ext>
                </a:extLst>
              </a:tr>
              <a:tr h="387705">
                <a:tc>
                  <a:txBody>
                    <a:bodyPr/>
                    <a:lstStyle/>
                    <a:p>
                      <a:pPr algn="ctr"/>
                      <a:r>
                        <a:rPr sz="1350" b="0">
                          <a:solidFill>
                            <a:srgbClr val="212935"/>
                          </a:solidFill>
                          <a:latin typeface="EB Garamond"/>
                        </a:rPr>
                        <a:t>Q1 FY27</a:t>
                      </a:r>
                    </a:p>
                  </a:txBody>
                  <a:tcPr marL="18288" marR="18288" marT="9144" marB="9144" anchor="ctr">
                    <a:solidFill>
                      <a:srgbClr val="FFFFFF"/>
                    </a:solidFill>
                  </a:tcPr>
                </a:tc>
                <a:tc>
                  <a:txBody>
                    <a:bodyPr/>
                    <a:lstStyle/>
                    <a:p>
                      <a:pPr algn="ctr"/>
                      <a:r>
                        <a:rPr sz="1350" b="0">
                          <a:solidFill>
                            <a:srgbClr val="212935"/>
                          </a:solidFill>
                          <a:latin typeface="EB Garamond"/>
                        </a:rPr>
                        <a:t>$1.77</a:t>
                      </a:r>
                    </a:p>
                  </a:txBody>
                  <a:tcPr marL="18288" marR="18288" marT="9144" marB="9144" anchor="ctr">
                    <a:solidFill>
                      <a:srgbClr val="FFFFFF"/>
                    </a:solidFill>
                  </a:tcPr>
                </a:tc>
                <a:tc>
                  <a:txBody>
                    <a:bodyPr/>
                    <a:lstStyle/>
                    <a:p>
                      <a:pPr algn="ctr"/>
                      <a:r>
                        <a:rPr sz="1350" b="0">
                          <a:solidFill>
                            <a:srgbClr val="212935"/>
                          </a:solidFill>
                          <a:latin typeface="EB Garamond"/>
                        </a:rPr>
                        <a:t>$1.87</a:t>
                      </a:r>
                    </a:p>
                  </a:txBody>
                  <a:tcPr marL="18288" marR="18288" marT="9144" marB="9144" anchor="ctr">
                    <a:solidFill>
                      <a:srgbClr val="FFFFFF"/>
                    </a:solidFill>
                  </a:tcPr>
                </a:tc>
                <a:tc>
                  <a:txBody>
                    <a:bodyPr/>
                    <a:lstStyle/>
                    <a:p>
                      <a:pPr algn="ctr"/>
                      <a:r>
                        <a:rPr sz="1350" b="1">
                          <a:solidFill>
                            <a:srgbClr val="0072CE"/>
                          </a:solidFill>
                          <a:latin typeface="EB Garamond"/>
                        </a:rPr>
                        <a:t>+5.54%</a:t>
                      </a:r>
                    </a:p>
                  </a:txBody>
                  <a:tcPr marL="18288" marR="18288" marT="9144" marB="9144" anchor="ctr">
                    <a:solidFill>
                      <a:srgbClr val="FFFFFF"/>
                    </a:solidFill>
                  </a:tcPr>
                </a:tc>
                <a:extLst>
                  <a:ext uri="{0D108BD9-81ED-4DB2-BD59-A6C34878D82A}">
                    <a16:rowId xmlns:a16="http://schemas.microsoft.com/office/drawing/2014/main" val="10003"/>
                  </a:ext>
                </a:extLst>
              </a:tr>
              <a:tr h="387705">
                <a:tc>
                  <a:txBody>
                    <a:bodyPr/>
                    <a:lstStyle/>
                    <a:p>
                      <a:pPr algn="ctr"/>
                      <a:r>
                        <a:rPr sz="1350" b="0">
                          <a:solidFill>
                            <a:srgbClr val="212935"/>
                          </a:solidFill>
                          <a:latin typeface="EB Garamond"/>
                        </a:rPr>
                        <a:t>Q2 FY27</a:t>
                      </a:r>
                    </a:p>
                  </a:txBody>
                  <a:tcPr marL="18288" marR="18288" marT="9144" marB="9144" anchor="ctr">
                    <a:solidFill>
                      <a:srgbClr val="F2F8FB"/>
                    </a:solidFill>
                  </a:tcPr>
                </a:tc>
                <a:tc>
                  <a:txBody>
                    <a:bodyPr/>
                    <a:lstStyle/>
                    <a:p>
                      <a:pPr algn="ctr"/>
                      <a:r>
                        <a:rPr sz="1350" b="0">
                          <a:solidFill>
                            <a:srgbClr val="212935"/>
                          </a:solidFill>
                          <a:latin typeface="EB Garamond"/>
                        </a:rPr>
                        <a:t>$2.09</a:t>
                      </a:r>
                    </a:p>
                  </a:txBody>
                  <a:tcPr marL="18288" marR="18288" marT="9144" marB="9144" anchor="ctr">
                    <a:solidFill>
                      <a:srgbClr val="F2F8FB"/>
                    </a:solidFill>
                  </a:tcPr>
                </a:tc>
                <a:tc>
                  <a:txBody>
                    <a:bodyPr/>
                    <a:lstStyle/>
                    <a:p>
                      <a:pPr algn="ctr"/>
                      <a:r>
                        <a:rPr sz="1350" b="0">
                          <a:solidFill>
                            <a:srgbClr val="212935"/>
                          </a:solidFill>
                          <a:latin typeface="EB Garamond"/>
                        </a:rPr>
                        <a:t>$2.22</a:t>
                      </a:r>
                    </a:p>
                  </a:txBody>
                  <a:tcPr marL="18288" marR="18288" marT="9144" marB="9144" anchor="ctr">
                    <a:solidFill>
                      <a:srgbClr val="F2F8FB"/>
                    </a:solidFill>
                  </a:tcPr>
                </a:tc>
                <a:tc>
                  <a:txBody>
                    <a:bodyPr/>
                    <a:lstStyle/>
                    <a:p>
                      <a:pPr algn="ctr"/>
                      <a:r>
                        <a:rPr sz="1350" b="1">
                          <a:solidFill>
                            <a:srgbClr val="0072CE"/>
                          </a:solidFill>
                          <a:latin typeface="EB Garamond"/>
                        </a:rPr>
                        <a:t>+6.16%</a:t>
                      </a:r>
                    </a:p>
                  </a:txBody>
                  <a:tcPr marL="18288" marR="18288" marT="9144" marB="9144" anchor="ctr">
                    <a:solidFill>
                      <a:srgbClr val="F2F8FB"/>
                    </a:solidFill>
                  </a:tcPr>
                </a:tc>
                <a:extLst>
                  <a:ext uri="{0D108BD9-81ED-4DB2-BD59-A6C34878D82A}">
                    <a16:rowId xmlns:a16="http://schemas.microsoft.com/office/drawing/2014/main" val="10004"/>
                  </a:ext>
                </a:extLst>
              </a:tr>
            </a:tbl>
          </a:graphicData>
        </a:graphic>
      </p:graphicFrame>
      <p:sp>
        <p:nvSpPr>
          <p:cNvPr id="33" name="TextBox 32"/>
          <p:cNvSpPr txBox="1"/>
          <p:nvPr/>
        </p:nvSpPr>
        <p:spPr>
          <a:xfrm>
            <a:off x="886968" y="4352544"/>
            <a:ext cx="3611880" cy="237744"/>
          </a:xfrm>
          <a:prstGeom prst="rect">
            <a:avLst/>
          </a:prstGeom>
          <a:noFill/>
        </p:spPr>
        <p:txBody>
          <a:bodyPr wrap="square" lIns="18288" tIns="9144" rIns="18288" bIns="9144">
            <a:spAutoFit/>
          </a:bodyPr>
          <a:lstStyle/>
          <a:p>
            <a:pPr algn="l"/>
            <a:r>
              <a:rPr sz="1570" b="1">
                <a:solidFill>
                  <a:srgbClr val="022169"/>
                </a:solidFill>
                <a:latin typeface="EB Garamond"/>
              </a:rPr>
              <a:t>FITTED BREAK-EVEN BEAT</a:t>
            </a:r>
          </a:p>
        </p:txBody>
      </p:sp>
      <p:sp>
        <p:nvSpPr>
          <p:cNvPr id="34" name="TextBox 33"/>
          <p:cNvSpPr txBox="1"/>
          <p:nvPr/>
        </p:nvSpPr>
        <p:spPr>
          <a:xfrm>
            <a:off x="896112" y="4572000"/>
            <a:ext cx="1993392" cy="612648"/>
          </a:xfrm>
          <a:prstGeom prst="rect">
            <a:avLst/>
          </a:prstGeom>
          <a:noFill/>
        </p:spPr>
        <p:txBody>
          <a:bodyPr wrap="square" lIns="18288" tIns="9144" rIns="18288" bIns="9144">
            <a:spAutoFit/>
          </a:bodyPr>
          <a:lstStyle/>
          <a:p>
            <a:pPr algn="l"/>
            <a:r>
              <a:rPr sz="3600" b="1">
                <a:solidFill>
                  <a:srgbClr val="0072CE"/>
                </a:solidFill>
                <a:latin typeface="EB Garamond"/>
              </a:rPr>
              <a:t>+6.7%</a:t>
            </a:r>
          </a:p>
        </p:txBody>
      </p:sp>
      <p:sp>
        <p:nvSpPr>
          <p:cNvPr id="35" name="TextBox 34"/>
          <p:cNvSpPr txBox="1"/>
          <p:nvPr/>
        </p:nvSpPr>
        <p:spPr>
          <a:xfrm>
            <a:off x="2542032" y="4645152"/>
            <a:ext cx="1938528" cy="457200"/>
          </a:xfrm>
          <a:prstGeom prst="rect">
            <a:avLst/>
          </a:prstGeom>
          <a:noFill/>
        </p:spPr>
        <p:txBody>
          <a:bodyPr wrap="square" lIns="18288" tIns="9144" rIns="18288" bIns="9144">
            <a:spAutoFit/>
          </a:bodyPr>
          <a:lstStyle/>
          <a:p>
            <a:pPr algn="l"/>
            <a:r>
              <a:rPr sz="1230" b="0">
                <a:solidFill>
                  <a:srgbClr val="5B6672"/>
                </a:solidFill>
                <a:latin typeface="EB Garamond"/>
              </a:rPr>
              <a:t>EPS surprise at zero
fitted two-day return</a:t>
            </a:r>
          </a:p>
        </p:txBody>
      </p:sp>
      <p:sp>
        <p:nvSpPr>
          <p:cNvPr id="36" name="TextBox 35"/>
          <p:cNvSpPr txBox="1"/>
          <p:nvPr/>
        </p:nvSpPr>
        <p:spPr>
          <a:xfrm>
            <a:off x="886968" y="5175504"/>
            <a:ext cx="3694176" cy="283464"/>
          </a:xfrm>
          <a:prstGeom prst="rect">
            <a:avLst/>
          </a:prstGeom>
          <a:noFill/>
        </p:spPr>
        <p:txBody>
          <a:bodyPr wrap="square" lIns="18288" tIns="9144" rIns="18288" bIns="9144">
            <a:spAutoFit/>
          </a:bodyPr>
          <a:lstStyle/>
          <a:p>
            <a:pPr algn="l"/>
            <a:r>
              <a:rPr sz="1240" b="0">
                <a:solidFill>
                  <a:srgbClr val="5B6672"/>
                </a:solidFill>
                <a:latin typeface="EB Garamond"/>
              </a:rPr>
              <a:t>Historical linear fit · 11 reported quarters</a:t>
            </a:r>
          </a:p>
        </p:txBody>
      </p:sp>
      <p:sp>
        <p:nvSpPr>
          <p:cNvPr id="37" name="TextBox 36"/>
          <p:cNvSpPr txBox="1"/>
          <p:nvPr/>
        </p:nvSpPr>
        <p:spPr>
          <a:xfrm>
            <a:off x="5314078" y="1499616"/>
            <a:ext cx="6172200" cy="256032"/>
          </a:xfrm>
          <a:prstGeom prst="rect">
            <a:avLst/>
          </a:prstGeom>
          <a:noFill/>
        </p:spPr>
        <p:txBody>
          <a:bodyPr wrap="square" lIns="18288" tIns="9144" rIns="18288" bIns="9144">
            <a:spAutoFit/>
          </a:bodyPr>
          <a:lstStyle/>
          <a:p>
            <a:pPr algn="l"/>
            <a:r>
              <a:rPr sz="1650" b="1" dirty="0">
                <a:solidFill>
                  <a:srgbClr val="022169"/>
                </a:solidFill>
                <a:latin typeface="EB Garamond"/>
              </a:rPr>
              <a:t>EPS SURPRISE VS. TWO-DAY NVDA RETURN</a:t>
            </a:r>
          </a:p>
        </p:txBody>
      </p:sp>
      <p:pic>
        <p:nvPicPr>
          <p:cNvPr id="38" name="Picture 37" descr="NVDA_EPS_2Day_Chart_No_Title.png"/>
          <p:cNvPicPr>
            <a:picLocks noChangeAspect="1"/>
          </p:cNvPicPr>
          <p:nvPr/>
        </p:nvPicPr>
        <p:blipFill>
          <a:blip r:embed="rId3"/>
          <a:stretch>
            <a:fillRect/>
          </a:stretch>
        </p:blipFill>
        <p:spPr>
          <a:xfrm>
            <a:off x="5288746" y="1783081"/>
            <a:ext cx="6013237" cy="3675888"/>
          </a:xfrm>
          <a:prstGeom prst="rect">
            <a:avLst/>
          </a:prstGeom>
        </p:spPr>
      </p:pic>
      <p:sp>
        <p:nvSpPr>
          <p:cNvPr id="39" name="Rounded Rectangle 38"/>
          <p:cNvSpPr/>
          <p:nvPr/>
        </p:nvSpPr>
        <p:spPr>
          <a:xfrm>
            <a:off x="667512" y="5751576"/>
            <a:ext cx="10872216" cy="466344"/>
          </a:xfrm>
          <a:prstGeom prst="roundRect">
            <a:avLst>
              <a:gd name="adj" fmla="val 16000"/>
            </a:avLst>
          </a:prstGeom>
          <a:solidFill>
            <a:srgbClr val="022169"/>
          </a:solidFill>
          <a:ln w="12700">
            <a:solidFill>
              <a:srgbClr val="022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896112" y="5806440"/>
            <a:ext cx="10442448" cy="338328"/>
          </a:xfrm>
          <a:prstGeom prst="rect">
            <a:avLst/>
          </a:prstGeom>
          <a:noFill/>
        </p:spPr>
        <p:txBody>
          <a:bodyPr wrap="square" lIns="18288" tIns="9144" rIns="18288" bIns="9144">
            <a:spAutoFit/>
          </a:bodyPr>
          <a:lstStyle/>
          <a:p>
            <a:pPr algn="ctr"/>
            <a:r>
              <a:rPr sz="1900" b="1">
                <a:solidFill>
                  <a:srgbClr val="FFFFFF"/>
                </a:solidFill>
                <a:latin typeface="EB Garamond"/>
              </a:rPr>
              <a:t>The fitted stock reaction turns positive only around a +7% EPS beat.</a:t>
            </a:r>
          </a:p>
        </p:txBody>
      </p:sp>
      <p:sp>
        <p:nvSpPr>
          <p:cNvPr id="41" name="TextBox 40"/>
          <p:cNvSpPr txBox="1"/>
          <p:nvPr/>
        </p:nvSpPr>
        <p:spPr>
          <a:xfrm>
            <a:off x="365760" y="6336792"/>
            <a:ext cx="11338560" cy="429768"/>
          </a:xfrm>
          <a:prstGeom prst="rect">
            <a:avLst/>
          </a:prstGeom>
          <a:noFill/>
        </p:spPr>
        <p:txBody>
          <a:bodyPr wrap="square" lIns="18288" tIns="9144" rIns="18288" bIns="9144">
            <a:spAutoFit/>
          </a:bodyPr>
          <a:lstStyle/>
          <a:p>
            <a:pPr algn="l"/>
            <a:r>
              <a:rPr sz="900" b="0">
                <a:solidFill>
                  <a:srgbClr val="5B6672"/>
                </a:solidFill>
                <a:latin typeface="EB Garamond"/>
              </a:rPr>
              <a:t>Sources: Yahoo Finance / S&amp;P Global Market Intelligence, normalized EPS estimates and actuals; Yahoo adjusted NVDA closes. OLS: return = 2.69 × surprise − 17.99 (percentage points), n=11. Correlation is descriptive; zero/negative EPS surprises are outside this plotted sample.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2960" y="256032"/>
            <a:ext cx="10972800" cy="449354"/>
          </a:xfrm>
          <a:prstGeom prst="rect">
            <a:avLst/>
          </a:prstGeom>
          <a:noFill/>
        </p:spPr>
        <p:txBody>
          <a:bodyPr wrap="square" lIns="18288" tIns="9144" rIns="18288" bIns="9144">
            <a:spAutoFit/>
          </a:bodyPr>
          <a:lstStyle/>
          <a:p>
            <a:r>
              <a:rPr lang="en-US" sz="2800" b="1" dirty="0">
                <a:solidFill>
                  <a:srgbClr val="022169"/>
                </a:solidFill>
              </a:rPr>
              <a:t>How big exactly are Nvidia’s projections?</a:t>
            </a:r>
          </a:p>
        </p:txBody>
      </p:sp>
      <p:sp>
        <p:nvSpPr>
          <p:cNvPr id="3" name="TextBox 2"/>
          <p:cNvSpPr txBox="1"/>
          <p:nvPr/>
        </p:nvSpPr>
        <p:spPr>
          <a:xfrm>
            <a:off x="694944" y="859536"/>
            <a:ext cx="10972800" cy="347472"/>
          </a:xfrm>
          <a:prstGeom prst="rect">
            <a:avLst/>
          </a:prstGeom>
          <a:noFill/>
        </p:spPr>
        <p:txBody>
          <a:bodyPr wrap="square" lIns="18288" tIns="9144" rIns="18288" bIns="9144">
            <a:spAutoFit/>
          </a:bodyPr>
          <a:lstStyle/>
          <a:p>
            <a:pPr algn="l"/>
            <a:r>
              <a:rPr sz="1800" b="0">
                <a:solidFill>
                  <a:srgbClr val="212935"/>
                </a:solidFill>
                <a:latin typeface="EB Garamond"/>
              </a:rPr>
              <a:t>Simply meeting consensus already demands extraordinary revenue growth.</a:t>
            </a:r>
          </a:p>
        </p:txBody>
      </p:sp>
      <p:sp>
        <p:nvSpPr>
          <p:cNvPr id="4" name="Rectangle 3"/>
          <p:cNvSpPr/>
          <p:nvPr/>
        </p:nvSpPr>
        <p:spPr>
          <a:xfrm>
            <a:off x="658368" y="713232"/>
            <a:ext cx="10652760" cy="18288"/>
          </a:xfrm>
          <a:prstGeom prst="rect">
            <a:avLst/>
          </a:prstGeom>
          <a:solidFill>
            <a:srgbClr val="B8D5E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58368" y="1444752"/>
            <a:ext cx="7699248" cy="4498848"/>
          </a:xfrm>
          <a:prstGeom prst="roundRect">
            <a:avLst/>
          </a:prstGeom>
          <a:solidFill>
            <a:srgbClr val="F4F8FB"/>
          </a:solidFill>
          <a:ln w="16510">
            <a:solidFill>
              <a:srgbClr val="B8D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8485632" y="1444752"/>
            <a:ext cx="2852928" cy="4498848"/>
          </a:xfrm>
          <a:prstGeom prst="roundRect">
            <a:avLst/>
          </a:prstGeom>
          <a:solidFill>
            <a:srgbClr val="F4F8FB"/>
          </a:solidFill>
          <a:ln w="16510">
            <a:solidFill>
              <a:srgbClr val="B8D5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32688" y="1645920"/>
            <a:ext cx="6217920" cy="707886"/>
          </a:xfrm>
          <a:prstGeom prst="rect">
            <a:avLst/>
          </a:prstGeom>
          <a:noFill/>
        </p:spPr>
        <p:txBody>
          <a:bodyPr wrap="square">
            <a:spAutoFit/>
          </a:bodyPr>
          <a:lstStyle/>
          <a:p>
            <a:pPr algn="l"/>
            <a:r>
              <a:rPr sz="2000" b="1" dirty="0">
                <a:solidFill>
                  <a:srgbClr val="022169"/>
                </a:solidFill>
                <a:latin typeface="EB Garamond"/>
              </a:rPr>
              <a:t>NVIDIA ANNUAL REVENUE: ACTUAL VS. CONSENSUS</a:t>
            </a:r>
            <a:r>
              <a:rPr lang="en-US" sz="2000" b="1" dirty="0">
                <a:solidFill>
                  <a:srgbClr val="022169"/>
                </a:solidFill>
                <a:latin typeface="EB Garamond"/>
              </a:rPr>
              <a:t> EXPECTATION</a:t>
            </a:r>
            <a:endParaRPr sz="2000" b="1" dirty="0">
              <a:solidFill>
                <a:srgbClr val="022169"/>
              </a:solidFill>
              <a:latin typeface="EB Garamond"/>
            </a:endParaRPr>
          </a:p>
        </p:txBody>
      </p:sp>
      <p:sp>
        <p:nvSpPr>
          <p:cNvPr id="8" name="TextBox 7"/>
          <p:cNvSpPr txBox="1"/>
          <p:nvPr/>
        </p:nvSpPr>
        <p:spPr>
          <a:xfrm>
            <a:off x="968271" y="2270372"/>
            <a:ext cx="5029200" cy="228600"/>
          </a:xfrm>
          <a:prstGeom prst="rect">
            <a:avLst/>
          </a:prstGeom>
          <a:noFill/>
        </p:spPr>
        <p:txBody>
          <a:bodyPr wrap="square">
            <a:spAutoFit/>
          </a:bodyPr>
          <a:lstStyle/>
          <a:p>
            <a:pPr algn="l"/>
            <a:r>
              <a:rPr sz="1450" b="0" dirty="0">
                <a:solidFill>
                  <a:srgbClr val="666666"/>
                </a:solidFill>
                <a:latin typeface="EB Garamond"/>
              </a:rPr>
              <a:t>USD billions | Nvidia fiscal years ending in January</a:t>
            </a:r>
          </a:p>
        </p:txBody>
      </p:sp>
      <p:sp>
        <p:nvSpPr>
          <p:cNvPr id="9" name="Rectangle 8"/>
          <p:cNvSpPr/>
          <p:nvPr/>
        </p:nvSpPr>
        <p:spPr>
          <a:xfrm>
            <a:off x="1298448" y="5440680"/>
            <a:ext cx="63550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13232" y="5358384"/>
            <a:ext cx="457200" cy="164592"/>
          </a:xfrm>
          <a:prstGeom prst="rect">
            <a:avLst/>
          </a:prstGeom>
          <a:noFill/>
        </p:spPr>
        <p:txBody>
          <a:bodyPr wrap="square">
            <a:spAutoFit/>
          </a:bodyPr>
          <a:lstStyle/>
          <a:p>
            <a:pPr algn="r"/>
            <a:r>
              <a:rPr sz="1250" b="0">
                <a:solidFill>
                  <a:srgbClr val="666666"/>
                </a:solidFill>
                <a:latin typeface="EB Garamond"/>
              </a:rPr>
              <a:t>0</a:t>
            </a:r>
          </a:p>
        </p:txBody>
      </p:sp>
      <p:sp>
        <p:nvSpPr>
          <p:cNvPr id="11" name="Rectangle 10"/>
          <p:cNvSpPr/>
          <p:nvPr/>
        </p:nvSpPr>
        <p:spPr>
          <a:xfrm>
            <a:off x="1298448" y="4809744"/>
            <a:ext cx="63550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13232" y="4727448"/>
            <a:ext cx="457200" cy="164592"/>
          </a:xfrm>
          <a:prstGeom prst="rect">
            <a:avLst/>
          </a:prstGeom>
          <a:noFill/>
        </p:spPr>
        <p:txBody>
          <a:bodyPr wrap="square">
            <a:spAutoFit/>
          </a:bodyPr>
          <a:lstStyle/>
          <a:p>
            <a:pPr algn="r"/>
            <a:r>
              <a:rPr sz="1250" b="0">
                <a:solidFill>
                  <a:srgbClr val="666666"/>
                </a:solidFill>
                <a:latin typeface="EB Garamond"/>
              </a:rPr>
              <a:t>200</a:t>
            </a:r>
          </a:p>
        </p:txBody>
      </p:sp>
      <p:sp>
        <p:nvSpPr>
          <p:cNvPr id="13" name="Rectangle 12"/>
          <p:cNvSpPr/>
          <p:nvPr/>
        </p:nvSpPr>
        <p:spPr>
          <a:xfrm>
            <a:off x="1298448" y="4178808"/>
            <a:ext cx="63550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13232" y="4096512"/>
            <a:ext cx="457200" cy="164592"/>
          </a:xfrm>
          <a:prstGeom prst="rect">
            <a:avLst/>
          </a:prstGeom>
          <a:noFill/>
        </p:spPr>
        <p:txBody>
          <a:bodyPr wrap="square">
            <a:spAutoFit/>
          </a:bodyPr>
          <a:lstStyle/>
          <a:p>
            <a:pPr algn="r"/>
            <a:r>
              <a:rPr sz="1250" b="0">
                <a:solidFill>
                  <a:srgbClr val="666666"/>
                </a:solidFill>
                <a:latin typeface="EB Garamond"/>
              </a:rPr>
              <a:t>400</a:t>
            </a:r>
          </a:p>
        </p:txBody>
      </p:sp>
      <p:sp>
        <p:nvSpPr>
          <p:cNvPr id="15" name="Rectangle 14"/>
          <p:cNvSpPr/>
          <p:nvPr/>
        </p:nvSpPr>
        <p:spPr>
          <a:xfrm>
            <a:off x="1298448" y="3547872"/>
            <a:ext cx="63550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13232" y="3465576"/>
            <a:ext cx="457200" cy="164592"/>
          </a:xfrm>
          <a:prstGeom prst="rect">
            <a:avLst/>
          </a:prstGeom>
          <a:noFill/>
        </p:spPr>
        <p:txBody>
          <a:bodyPr wrap="square">
            <a:spAutoFit/>
          </a:bodyPr>
          <a:lstStyle/>
          <a:p>
            <a:pPr algn="r"/>
            <a:r>
              <a:rPr sz="1250" b="0">
                <a:solidFill>
                  <a:srgbClr val="666666"/>
                </a:solidFill>
                <a:latin typeface="EB Garamond"/>
              </a:rPr>
              <a:t>600</a:t>
            </a:r>
          </a:p>
        </p:txBody>
      </p:sp>
      <p:sp>
        <p:nvSpPr>
          <p:cNvPr id="17" name="Rectangle 16"/>
          <p:cNvSpPr/>
          <p:nvPr/>
        </p:nvSpPr>
        <p:spPr>
          <a:xfrm>
            <a:off x="1298448" y="2916936"/>
            <a:ext cx="6355080" cy="10972"/>
          </a:xfrm>
          <a:prstGeom prst="rect">
            <a:avLst/>
          </a:prstGeom>
          <a:solidFill>
            <a:srgbClr val="D7E0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13232" y="2834640"/>
            <a:ext cx="457200" cy="164592"/>
          </a:xfrm>
          <a:prstGeom prst="rect">
            <a:avLst/>
          </a:prstGeom>
          <a:noFill/>
        </p:spPr>
        <p:txBody>
          <a:bodyPr wrap="square">
            <a:spAutoFit/>
          </a:bodyPr>
          <a:lstStyle/>
          <a:p>
            <a:pPr algn="r"/>
            <a:r>
              <a:rPr sz="1250" b="0">
                <a:solidFill>
                  <a:srgbClr val="666666"/>
                </a:solidFill>
                <a:latin typeface="EB Garamond"/>
              </a:rPr>
              <a:t>800</a:t>
            </a:r>
          </a:p>
        </p:txBody>
      </p:sp>
      <p:sp>
        <p:nvSpPr>
          <p:cNvPr id="19" name="Rectangle 18"/>
          <p:cNvSpPr/>
          <p:nvPr/>
        </p:nvSpPr>
        <p:spPr>
          <a:xfrm>
            <a:off x="1536192" y="4759458"/>
            <a:ext cx="1078992" cy="681221"/>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426464" y="4448562"/>
            <a:ext cx="1325880" cy="256032"/>
          </a:xfrm>
          <a:prstGeom prst="rect">
            <a:avLst/>
          </a:prstGeom>
          <a:noFill/>
        </p:spPr>
        <p:txBody>
          <a:bodyPr wrap="square">
            <a:spAutoFit/>
          </a:bodyPr>
          <a:lstStyle/>
          <a:p>
            <a:pPr algn="ctr"/>
            <a:r>
              <a:rPr sz="1850" b="1">
                <a:solidFill>
                  <a:srgbClr val="022169"/>
                </a:solidFill>
                <a:latin typeface="EB Garamond"/>
              </a:rPr>
              <a:t>$216B</a:t>
            </a:r>
          </a:p>
        </p:txBody>
      </p:sp>
      <p:sp>
        <p:nvSpPr>
          <p:cNvPr id="21" name="TextBox 20"/>
          <p:cNvSpPr txBox="1"/>
          <p:nvPr/>
        </p:nvSpPr>
        <p:spPr>
          <a:xfrm>
            <a:off x="1399032" y="5532120"/>
            <a:ext cx="1371600" cy="228600"/>
          </a:xfrm>
          <a:prstGeom prst="rect">
            <a:avLst/>
          </a:prstGeom>
          <a:noFill/>
        </p:spPr>
        <p:txBody>
          <a:bodyPr wrap="square">
            <a:spAutoFit/>
          </a:bodyPr>
          <a:lstStyle/>
          <a:p>
            <a:pPr algn="ctr"/>
            <a:r>
              <a:rPr sz="1580" b="1">
                <a:solidFill>
                  <a:srgbClr val="022169"/>
                </a:solidFill>
                <a:latin typeface="EB Garamond"/>
              </a:rPr>
              <a:t>FY2026</a:t>
            </a:r>
          </a:p>
        </p:txBody>
      </p:sp>
      <p:sp>
        <p:nvSpPr>
          <p:cNvPr id="22" name="TextBox 21"/>
          <p:cNvSpPr txBox="1"/>
          <p:nvPr/>
        </p:nvSpPr>
        <p:spPr>
          <a:xfrm>
            <a:off x="1399032" y="5742432"/>
            <a:ext cx="1371600" cy="201168"/>
          </a:xfrm>
          <a:prstGeom prst="rect">
            <a:avLst/>
          </a:prstGeom>
          <a:noFill/>
        </p:spPr>
        <p:txBody>
          <a:bodyPr wrap="square">
            <a:spAutoFit/>
          </a:bodyPr>
          <a:lstStyle/>
          <a:p>
            <a:pPr algn="ctr"/>
            <a:r>
              <a:rPr sz="1300" b="0">
                <a:solidFill>
                  <a:srgbClr val="666666"/>
                </a:solidFill>
                <a:latin typeface="EB Garamond"/>
              </a:rPr>
              <a:t>ACTUAL</a:t>
            </a:r>
          </a:p>
        </p:txBody>
      </p:sp>
      <p:sp>
        <p:nvSpPr>
          <p:cNvPr id="23" name="Rectangle 22"/>
          <p:cNvSpPr/>
          <p:nvPr/>
        </p:nvSpPr>
        <p:spPr>
          <a:xfrm>
            <a:off x="3182111" y="4142055"/>
            <a:ext cx="1078992" cy="1298624"/>
          </a:xfrm>
          <a:prstGeom prst="rect">
            <a:avLst/>
          </a:prstGeom>
          <a:solidFill>
            <a:srgbClr val="68A0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072383" y="3831159"/>
            <a:ext cx="1325880" cy="256032"/>
          </a:xfrm>
          <a:prstGeom prst="rect">
            <a:avLst/>
          </a:prstGeom>
          <a:noFill/>
        </p:spPr>
        <p:txBody>
          <a:bodyPr wrap="square">
            <a:spAutoFit/>
          </a:bodyPr>
          <a:lstStyle/>
          <a:p>
            <a:pPr algn="ctr"/>
            <a:r>
              <a:rPr sz="1850" b="1">
                <a:solidFill>
                  <a:srgbClr val="022169"/>
                </a:solidFill>
                <a:latin typeface="EB Garamond"/>
              </a:rPr>
              <a:t>$412B</a:t>
            </a:r>
          </a:p>
        </p:txBody>
      </p:sp>
      <p:sp>
        <p:nvSpPr>
          <p:cNvPr id="25" name="TextBox 24"/>
          <p:cNvSpPr txBox="1"/>
          <p:nvPr/>
        </p:nvSpPr>
        <p:spPr>
          <a:xfrm>
            <a:off x="3044951" y="5532120"/>
            <a:ext cx="1371600" cy="228600"/>
          </a:xfrm>
          <a:prstGeom prst="rect">
            <a:avLst/>
          </a:prstGeom>
          <a:noFill/>
        </p:spPr>
        <p:txBody>
          <a:bodyPr wrap="square">
            <a:spAutoFit/>
          </a:bodyPr>
          <a:lstStyle/>
          <a:p>
            <a:pPr algn="ctr"/>
            <a:r>
              <a:rPr sz="1580" b="1">
                <a:solidFill>
                  <a:srgbClr val="022169"/>
                </a:solidFill>
                <a:latin typeface="EB Garamond"/>
              </a:rPr>
              <a:t>FY2027E</a:t>
            </a:r>
          </a:p>
        </p:txBody>
      </p:sp>
      <p:sp>
        <p:nvSpPr>
          <p:cNvPr id="26" name="TextBox 25"/>
          <p:cNvSpPr txBox="1"/>
          <p:nvPr/>
        </p:nvSpPr>
        <p:spPr>
          <a:xfrm>
            <a:off x="3044951" y="5742432"/>
            <a:ext cx="1371600" cy="201168"/>
          </a:xfrm>
          <a:prstGeom prst="rect">
            <a:avLst/>
          </a:prstGeom>
          <a:noFill/>
        </p:spPr>
        <p:txBody>
          <a:bodyPr wrap="square">
            <a:spAutoFit/>
          </a:bodyPr>
          <a:lstStyle/>
          <a:p>
            <a:pPr algn="ctr"/>
            <a:r>
              <a:rPr sz="1300" b="0">
                <a:solidFill>
                  <a:srgbClr val="666666"/>
                </a:solidFill>
                <a:latin typeface="EB Garamond"/>
              </a:rPr>
              <a:t>CONSENSUS</a:t>
            </a:r>
          </a:p>
        </p:txBody>
      </p:sp>
      <p:sp>
        <p:nvSpPr>
          <p:cNvPr id="27" name="Rectangle 26"/>
          <p:cNvSpPr/>
          <p:nvPr/>
        </p:nvSpPr>
        <p:spPr>
          <a:xfrm>
            <a:off x="4828031" y="3256978"/>
            <a:ext cx="1078992" cy="2183701"/>
          </a:xfrm>
          <a:prstGeom prst="rect">
            <a:avLst/>
          </a:prstGeom>
          <a:solidFill>
            <a:srgbClr val="9CBCD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18303" y="2946082"/>
            <a:ext cx="1325880" cy="256032"/>
          </a:xfrm>
          <a:prstGeom prst="rect">
            <a:avLst/>
          </a:prstGeom>
          <a:noFill/>
        </p:spPr>
        <p:txBody>
          <a:bodyPr wrap="square">
            <a:spAutoFit/>
          </a:bodyPr>
          <a:lstStyle/>
          <a:p>
            <a:pPr algn="ctr"/>
            <a:r>
              <a:rPr sz="1850" b="1">
                <a:solidFill>
                  <a:srgbClr val="022169"/>
                </a:solidFill>
                <a:latin typeface="EB Garamond"/>
              </a:rPr>
              <a:t>$692B</a:t>
            </a:r>
          </a:p>
        </p:txBody>
      </p:sp>
      <p:sp>
        <p:nvSpPr>
          <p:cNvPr id="29" name="TextBox 28"/>
          <p:cNvSpPr txBox="1"/>
          <p:nvPr/>
        </p:nvSpPr>
        <p:spPr>
          <a:xfrm>
            <a:off x="4690871" y="5532120"/>
            <a:ext cx="1371600" cy="228600"/>
          </a:xfrm>
          <a:prstGeom prst="rect">
            <a:avLst/>
          </a:prstGeom>
          <a:noFill/>
        </p:spPr>
        <p:txBody>
          <a:bodyPr wrap="square">
            <a:spAutoFit/>
          </a:bodyPr>
          <a:lstStyle/>
          <a:p>
            <a:pPr algn="ctr"/>
            <a:r>
              <a:rPr sz="1580" b="1">
                <a:solidFill>
                  <a:srgbClr val="022169"/>
                </a:solidFill>
                <a:latin typeface="EB Garamond"/>
              </a:rPr>
              <a:t>FY2028E</a:t>
            </a:r>
          </a:p>
        </p:txBody>
      </p:sp>
      <p:sp>
        <p:nvSpPr>
          <p:cNvPr id="30" name="TextBox 29"/>
          <p:cNvSpPr txBox="1"/>
          <p:nvPr/>
        </p:nvSpPr>
        <p:spPr>
          <a:xfrm>
            <a:off x="4690871" y="5742432"/>
            <a:ext cx="1371600" cy="201168"/>
          </a:xfrm>
          <a:prstGeom prst="rect">
            <a:avLst/>
          </a:prstGeom>
          <a:noFill/>
        </p:spPr>
        <p:txBody>
          <a:bodyPr wrap="square">
            <a:spAutoFit/>
          </a:bodyPr>
          <a:lstStyle/>
          <a:p>
            <a:pPr algn="ctr"/>
            <a:r>
              <a:rPr sz="1300" b="0">
                <a:solidFill>
                  <a:srgbClr val="666666"/>
                </a:solidFill>
                <a:latin typeface="EB Garamond"/>
              </a:rPr>
              <a:t>CONSENSUS</a:t>
            </a:r>
          </a:p>
        </p:txBody>
      </p:sp>
      <p:sp>
        <p:nvSpPr>
          <p:cNvPr id="31" name="Rectangle 30"/>
          <p:cNvSpPr/>
          <p:nvPr/>
        </p:nvSpPr>
        <p:spPr>
          <a:xfrm>
            <a:off x="6473951" y="2591404"/>
            <a:ext cx="1078992" cy="2849275"/>
          </a:xfrm>
          <a:prstGeom prst="rect">
            <a:avLst/>
          </a:prstGeom>
          <a:solidFill>
            <a:srgbClr val="C2D4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64223" y="2280508"/>
            <a:ext cx="1325880" cy="256032"/>
          </a:xfrm>
          <a:prstGeom prst="rect">
            <a:avLst/>
          </a:prstGeom>
          <a:noFill/>
        </p:spPr>
        <p:txBody>
          <a:bodyPr wrap="square">
            <a:spAutoFit/>
          </a:bodyPr>
          <a:lstStyle/>
          <a:p>
            <a:pPr algn="ctr"/>
            <a:r>
              <a:rPr sz="1850" b="1">
                <a:solidFill>
                  <a:srgbClr val="022169"/>
                </a:solidFill>
                <a:latin typeface="EB Garamond"/>
              </a:rPr>
              <a:t>$903B</a:t>
            </a:r>
          </a:p>
        </p:txBody>
      </p:sp>
      <p:sp>
        <p:nvSpPr>
          <p:cNvPr id="33" name="TextBox 32"/>
          <p:cNvSpPr txBox="1"/>
          <p:nvPr/>
        </p:nvSpPr>
        <p:spPr>
          <a:xfrm>
            <a:off x="6336791" y="5532120"/>
            <a:ext cx="1371600" cy="228600"/>
          </a:xfrm>
          <a:prstGeom prst="rect">
            <a:avLst/>
          </a:prstGeom>
          <a:noFill/>
        </p:spPr>
        <p:txBody>
          <a:bodyPr wrap="square">
            <a:spAutoFit/>
          </a:bodyPr>
          <a:lstStyle/>
          <a:p>
            <a:pPr algn="ctr"/>
            <a:r>
              <a:rPr sz="1580" b="1">
                <a:solidFill>
                  <a:srgbClr val="022169"/>
                </a:solidFill>
                <a:latin typeface="EB Garamond"/>
              </a:rPr>
              <a:t>FY2029E</a:t>
            </a:r>
          </a:p>
        </p:txBody>
      </p:sp>
      <p:sp>
        <p:nvSpPr>
          <p:cNvPr id="34" name="TextBox 33"/>
          <p:cNvSpPr txBox="1"/>
          <p:nvPr/>
        </p:nvSpPr>
        <p:spPr>
          <a:xfrm>
            <a:off x="6336791" y="5742432"/>
            <a:ext cx="1371600" cy="201168"/>
          </a:xfrm>
          <a:prstGeom prst="rect">
            <a:avLst/>
          </a:prstGeom>
          <a:noFill/>
        </p:spPr>
        <p:txBody>
          <a:bodyPr wrap="square">
            <a:spAutoFit/>
          </a:bodyPr>
          <a:lstStyle/>
          <a:p>
            <a:pPr algn="ctr"/>
            <a:r>
              <a:rPr sz="1300" b="0">
                <a:solidFill>
                  <a:srgbClr val="666666"/>
                </a:solidFill>
                <a:latin typeface="EB Garamond"/>
              </a:rPr>
              <a:t>CONSENSUS</a:t>
            </a:r>
          </a:p>
        </p:txBody>
      </p:sp>
      <p:sp>
        <p:nvSpPr>
          <p:cNvPr id="35" name="TextBox 34"/>
          <p:cNvSpPr txBox="1"/>
          <p:nvPr/>
        </p:nvSpPr>
        <p:spPr>
          <a:xfrm>
            <a:off x="8778240" y="1737360"/>
            <a:ext cx="2304288" cy="475488"/>
          </a:xfrm>
          <a:prstGeom prst="rect">
            <a:avLst/>
          </a:prstGeom>
          <a:noFill/>
        </p:spPr>
        <p:txBody>
          <a:bodyPr wrap="square">
            <a:spAutoFit/>
          </a:bodyPr>
          <a:lstStyle/>
          <a:p>
            <a:pPr algn="ctr"/>
            <a:r>
              <a:rPr sz="1850" b="1">
                <a:solidFill>
                  <a:srgbClr val="022169"/>
                </a:solidFill>
                <a:latin typeface="EB Garamond"/>
              </a:rPr>
              <a:t>Already embedded in
consensus</a:t>
            </a:r>
          </a:p>
        </p:txBody>
      </p:sp>
      <p:sp>
        <p:nvSpPr>
          <p:cNvPr id="36" name="TextBox 35"/>
          <p:cNvSpPr txBox="1"/>
          <p:nvPr/>
        </p:nvSpPr>
        <p:spPr>
          <a:xfrm>
            <a:off x="8759952" y="2578608"/>
            <a:ext cx="2286000" cy="384048"/>
          </a:xfrm>
          <a:prstGeom prst="rect">
            <a:avLst/>
          </a:prstGeom>
          <a:noFill/>
        </p:spPr>
        <p:txBody>
          <a:bodyPr wrap="square">
            <a:spAutoFit/>
          </a:bodyPr>
          <a:lstStyle/>
          <a:p>
            <a:pPr algn="ctr"/>
            <a:r>
              <a:rPr sz="2700" b="1">
                <a:solidFill>
                  <a:srgbClr val="0072CE"/>
                </a:solidFill>
                <a:latin typeface="EB Garamond"/>
              </a:rPr>
              <a:t>+90.6%</a:t>
            </a:r>
          </a:p>
        </p:txBody>
      </p:sp>
      <p:sp>
        <p:nvSpPr>
          <p:cNvPr id="37" name="TextBox 36"/>
          <p:cNvSpPr txBox="1"/>
          <p:nvPr/>
        </p:nvSpPr>
        <p:spPr>
          <a:xfrm>
            <a:off x="8668512" y="3017520"/>
            <a:ext cx="2468880" cy="256032"/>
          </a:xfrm>
          <a:prstGeom prst="rect">
            <a:avLst/>
          </a:prstGeom>
          <a:noFill/>
        </p:spPr>
        <p:txBody>
          <a:bodyPr wrap="square">
            <a:spAutoFit/>
          </a:bodyPr>
          <a:lstStyle/>
          <a:p>
            <a:pPr algn="ctr"/>
            <a:r>
              <a:rPr sz="1450" b="0">
                <a:solidFill>
                  <a:srgbClr val="333333"/>
                </a:solidFill>
                <a:latin typeface="EB Garamond"/>
              </a:rPr>
              <a:t>FY2027 projected growth</a:t>
            </a:r>
          </a:p>
        </p:txBody>
      </p:sp>
      <p:sp>
        <p:nvSpPr>
          <p:cNvPr id="38" name="TextBox 37"/>
          <p:cNvSpPr txBox="1"/>
          <p:nvPr/>
        </p:nvSpPr>
        <p:spPr>
          <a:xfrm>
            <a:off x="8759952" y="3675887"/>
            <a:ext cx="2286000" cy="384048"/>
          </a:xfrm>
          <a:prstGeom prst="rect">
            <a:avLst/>
          </a:prstGeom>
          <a:noFill/>
        </p:spPr>
        <p:txBody>
          <a:bodyPr wrap="square">
            <a:spAutoFit/>
          </a:bodyPr>
          <a:lstStyle/>
          <a:p>
            <a:pPr algn="ctr"/>
            <a:r>
              <a:rPr sz="2700" b="1">
                <a:solidFill>
                  <a:srgbClr val="0072CE"/>
                </a:solidFill>
                <a:latin typeface="EB Garamond"/>
              </a:rPr>
              <a:t>+68.2%</a:t>
            </a:r>
          </a:p>
        </p:txBody>
      </p:sp>
      <p:sp>
        <p:nvSpPr>
          <p:cNvPr id="39" name="TextBox 38"/>
          <p:cNvSpPr txBox="1"/>
          <p:nvPr/>
        </p:nvSpPr>
        <p:spPr>
          <a:xfrm>
            <a:off x="8668512" y="4114800"/>
            <a:ext cx="2468880" cy="256032"/>
          </a:xfrm>
          <a:prstGeom prst="rect">
            <a:avLst/>
          </a:prstGeom>
          <a:noFill/>
        </p:spPr>
        <p:txBody>
          <a:bodyPr wrap="square">
            <a:spAutoFit/>
          </a:bodyPr>
          <a:lstStyle/>
          <a:p>
            <a:pPr algn="ctr"/>
            <a:r>
              <a:rPr sz="1450" b="0">
                <a:solidFill>
                  <a:srgbClr val="333333"/>
                </a:solidFill>
                <a:latin typeface="EB Garamond"/>
              </a:rPr>
              <a:t>FY2028 projected growth</a:t>
            </a:r>
          </a:p>
        </p:txBody>
      </p:sp>
      <p:sp>
        <p:nvSpPr>
          <p:cNvPr id="40" name="TextBox 39"/>
          <p:cNvSpPr txBox="1"/>
          <p:nvPr/>
        </p:nvSpPr>
        <p:spPr>
          <a:xfrm>
            <a:off x="8759952" y="4681728"/>
            <a:ext cx="2286000" cy="384048"/>
          </a:xfrm>
          <a:prstGeom prst="rect">
            <a:avLst/>
          </a:prstGeom>
          <a:noFill/>
        </p:spPr>
        <p:txBody>
          <a:bodyPr wrap="square">
            <a:spAutoFit/>
          </a:bodyPr>
          <a:lstStyle/>
          <a:p>
            <a:pPr algn="ctr"/>
            <a:r>
              <a:rPr sz="2700" b="1">
                <a:solidFill>
                  <a:srgbClr val="0072CE"/>
                </a:solidFill>
                <a:latin typeface="EB Garamond"/>
              </a:rPr>
              <a:t>+30.5%</a:t>
            </a:r>
          </a:p>
        </p:txBody>
      </p:sp>
      <p:sp>
        <p:nvSpPr>
          <p:cNvPr id="41" name="TextBox 40"/>
          <p:cNvSpPr txBox="1"/>
          <p:nvPr/>
        </p:nvSpPr>
        <p:spPr>
          <a:xfrm>
            <a:off x="8668512" y="5120640"/>
            <a:ext cx="2468880" cy="256032"/>
          </a:xfrm>
          <a:prstGeom prst="rect">
            <a:avLst/>
          </a:prstGeom>
          <a:noFill/>
        </p:spPr>
        <p:txBody>
          <a:bodyPr wrap="square">
            <a:spAutoFit/>
          </a:bodyPr>
          <a:lstStyle/>
          <a:p>
            <a:pPr algn="ctr"/>
            <a:r>
              <a:rPr sz="1450" b="0">
                <a:solidFill>
                  <a:srgbClr val="333333"/>
                </a:solidFill>
                <a:latin typeface="EB Garamond"/>
              </a:rPr>
              <a:t>FY2029 projected growth</a:t>
            </a:r>
          </a:p>
        </p:txBody>
      </p:sp>
      <p:sp>
        <p:nvSpPr>
          <p:cNvPr id="43" name="Rounded Rectangle 42"/>
          <p:cNvSpPr/>
          <p:nvPr/>
        </p:nvSpPr>
        <p:spPr>
          <a:xfrm>
            <a:off x="667512" y="6016752"/>
            <a:ext cx="10680192" cy="457200"/>
          </a:xfrm>
          <a:prstGeom prst="roundRect">
            <a:avLst/>
          </a:prstGeom>
          <a:solidFill>
            <a:srgbClr val="022169"/>
          </a:solidFill>
          <a:ln>
            <a:solidFill>
              <a:srgbClr val="02216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896112" y="6071616"/>
            <a:ext cx="10222992" cy="274320"/>
          </a:xfrm>
          <a:prstGeom prst="rect">
            <a:avLst/>
          </a:prstGeom>
          <a:noFill/>
        </p:spPr>
        <p:txBody>
          <a:bodyPr wrap="square">
            <a:spAutoFit/>
          </a:bodyPr>
          <a:lstStyle/>
          <a:p>
            <a:pPr algn="ctr"/>
            <a:r>
              <a:rPr sz="1850" b="1">
                <a:solidFill>
                  <a:srgbClr val="FFFFFF"/>
                </a:solidFill>
                <a:latin typeface="EB Garamond"/>
              </a:rPr>
              <a:t>The question is not whether revenue grows, but whether it exceeds this trajectory.</a:t>
            </a:r>
          </a:p>
        </p:txBody>
      </p:sp>
      <p:sp>
        <p:nvSpPr>
          <p:cNvPr id="45" name="TextBox 44"/>
          <p:cNvSpPr txBox="1"/>
          <p:nvPr/>
        </p:nvSpPr>
        <p:spPr>
          <a:xfrm>
            <a:off x="365760" y="6565392"/>
            <a:ext cx="11155680" cy="310896"/>
          </a:xfrm>
          <a:prstGeom prst="rect">
            <a:avLst/>
          </a:prstGeom>
          <a:noFill/>
        </p:spPr>
        <p:txBody>
          <a:bodyPr wrap="square">
            <a:spAutoFit/>
          </a:bodyPr>
          <a:lstStyle/>
          <a:p>
            <a:pPr algn="l"/>
            <a:r>
              <a:rPr sz="940" b="0">
                <a:solidFill>
                  <a:srgbClr val="666666"/>
                </a:solidFill>
                <a:latin typeface="EB Garamond"/>
              </a:rPr>
              <a:t>Sources: Nvidia FY2026 annual revenue ($215.94B) from company results. Analyst consensus revenue estimates: FY2027E $411.65B, FY2028E $692.21B, FY2029E $903.19B. Growth rates are year-over-year analyst consensus growth.</a:t>
            </a:r>
          </a:p>
        </p:txBody>
      </p:sp>
      <p:sp>
        <p:nvSpPr>
          <p:cNvPr id="46" name="Slide Number 16"/>
          <p:cNvSpPr txBox="1"/>
          <p:nvPr/>
        </p:nvSpPr>
        <p:spPr>
          <a:xfrm>
            <a:off x="11384280" y="6492240"/>
            <a:ext cx="411480" cy="164592"/>
          </a:xfrm>
          <a:prstGeom prst="rect">
            <a:avLst/>
          </a:prstGeom>
          <a:noFill/>
        </p:spPr>
        <p:txBody>
          <a:bodyPr wrap="square" anchor="ctr">
            <a:spAutoFit/>
          </a:bodyPr>
          <a:lstStyle/>
          <a:p>
            <a:pPr algn="l">
              <a:spcBef>
                <a:spcPts val="0"/>
              </a:spcBef>
              <a:spcAft>
                <a:spcPts val="0"/>
              </a:spcAft>
            </a:pPr>
            <a:r>
              <a:rPr sz="900" b="0" i="0">
                <a:solidFill>
                  <a:srgbClr val="5F6973"/>
                </a:solidFill>
                <a:latin typeface="Aptos"/>
              </a:rPr>
              <a:t>16</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19456"/>
            <a:ext cx="10908792" cy="369332"/>
          </a:xfrm>
          <a:prstGeom prst="rect">
            <a:avLst/>
          </a:prstGeom>
          <a:noFill/>
        </p:spPr>
        <p:txBody>
          <a:bodyPr wrap="square" lIns="0" tIns="0" rIns="0" bIns="0">
            <a:spAutoFit/>
          </a:bodyPr>
          <a:lstStyle/>
          <a:p>
            <a:r>
              <a:rPr lang="en-US" sz="2400" b="1" dirty="0">
                <a:solidFill>
                  <a:srgbClr val="022169"/>
                </a:solidFill>
              </a:rPr>
              <a:t>Nvidia’s projections in perspective.</a:t>
            </a:r>
          </a:p>
        </p:txBody>
      </p:sp>
      <p:sp>
        <p:nvSpPr>
          <p:cNvPr id="3" name="TextBox 2"/>
          <p:cNvSpPr txBox="1"/>
          <p:nvPr/>
        </p:nvSpPr>
        <p:spPr>
          <a:xfrm>
            <a:off x="886968" y="832104"/>
            <a:ext cx="10597896" cy="411480"/>
          </a:xfrm>
          <a:prstGeom prst="rect">
            <a:avLst/>
          </a:prstGeom>
          <a:noFill/>
        </p:spPr>
        <p:txBody>
          <a:bodyPr wrap="square" lIns="0" tIns="0" rIns="0" bIns="0">
            <a:spAutoFit/>
          </a:bodyPr>
          <a:lstStyle/>
          <a:p>
            <a:pPr algn="l">
              <a:spcBef>
                <a:spcPts val="0"/>
              </a:spcBef>
              <a:spcAft>
                <a:spcPts val="0"/>
              </a:spcAft>
            </a:pPr>
            <a:r>
              <a:rPr sz="1530" b="0">
                <a:solidFill>
                  <a:srgbClr val="5F6973"/>
                </a:solidFill>
                <a:latin typeface="EB Garamond"/>
              </a:rPr>
              <a:t>Compare Nvidia's projected sales with forecast operating cash flow across S&amp;P 500 nonfinancial companies.</a:t>
            </a:r>
          </a:p>
        </p:txBody>
      </p:sp>
      <p:sp>
        <p:nvSpPr>
          <p:cNvPr id="4" name="Rectangle 3"/>
          <p:cNvSpPr/>
          <p:nvPr/>
        </p:nvSpPr>
        <p:spPr>
          <a:xfrm>
            <a:off x="6016752" y="1508760"/>
            <a:ext cx="15544" cy="2240280"/>
          </a:xfrm>
          <a:prstGeom prst="rect">
            <a:avLst/>
          </a:prstGeom>
          <a:solidFill>
            <a:srgbClr val="DC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060704" y="1389888"/>
            <a:ext cx="4572000" cy="310896"/>
          </a:xfrm>
          <a:prstGeom prst="rect">
            <a:avLst/>
          </a:prstGeom>
          <a:noFill/>
        </p:spPr>
        <p:txBody>
          <a:bodyPr wrap="square" lIns="0" tIns="0" rIns="0" bIns="0">
            <a:spAutoFit/>
          </a:bodyPr>
          <a:lstStyle/>
          <a:p>
            <a:pPr algn="l">
              <a:spcBef>
                <a:spcPts val="0"/>
              </a:spcBef>
              <a:spcAft>
                <a:spcPts val="0"/>
              </a:spcAft>
            </a:pPr>
            <a:r>
              <a:rPr sz="1460" b="1">
                <a:solidFill>
                  <a:srgbClr val="022169"/>
                </a:solidFill>
                <a:latin typeface="EB Garamond"/>
              </a:rPr>
              <a:t>S&amp;P 500 EX FINANCIALS: CASH FLOW</a:t>
            </a:r>
          </a:p>
        </p:txBody>
      </p:sp>
      <p:sp>
        <p:nvSpPr>
          <p:cNvPr id="6" name="TextBox 5"/>
          <p:cNvSpPr txBox="1"/>
          <p:nvPr/>
        </p:nvSpPr>
        <p:spPr>
          <a:xfrm>
            <a:off x="1060704" y="1773936"/>
            <a:ext cx="4142232" cy="640080"/>
          </a:xfrm>
          <a:prstGeom prst="rect">
            <a:avLst/>
          </a:prstGeom>
          <a:noFill/>
        </p:spPr>
        <p:txBody>
          <a:bodyPr wrap="square" lIns="0" tIns="0" rIns="0" bIns="0">
            <a:spAutoFit/>
          </a:bodyPr>
          <a:lstStyle/>
          <a:p>
            <a:pPr algn="l">
              <a:spcBef>
                <a:spcPts val="0"/>
              </a:spcBef>
              <a:spcAft>
                <a:spcPts val="0"/>
              </a:spcAft>
            </a:pPr>
            <a:r>
              <a:rPr sz="4300" b="1">
                <a:solidFill>
                  <a:srgbClr val="022169"/>
                </a:solidFill>
                <a:latin typeface="EB Garamond"/>
              </a:rPr>
              <a:t>≈$4.7T</a:t>
            </a:r>
          </a:p>
        </p:txBody>
      </p:sp>
      <p:sp>
        <p:nvSpPr>
          <p:cNvPr id="7" name="TextBox 6"/>
          <p:cNvSpPr txBox="1"/>
          <p:nvPr/>
        </p:nvSpPr>
        <p:spPr>
          <a:xfrm>
            <a:off x="1078992" y="2542032"/>
            <a:ext cx="4846320" cy="265176"/>
          </a:xfrm>
          <a:prstGeom prst="rect">
            <a:avLst/>
          </a:prstGeom>
          <a:noFill/>
        </p:spPr>
        <p:txBody>
          <a:bodyPr wrap="square" lIns="0" tIns="0" rIns="0" bIns="0">
            <a:spAutoFit/>
          </a:bodyPr>
          <a:lstStyle/>
          <a:p>
            <a:pPr algn="l">
              <a:spcBef>
                <a:spcPts val="0"/>
              </a:spcBef>
              <a:spcAft>
                <a:spcPts val="0"/>
              </a:spcAft>
            </a:pPr>
            <a:r>
              <a:rPr sz="1560" b="1">
                <a:solidFill>
                  <a:srgbClr val="0072CE"/>
                </a:solidFill>
                <a:latin typeface="EB Garamond"/>
              </a:rPr>
              <a:t>2028E  |  Operating cash flow</a:t>
            </a:r>
          </a:p>
        </p:txBody>
      </p:sp>
      <p:sp>
        <p:nvSpPr>
          <p:cNvPr id="8" name="TextBox 7"/>
          <p:cNvSpPr txBox="1"/>
          <p:nvPr/>
        </p:nvSpPr>
        <p:spPr>
          <a:xfrm>
            <a:off x="1078992" y="2926080"/>
            <a:ext cx="4526280" cy="685800"/>
          </a:xfrm>
          <a:prstGeom prst="rect">
            <a:avLst/>
          </a:prstGeom>
          <a:noFill/>
        </p:spPr>
        <p:txBody>
          <a:bodyPr wrap="square" lIns="0" tIns="0" rIns="0" bIns="0">
            <a:spAutoFit/>
          </a:bodyPr>
          <a:lstStyle/>
          <a:p>
            <a:pPr algn="l">
              <a:spcBef>
                <a:spcPts val="0"/>
              </a:spcBef>
              <a:spcAft>
                <a:spcPts val="0"/>
              </a:spcAft>
            </a:pPr>
            <a:r>
              <a:rPr sz="1570" b="0">
                <a:solidFill>
                  <a:srgbClr val="5F6973"/>
                </a:solidFill>
                <a:latin typeface="EB Garamond"/>
              </a:rPr>
              <a:t>Approximate sum of Apollo / FactSet sector estimates. Technology and telecom alone: ≈$2.4T.</a:t>
            </a:r>
          </a:p>
        </p:txBody>
      </p:sp>
      <p:sp>
        <p:nvSpPr>
          <p:cNvPr id="9" name="TextBox 8"/>
          <p:cNvSpPr txBox="1"/>
          <p:nvPr/>
        </p:nvSpPr>
        <p:spPr>
          <a:xfrm>
            <a:off x="6455664" y="1389888"/>
            <a:ext cx="4754880" cy="301752"/>
          </a:xfrm>
          <a:prstGeom prst="rect">
            <a:avLst/>
          </a:prstGeom>
          <a:noFill/>
        </p:spPr>
        <p:txBody>
          <a:bodyPr wrap="square" lIns="0" tIns="0" rIns="0" bIns="0">
            <a:spAutoFit/>
          </a:bodyPr>
          <a:lstStyle/>
          <a:p>
            <a:pPr algn="l">
              <a:spcBef>
                <a:spcPts val="0"/>
              </a:spcBef>
              <a:spcAft>
                <a:spcPts val="0"/>
              </a:spcAft>
            </a:pPr>
            <a:r>
              <a:rPr sz="1530" b="1">
                <a:solidFill>
                  <a:srgbClr val="022169"/>
                </a:solidFill>
                <a:latin typeface="EB Garamond"/>
              </a:rPr>
              <a:t>NVIDIA REVENUE: ANALYST CONSENSUS</a:t>
            </a:r>
          </a:p>
        </p:txBody>
      </p:sp>
      <p:sp>
        <p:nvSpPr>
          <p:cNvPr id="10" name="TextBox 9"/>
          <p:cNvSpPr txBox="1"/>
          <p:nvPr/>
        </p:nvSpPr>
        <p:spPr>
          <a:xfrm>
            <a:off x="6455664" y="1819656"/>
            <a:ext cx="2240280" cy="338328"/>
          </a:xfrm>
          <a:prstGeom prst="rect">
            <a:avLst/>
          </a:prstGeom>
          <a:noFill/>
        </p:spPr>
        <p:txBody>
          <a:bodyPr wrap="square" lIns="0" tIns="0" rIns="0" bIns="0">
            <a:spAutoFit/>
          </a:bodyPr>
          <a:lstStyle/>
          <a:p>
            <a:pPr algn="l">
              <a:spcBef>
                <a:spcPts val="0"/>
              </a:spcBef>
              <a:spcAft>
                <a:spcPts val="0"/>
              </a:spcAft>
            </a:pPr>
            <a:r>
              <a:rPr sz="1850" b="0">
                <a:solidFill>
                  <a:srgbClr val="022169"/>
                </a:solidFill>
                <a:latin typeface="EB Garamond"/>
              </a:rPr>
              <a:t>FY2027E</a:t>
            </a:r>
          </a:p>
        </p:txBody>
      </p:sp>
      <p:sp>
        <p:nvSpPr>
          <p:cNvPr id="11" name="TextBox 10"/>
          <p:cNvSpPr txBox="1"/>
          <p:nvPr/>
        </p:nvSpPr>
        <p:spPr>
          <a:xfrm>
            <a:off x="9400032" y="1810512"/>
            <a:ext cx="1700784" cy="374904"/>
          </a:xfrm>
          <a:prstGeom prst="rect">
            <a:avLst/>
          </a:prstGeom>
          <a:noFill/>
        </p:spPr>
        <p:txBody>
          <a:bodyPr wrap="square" lIns="0" tIns="0" rIns="0" bIns="0">
            <a:spAutoFit/>
          </a:bodyPr>
          <a:lstStyle/>
          <a:p>
            <a:pPr algn="r">
              <a:spcBef>
                <a:spcPts val="0"/>
              </a:spcBef>
              <a:spcAft>
                <a:spcPts val="0"/>
              </a:spcAft>
            </a:pPr>
            <a:r>
              <a:rPr sz="2320" b="1">
                <a:solidFill>
                  <a:srgbClr val="022169"/>
                </a:solidFill>
                <a:latin typeface="EB Garamond"/>
              </a:rPr>
              <a:t>$412B</a:t>
            </a:r>
          </a:p>
        </p:txBody>
      </p:sp>
      <p:sp>
        <p:nvSpPr>
          <p:cNvPr id="12" name="Rectangle 11"/>
          <p:cNvSpPr/>
          <p:nvPr/>
        </p:nvSpPr>
        <p:spPr>
          <a:xfrm>
            <a:off x="6455664" y="2295144"/>
            <a:ext cx="4654296" cy="12801"/>
          </a:xfrm>
          <a:prstGeom prst="rect">
            <a:avLst/>
          </a:prstGeom>
          <a:solidFill>
            <a:srgbClr val="DC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55664" y="2450591"/>
            <a:ext cx="2240280" cy="338328"/>
          </a:xfrm>
          <a:prstGeom prst="rect">
            <a:avLst/>
          </a:prstGeom>
          <a:noFill/>
        </p:spPr>
        <p:txBody>
          <a:bodyPr wrap="square" lIns="0" tIns="0" rIns="0" bIns="0">
            <a:spAutoFit/>
          </a:bodyPr>
          <a:lstStyle/>
          <a:p>
            <a:pPr algn="l">
              <a:spcBef>
                <a:spcPts val="0"/>
              </a:spcBef>
              <a:spcAft>
                <a:spcPts val="0"/>
              </a:spcAft>
            </a:pPr>
            <a:r>
              <a:rPr sz="1850" b="0">
                <a:solidFill>
                  <a:srgbClr val="022169"/>
                </a:solidFill>
                <a:latin typeface="EB Garamond"/>
              </a:rPr>
              <a:t>FY2028E</a:t>
            </a:r>
          </a:p>
        </p:txBody>
      </p:sp>
      <p:sp>
        <p:nvSpPr>
          <p:cNvPr id="14" name="TextBox 13"/>
          <p:cNvSpPr txBox="1"/>
          <p:nvPr/>
        </p:nvSpPr>
        <p:spPr>
          <a:xfrm>
            <a:off x="9400032" y="2441448"/>
            <a:ext cx="1700784" cy="374904"/>
          </a:xfrm>
          <a:prstGeom prst="rect">
            <a:avLst/>
          </a:prstGeom>
          <a:noFill/>
        </p:spPr>
        <p:txBody>
          <a:bodyPr wrap="square" lIns="0" tIns="0" rIns="0" bIns="0">
            <a:spAutoFit/>
          </a:bodyPr>
          <a:lstStyle/>
          <a:p>
            <a:pPr algn="r">
              <a:spcBef>
                <a:spcPts val="0"/>
              </a:spcBef>
              <a:spcAft>
                <a:spcPts val="0"/>
              </a:spcAft>
            </a:pPr>
            <a:r>
              <a:rPr sz="2320" b="1">
                <a:solidFill>
                  <a:srgbClr val="022169"/>
                </a:solidFill>
                <a:latin typeface="EB Garamond"/>
              </a:rPr>
              <a:t>$692B</a:t>
            </a:r>
          </a:p>
        </p:txBody>
      </p:sp>
      <p:sp>
        <p:nvSpPr>
          <p:cNvPr id="15" name="Rectangle 14"/>
          <p:cNvSpPr/>
          <p:nvPr/>
        </p:nvSpPr>
        <p:spPr>
          <a:xfrm>
            <a:off x="6455664" y="2926079"/>
            <a:ext cx="4654296" cy="12801"/>
          </a:xfrm>
          <a:prstGeom prst="rect">
            <a:avLst/>
          </a:prstGeom>
          <a:solidFill>
            <a:srgbClr val="DC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455664" y="3081528"/>
            <a:ext cx="2240280" cy="338328"/>
          </a:xfrm>
          <a:prstGeom prst="rect">
            <a:avLst/>
          </a:prstGeom>
          <a:noFill/>
        </p:spPr>
        <p:txBody>
          <a:bodyPr wrap="square" lIns="0" tIns="0" rIns="0" bIns="0">
            <a:spAutoFit/>
          </a:bodyPr>
          <a:lstStyle/>
          <a:p>
            <a:pPr algn="l">
              <a:spcBef>
                <a:spcPts val="0"/>
              </a:spcBef>
              <a:spcAft>
                <a:spcPts val="0"/>
              </a:spcAft>
            </a:pPr>
            <a:r>
              <a:rPr sz="1850" b="0">
                <a:solidFill>
                  <a:srgbClr val="022169"/>
                </a:solidFill>
                <a:latin typeface="EB Garamond"/>
              </a:rPr>
              <a:t>FY2029E</a:t>
            </a:r>
          </a:p>
        </p:txBody>
      </p:sp>
      <p:sp>
        <p:nvSpPr>
          <p:cNvPr id="17" name="TextBox 16"/>
          <p:cNvSpPr txBox="1"/>
          <p:nvPr/>
        </p:nvSpPr>
        <p:spPr>
          <a:xfrm>
            <a:off x="9400032" y="3072384"/>
            <a:ext cx="1700784" cy="374904"/>
          </a:xfrm>
          <a:prstGeom prst="rect">
            <a:avLst/>
          </a:prstGeom>
          <a:noFill/>
        </p:spPr>
        <p:txBody>
          <a:bodyPr wrap="square" lIns="0" tIns="0" rIns="0" bIns="0">
            <a:spAutoFit/>
          </a:bodyPr>
          <a:lstStyle/>
          <a:p>
            <a:pPr algn="r">
              <a:spcBef>
                <a:spcPts val="0"/>
              </a:spcBef>
              <a:spcAft>
                <a:spcPts val="0"/>
              </a:spcAft>
            </a:pPr>
            <a:r>
              <a:rPr sz="2320" b="1">
                <a:solidFill>
                  <a:srgbClr val="0072CE"/>
                </a:solidFill>
                <a:latin typeface="EB Garamond"/>
              </a:rPr>
              <a:t>$903B</a:t>
            </a:r>
          </a:p>
        </p:txBody>
      </p:sp>
      <p:sp>
        <p:nvSpPr>
          <p:cNvPr id="18" name="Rectangle 17"/>
          <p:cNvSpPr/>
          <p:nvPr/>
        </p:nvSpPr>
        <p:spPr>
          <a:xfrm>
            <a:off x="1051560" y="3877056"/>
            <a:ext cx="9985248" cy="21945"/>
          </a:xfrm>
          <a:prstGeom prst="rect">
            <a:avLst/>
          </a:prstGeom>
          <a:solidFill>
            <a:srgbClr val="DC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78992" y="4078224"/>
            <a:ext cx="2523744" cy="649224"/>
          </a:xfrm>
          <a:prstGeom prst="rect">
            <a:avLst/>
          </a:prstGeom>
          <a:noFill/>
        </p:spPr>
        <p:txBody>
          <a:bodyPr wrap="square" lIns="0" tIns="0" rIns="0" bIns="0">
            <a:spAutoFit/>
          </a:bodyPr>
          <a:lstStyle/>
          <a:p>
            <a:pPr algn="l">
              <a:spcBef>
                <a:spcPts val="0"/>
              </a:spcBef>
              <a:spcAft>
                <a:spcPts val="0"/>
              </a:spcAft>
            </a:pPr>
            <a:r>
              <a:rPr sz="4400" b="1">
                <a:solidFill>
                  <a:srgbClr val="0072CE"/>
                </a:solidFill>
                <a:latin typeface="EB Garamond"/>
              </a:rPr>
              <a:t>≈19%</a:t>
            </a:r>
          </a:p>
        </p:txBody>
      </p:sp>
      <p:sp>
        <p:nvSpPr>
          <p:cNvPr id="20" name="TextBox 19"/>
          <p:cNvSpPr txBox="1"/>
          <p:nvPr/>
        </p:nvSpPr>
        <p:spPr>
          <a:xfrm>
            <a:off x="3511296" y="4105656"/>
            <a:ext cx="7580375" cy="393192"/>
          </a:xfrm>
          <a:prstGeom prst="rect">
            <a:avLst/>
          </a:prstGeom>
          <a:noFill/>
        </p:spPr>
        <p:txBody>
          <a:bodyPr wrap="square" lIns="0" tIns="0" rIns="0" bIns="0">
            <a:spAutoFit/>
          </a:bodyPr>
          <a:lstStyle/>
          <a:p>
            <a:pPr algn="l">
              <a:spcBef>
                <a:spcPts val="0"/>
              </a:spcBef>
              <a:spcAft>
                <a:spcPts val="0"/>
              </a:spcAft>
            </a:pPr>
            <a:r>
              <a:rPr sz="1820" b="1">
                <a:solidFill>
                  <a:srgbClr val="022169"/>
                </a:solidFill>
                <a:latin typeface="EB Garamond"/>
              </a:rPr>
              <a:t>Nvidia FY2029E sales / S&amp;P 500 ex-financials 2028E operating cash flow</a:t>
            </a:r>
          </a:p>
        </p:txBody>
      </p:sp>
      <p:sp>
        <p:nvSpPr>
          <p:cNvPr id="21" name="TextBox 20"/>
          <p:cNvSpPr txBox="1"/>
          <p:nvPr/>
        </p:nvSpPr>
        <p:spPr>
          <a:xfrm>
            <a:off x="3511296" y="4553712"/>
            <a:ext cx="7214616" cy="265176"/>
          </a:xfrm>
          <a:prstGeom prst="rect">
            <a:avLst/>
          </a:prstGeom>
          <a:noFill/>
        </p:spPr>
        <p:txBody>
          <a:bodyPr wrap="square" lIns="0" tIns="0" rIns="0" bIns="0">
            <a:spAutoFit/>
          </a:bodyPr>
          <a:lstStyle/>
          <a:p>
            <a:pPr algn="l">
              <a:spcBef>
                <a:spcPts val="0"/>
              </a:spcBef>
              <a:spcAft>
                <a:spcPts val="0"/>
              </a:spcAft>
            </a:pPr>
            <a:r>
              <a:rPr sz="1420" b="0">
                <a:solidFill>
                  <a:srgbClr val="5F6973"/>
                </a:solidFill>
                <a:latin typeface="EB Garamond"/>
              </a:rPr>
              <a:t>$903B ÷ ≈$4.7T  |  Comparison of projected annual flows</a:t>
            </a:r>
          </a:p>
        </p:txBody>
      </p:sp>
      <p:sp>
        <p:nvSpPr>
          <p:cNvPr id="22" name="Rectangle 21"/>
          <p:cNvSpPr/>
          <p:nvPr/>
        </p:nvSpPr>
        <p:spPr>
          <a:xfrm>
            <a:off x="1051560" y="5010912"/>
            <a:ext cx="9985248" cy="18288"/>
          </a:xfrm>
          <a:prstGeom prst="rect">
            <a:avLst/>
          </a:prstGeom>
          <a:solidFill>
            <a:srgbClr val="DCEA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1060704" y="5193792"/>
            <a:ext cx="10012680" cy="338328"/>
          </a:xfrm>
          <a:prstGeom prst="rect">
            <a:avLst/>
          </a:prstGeom>
          <a:noFill/>
        </p:spPr>
        <p:txBody>
          <a:bodyPr wrap="square" lIns="0" tIns="0" rIns="0" bIns="0">
            <a:spAutoFit/>
          </a:bodyPr>
          <a:lstStyle/>
          <a:p>
            <a:pPr algn="l">
              <a:spcBef>
                <a:spcPts val="0"/>
              </a:spcBef>
              <a:spcAft>
                <a:spcPts val="0"/>
              </a:spcAft>
            </a:pPr>
            <a:r>
              <a:rPr sz="2160" b="1">
                <a:solidFill>
                  <a:srgbClr val="022169"/>
                </a:solidFill>
                <a:latin typeface="EB Garamond"/>
              </a:rPr>
              <a:t>This is only one company in one layer of the AI stack.</a:t>
            </a:r>
          </a:p>
        </p:txBody>
      </p:sp>
      <p:sp>
        <p:nvSpPr>
          <p:cNvPr id="24" name="TextBox 23"/>
          <p:cNvSpPr txBox="1"/>
          <p:nvPr/>
        </p:nvSpPr>
        <p:spPr>
          <a:xfrm>
            <a:off x="1060704" y="5605272"/>
            <a:ext cx="9921240" cy="384048"/>
          </a:xfrm>
          <a:prstGeom prst="rect">
            <a:avLst/>
          </a:prstGeom>
          <a:noFill/>
        </p:spPr>
        <p:txBody>
          <a:bodyPr wrap="square" lIns="0" tIns="0" rIns="0" bIns="0">
            <a:spAutoFit/>
          </a:bodyPr>
          <a:lstStyle/>
          <a:p>
            <a:pPr algn="l">
              <a:spcBef>
                <a:spcPts val="0"/>
              </a:spcBef>
              <a:spcAft>
                <a:spcPts val="0"/>
              </a:spcAft>
            </a:pPr>
            <a:r>
              <a:rPr sz="1520" b="0">
                <a:solidFill>
                  <a:srgbClr val="212935"/>
                </a:solidFill>
                <a:latin typeface="EB Garamond"/>
              </a:rPr>
              <a:t>Competing GPUs/ASICs, facilities, power, networking, model development and operations also require spending.</a:t>
            </a:r>
          </a:p>
        </p:txBody>
      </p:sp>
      <p:sp>
        <p:nvSpPr>
          <p:cNvPr id="25" name="TextBox 24"/>
          <p:cNvSpPr txBox="1"/>
          <p:nvPr/>
        </p:nvSpPr>
        <p:spPr>
          <a:xfrm>
            <a:off x="1060704" y="6089904"/>
            <a:ext cx="10012680" cy="283464"/>
          </a:xfrm>
          <a:prstGeom prst="rect">
            <a:avLst/>
          </a:prstGeom>
          <a:noFill/>
        </p:spPr>
        <p:txBody>
          <a:bodyPr wrap="square" lIns="0" tIns="0" rIns="0" bIns="0">
            <a:spAutoFit/>
          </a:bodyPr>
          <a:lstStyle/>
          <a:p>
            <a:pPr algn="l">
              <a:spcBef>
                <a:spcPts val="0"/>
              </a:spcBef>
              <a:spcAft>
                <a:spcPts val="0"/>
              </a:spcAft>
            </a:pPr>
            <a:r>
              <a:rPr sz="1240" b="0">
                <a:solidFill>
                  <a:srgbClr val="5F6973"/>
                </a:solidFill>
                <a:latin typeface="EB Garamond"/>
              </a:rPr>
              <a:t>Cash flow is before capex; it is not a spending ceiling. Nvidia sales include non-AI uses and non-S&amp;P/foreign buyers.</a:t>
            </a:r>
          </a:p>
        </p:txBody>
      </p:sp>
      <p:sp>
        <p:nvSpPr>
          <p:cNvPr id="26" name="TextBox 25"/>
          <p:cNvSpPr txBox="1"/>
          <p:nvPr/>
        </p:nvSpPr>
        <p:spPr>
          <a:xfrm>
            <a:off x="457200" y="6501384"/>
            <a:ext cx="10716768" cy="210312"/>
          </a:xfrm>
          <a:prstGeom prst="rect">
            <a:avLst/>
          </a:prstGeom>
          <a:noFill/>
        </p:spPr>
        <p:txBody>
          <a:bodyPr wrap="square" lIns="0" tIns="0" rIns="0" bIns="0">
            <a:spAutoFit/>
          </a:bodyPr>
          <a:lstStyle/>
          <a:p>
            <a:pPr algn="l">
              <a:spcBef>
                <a:spcPts val="0"/>
              </a:spcBef>
              <a:spcAft>
                <a:spcPts val="0"/>
              </a:spcAft>
            </a:pPr>
            <a:r>
              <a:rPr sz="894" b="0">
                <a:solidFill>
                  <a:srgbClr val="5F6973"/>
                </a:solidFill>
                <a:latin typeface="EB Garamond"/>
              </a:rPr>
              <a:t>Source: Apollo Chief Economist / FactSet (Sept. 29, 2026; approximate sum of sector forecasts).</a:t>
            </a:r>
          </a:p>
        </p:txBody>
      </p:sp>
      <p:sp>
        <p:nvSpPr>
          <p:cNvPr id="46" name="Slide Number 16"/>
          <p:cNvSpPr txBox="1"/>
          <p:nvPr/>
        </p:nvSpPr>
        <p:spPr>
          <a:xfrm>
            <a:off x="11384280" y="6492240"/>
            <a:ext cx="411480" cy="164592"/>
          </a:xfrm>
          <a:prstGeom prst="rect">
            <a:avLst/>
          </a:prstGeom>
          <a:noFill/>
        </p:spPr>
        <p:txBody>
          <a:bodyPr wrap="square" anchor="ctr">
            <a:spAutoFit/>
          </a:bodyPr>
          <a:lstStyle/>
          <a:p>
            <a:r>
              <a:t>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59536" y="246888"/>
            <a:ext cx="10881360" cy="430887"/>
          </a:xfrm>
          <a:prstGeom prst="rect">
            <a:avLst/>
          </a:prstGeom>
          <a:noFill/>
        </p:spPr>
        <p:txBody>
          <a:bodyPr wrap="square" lIns="0" tIns="0" rIns="0" bIns="0">
            <a:spAutoFit/>
          </a:bodyPr>
          <a:lstStyle/>
          <a:p>
            <a:r>
              <a:rPr lang="en-US" sz="2800" b="1" dirty="0">
                <a:solidFill>
                  <a:srgbClr val="022169"/>
                </a:solidFill>
              </a:rPr>
              <a:t>What if the earnings surprise is zero—or negative?</a:t>
            </a:r>
          </a:p>
        </p:txBody>
      </p:sp>
      <p:sp>
        <p:nvSpPr>
          <p:cNvPr id="3" name="TextBox 2"/>
          <p:cNvSpPr txBox="1"/>
          <p:nvPr/>
        </p:nvSpPr>
        <p:spPr>
          <a:xfrm>
            <a:off x="722376" y="859536"/>
            <a:ext cx="10835640" cy="320040"/>
          </a:xfrm>
          <a:prstGeom prst="rect">
            <a:avLst/>
          </a:prstGeom>
          <a:noFill/>
        </p:spPr>
        <p:txBody>
          <a:bodyPr wrap="square" lIns="0" tIns="0" rIns="0" bIns="0">
            <a:spAutoFit/>
          </a:bodyPr>
          <a:lstStyle/>
          <a:p>
            <a:pPr algn="l"/>
            <a:r>
              <a:rPr sz="1850" b="0" dirty="0">
                <a:solidFill>
                  <a:srgbClr val="333333"/>
                </a:solidFill>
                <a:latin typeface="EB Garamond"/>
              </a:rPr>
              <a:t>With the fitted trend, Nvidia can still grow ~70% in FY2028 and another +15% in FY2029 and still face a ~50% repricing.</a:t>
            </a:r>
          </a:p>
        </p:txBody>
      </p:sp>
      <p:sp>
        <p:nvSpPr>
          <p:cNvPr id="4" name="Rounded Rectangle 3"/>
          <p:cNvSpPr/>
          <p:nvPr/>
        </p:nvSpPr>
        <p:spPr>
          <a:xfrm>
            <a:off x="685800" y="1435607"/>
            <a:ext cx="8211312" cy="4291797"/>
          </a:xfrm>
          <a:prstGeom prst="roundRect">
            <a:avLst/>
          </a:prstGeom>
          <a:solidFill>
            <a:srgbClr val="F4F8FB"/>
          </a:solidFill>
          <a:ln w="15875">
            <a:solidFill>
              <a:srgbClr val="B8D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32688" y="1645920"/>
            <a:ext cx="7635240" cy="301752"/>
          </a:xfrm>
          <a:prstGeom prst="rect">
            <a:avLst/>
          </a:prstGeom>
          <a:noFill/>
        </p:spPr>
        <p:txBody>
          <a:bodyPr wrap="square" lIns="0" tIns="0" rIns="0" bIns="0">
            <a:spAutoFit/>
          </a:bodyPr>
          <a:lstStyle/>
          <a:p>
            <a:pPr algn="l"/>
            <a:r>
              <a:rPr sz="2100" b="1">
                <a:solidFill>
                  <a:srgbClr val="022169"/>
                </a:solidFill>
                <a:latin typeface="EB Garamond"/>
              </a:rPr>
              <a:t>FY2029 REVENUE STRESS SCENARIOS</a:t>
            </a:r>
          </a:p>
        </p:txBody>
      </p:sp>
      <p:sp>
        <p:nvSpPr>
          <p:cNvPr id="6" name="TextBox 5"/>
          <p:cNvSpPr txBox="1"/>
          <p:nvPr/>
        </p:nvSpPr>
        <p:spPr>
          <a:xfrm>
            <a:off x="950976" y="1975104"/>
            <a:ext cx="7498079" cy="219456"/>
          </a:xfrm>
          <a:prstGeom prst="rect">
            <a:avLst/>
          </a:prstGeom>
          <a:noFill/>
        </p:spPr>
        <p:txBody>
          <a:bodyPr wrap="square" lIns="0" tIns="0" rIns="0" bIns="0">
            <a:spAutoFit/>
          </a:bodyPr>
          <a:lstStyle/>
          <a:p>
            <a:pPr algn="l"/>
            <a:r>
              <a:rPr sz="1550" b="0">
                <a:solidFill>
                  <a:srgbClr val="333333"/>
                </a:solidFill>
                <a:latin typeface="EB Garamond"/>
              </a:rPr>
              <a:t>Consensus FY2029 sales: $903B   |   FY2028 sales: $692B</a:t>
            </a:r>
          </a:p>
        </p:txBody>
      </p:sp>
      <p:sp>
        <p:nvSpPr>
          <p:cNvPr id="7" name="Rectangle 6"/>
          <p:cNvSpPr/>
          <p:nvPr/>
        </p:nvSpPr>
        <p:spPr>
          <a:xfrm>
            <a:off x="896112" y="2377440"/>
            <a:ext cx="2212848" cy="603504"/>
          </a:xfrm>
          <a:prstGeom prst="rect">
            <a:avLst/>
          </a:prstGeom>
          <a:solidFill>
            <a:srgbClr val="E5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50976" y="2478024"/>
            <a:ext cx="2103120" cy="402336"/>
          </a:xfrm>
          <a:prstGeom prst="rect">
            <a:avLst/>
          </a:prstGeom>
          <a:noFill/>
        </p:spPr>
        <p:txBody>
          <a:bodyPr wrap="square" lIns="0" tIns="0" rIns="0" bIns="0">
            <a:spAutoFit/>
          </a:bodyPr>
          <a:lstStyle/>
          <a:p>
            <a:pPr algn="l">
              <a:spcBef>
                <a:spcPts val="0"/>
              </a:spcBef>
              <a:spcAft>
                <a:spcPts val="0"/>
              </a:spcAft>
            </a:pPr>
            <a:r>
              <a:rPr sz="1350" b="1" i="0">
                <a:solidFill>
                  <a:srgbClr val="022169"/>
                </a:solidFill>
                <a:latin typeface="EB Garamond"/>
              </a:rPr>
              <a:t>Scenario</a:t>
            </a:r>
          </a:p>
        </p:txBody>
      </p:sp>
      <p:sp>
        <p:nvSpPr>
          <p:cNvPr id="9" name="Rectangle 8"/>
          <p:cNvSpPr/>
          <p:nvPr/>
        </p:nvSpPr>
        <p:spPr>
          <a:xfrm>
            <a:off x="3108960" y="2377440"/>
            <a:ext cx="1234440" cy="603504"/>
          </a:xfrm>
          <a:prstGeom prst="rect">
            <a:avLst/>
          </a:prstGeom>
          <a:solidFill>
            <a:srgbClr val="E5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163824" y="2478024"/>
            <a:ext cx="1124712" cy="402336"/>
          </a:xfrm>
          <a:prstGeom prst="rect">
            <a:avLst/>
          </a:prstGeom>
          <a:noFill/>
        </p:spPr>
        <p:txBody>
          <a:bodyPr wrap="square" lIns="0" tIns="0" rIns="0" bIns="0">
            <a:spAutoFit/>
          </a:bodyPr>
          <a:lstStyle/>
          <a:p>
            <a:pPr algn="ctr">
              <a:spcBef>
                <a:spcPts val="0"/>
              </a:spcBef>
              <a:spcAft>
                <a:spcPts val="0"/>
              </a:spcAft>
            </a:pPr>
            <a:r>
              <a:rPr sz="1350" b="1" i="0">
                <a:solidFill>
                  <a:srgbClr val="022169"/>
                </a:solidFill>
                <a:latin typeface="EB Garamond"/>
              </a:rPr>
              <a:t>FY2029</a:t>
            </a:r>
          </a:p>
          <a:p>
            <a:pPr algn="ctr">
              <a:spcBef>
                <a:spcPts val="0"/>
              </a:spcBef>
              <a:spcAft>
                <a:spcPts val="0"/>
              </a:spcAft>
            </a:pPr>
            <a:r>
              <a:rPr sz="1350" b="1" i="0">
                <a:solidFill>
                  <a:srgbClr val="022169"/>
                </a:solidFill>
                <a:latin typeface="EB Garamond"/>
              </a:rPr>
              <a:t>revenue</a:t>
            </a:r>
          </a:p>
        </p:txBody>
      </p:sp>
      <p:sp>
        <p:nvSpPr>
          <p:cNvPr id="11" name="Rectangle 10"/>
          <p:cNvSpPr/>
          <p:nvPr/>
        </p:nvSpPr>
        <p:spPr>
          <a:xfrm>
            <a:off x="4343400" y="2377440"/>
            <a:ext cx="1106424" cy="603504"/>
          </a:xfrm>
          <a:prstGeom prst="rect">
            <a:avLst/>
          </a:prstGeom>
          <a:solidFill>
            <a:srgbClr val="E5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398264" y="2478024"/>
            <a:ext cx="996695" cy="402336"/>
          </a:xfrm>
          <a:prstGeom prst="rect">
            <a:avLst/>
          </a:prstGeom>
          <a:noFill/>
        </p:spPr>
        <p:txBody>
          <a:bodyPr wrap="square" lIns="0" tIns="0" rIns="0" bIns="0">
            <a:spAutoFit/>
          </a:bodyPr>
          <a:lstStyle/>
          <a:p>
            <a:pPr algn="ctr">
              <a:spcBef>
                <a:spcPts val="0"/>
              </a:spcBef>
              <a:spcAft>
                <a:spcPts val="0"/>
              </a:spcAft>
            </a:pPr>
            <a:r>
              <a:rPr sz="1350" b="1" i="0">
                <a:solidFill>
                  <a:srgbClr val="022169"/>
                </a:solidFill>
                <a:latin typeface="EB Garamond"/>
              </a:rPr>
              <a:t>FY2029</a:t>
            </a:r>
          </a:p>
          <a:p>
            <a:pPr algn="ctr">
              <a:spcBef>
                <a:spcPts val="0"/>
              </a:spcBef>
              <a:spcAft>
                <a:spcPts val="0"/>
              </a:spcAft>
            </a:pPr>
            <a:r>
              <a:rPr sz="1350" b="1" i="0">
                <a:solidFill>
                  <a:srgbClr val="022169"/>
                </a:solidFill>
                <a:latin typeface="EB Garamond"/>
              </a:rPr>
              <a:t>growth</a:t>
            </a:r>
          </a:p>
        </p:txBody>
      </p:sp>
      <p:sp>
        <p:nvSpPr>
          <p:cNvPr id="13" name="Rectangle 12"/>
          <p:cNvSpPr/>
          <p:nvPr/>
        </p:nvSpPr>
        <p:spPr>
          <a:xfrm>
            <a:off x="5449824" y="2377440"/>
            <a:ext cx="1133856" cy="603504"/>
          </a:xfrm>
          <a:prstGeom prst="rect">
            <a:avLst/>
          </a:prstGeom>
          <a:solidFill>
            <a:srgbClr val="E5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504688" y="2478024"/>
            <a:ext cx="1024128" cy="415498"/>
          </a:xfrm>
          <a:prstGeom prst="rect">
            <a:avLst/>
          </a:prstGeom>
          <a:noFill/>
        </p:spPr>
        <p:txBody>
          <a:bodyPr wrap="square" lIns="0" tIns="0" rIns="0" bIns="0">
            <a:spAutoFit/>
          </a:bodyPr>
          <a:lstStyle/>
          <a:p>
            <a:pPr algn="ctr">
              <a:spcBef>
                <a:spcPts val="0"/>
              </a:spcBef>
              <a:spcAft>
                <a:spcPts val="0"/>
              </a:spcAft>
            </a:pPr>
            <a:r>
              <a:rPr sz="1350" b="1" i="0" dirty="0">
                <a:solidFill>
                  <a:srgbClr val="022169"/>
                </a:solidFill>
                <a:latin typeface="EB Garamond"/>
              </a:rPr>
              <a:t>Quarterly</a:t>
            </a:r>
          </a:p>
          <a:p>
            <a:pPr algn="ctr">
              <a:spcBef>
                <a:spcPts val="0"/>
              </a:spcBef>
              <a:spcAft>
                <a:spcPts val="0"/>
              </a:spcAft>
            </a:pPr>
            <a:r>
              <a:rPr sz="1350" b="1" i="0" dirty="0">
                <a:solidFill>
                  <a:srgbClr val="022169"/>
                </a:solidFill>
                <a:latin typeface="EB Garamond"/>
              </a:rPr>
              <a:t>shortfall</a:t>
            </a:r>
          </a:p>
        </p:txBody>
      </p:sp>
      <p:sp>
        <p:nvSpPr>
          <p:cNvPr id="15" name="Rectangle 14"/>
          <p:cNvSpPr/>
          <p:nvPr/>
        </p:nvSpPr>
        <p:spPr>
          <a:xfrm>
            <a:off x="6583680" y="2377440"/>
            <a:ext cx="1069847" cy="603504"/>
          </a:xfrm>
          <a:prstGeom prst="rect">
            <a:avLst/>
          </a:prstGeom>
          <a:solidFill>
            <a:srgbClr val="E5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638544" y="2478024"/>
            <a:ext cx="960119" cy="415498"/>
          </a:xfrm>
          <a:prstGeom prst="rect">
            <a:avLst/>
          </a:prstGeom>
          <a:noFill/>
        </p:spPr>
        <p:txBody>
          <a:bodyPr wrap="square" lIns="0" tIns="0" rIns="0" bIns="0">
            <a:spAutoFit/>
          </a:bodyPr>
          <a:lstStyle/>
          <a:p>
            <a:pPr algn="ctr">
              <a:spcBef>
                <a:spcPts val="0"/>
              </a:spcBef>
              <a:spcAft>
                <a:spcPts val="0"/>
              </a:spcAft>
            </a:pPr>
            <a:r>
              <a:rPr sz="1350" b="1" i="0" dirty="0">
                <a:solidFill>
                  <a:srgbClr val="022169"/>
                </a:solidFill>
                <a:latin typeface="EB Garamond"/>
              </a:rPr>
              <a:t>Revenue</a:t>
            </a:r>
          </a:p>
          <a:p>
            <a:pPr algn="ctr">
              <a:spcBef>
                <a:spcPts val="0"/>
              </a:spcBef>
              <a:spcAft>
                <a:spcPts val="0"/>
              </a:spcAft>
            </a:pPr>
            <a:r>
              <a:rPr sz="1350" b="1" i="0" dirty="0">
                <a:solidFill>
                  <a:srgbClr val="022169"/>
                </a:solidFill>
                <a:latin typeface="EB Garamond"/>
              </a:rPr>
              <a:t>miss</a:t>
            </a:r>
          </a:p>
        </p:txBody>
      </p:sp>
      <p:sp>
        <p:nvSpPr>
          <p:cNvPr id="17" name="Rectangle 16"/>
          <p:cNvSpPr/>
          <p:nvPr/>
        </p:nvSpPr>
        <p:spPr>
          <a:xfrm>
            <a:off x="7653527" y="2377440"/>
            <a:ext cx="1033272" cy="603504"/>
          </a:xfrm>
          <a:prstGeom prst="rect">
            <a:avLst/>
          </a:prstGeom>
          <a:solidFill>
            <a:srgbClr val="E5F1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708392" y="2478024"/>
            <a:ext cx="923544" cy="415498"/>
          </a:xfrm>
          <a:prstGeom prst="rect">
            <a:avLst/>
          </a:prstGeom>
          <a:noFill/>
        </p:spPr>
        <p:txBody>
          <a:bodyPr wrap="square" lIns="0" tIns="0" rIns="0" bIns="0">
            <a:spAutoFit/>
          </a:bodyPr>
          <a:lstStyle/>
          <a:p>
            <a:pPr algn="ctr">
              <a:spcBef>
                <a:spcPts val="0"/>
              </a:spcBef>
              <a:spcAft>
                <a:spcPts val="0"/>
              </a:spcAft>
            </a:pPr>
            <a:r>
              <a:rPr sz="1350" b="1" i="0" dirty="0">
                <a:solidFill>
                  <a:srgbClr val="022169"/>
                </a:solidFill>
                <a:latin typeface="EB Garamond"/>
              </a:rPr>
              <a:t>Fitted</a:t>
            </a:r>
          </a:p>
          <a:p>
            <a:pPr algn="ctr">
              <a:spcBef>
                <a:spcPts val="0"/>
              </a:spcBef>
              <a:spcAft>
                <a:spcPts val="0"/>
              </a:spcAft>
            </a:pPr>
            <a:r>
              <a:rPr sz="1350" b="1" i="0" dirty="0">
                <a:solidFill>
                  <a:srgbClr val="022169"/>
                </a:solidFill>
                <a:latin typeface="EB Garamond"/>
              </a:rPr>
              <a:t>return</a:t>
            </a:r>
          </a:p>
        </p:txBody>
      </p:sp>
      <p:sp>
        <p:nvSpPr>
          <p:cNvPr id="19" name="Rectangle 18"/>
          <p:cNvSpPr/>
          <p:nvPr/>
        </p:nvSpPr>
        <p:spPr>
          <a:xfrm>
            <a:off x="896112" y="2990088"/>
            <a:ext cx="2212848"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55547" y="3168396"/>
            <a:ext cx="2093976" cy="310896"/>
          </a:xfrm>
          <a:prstGeom prst="rect">
            <a:avLst/>
          </a:prstGeom>
          <a:noFill/>
        </p:spPr>
        <p:txBody>
          <a:bodyPr wrap="square" lIns="0" tIns="0" rIns="0" bIns="0">
            <a:spAutoFit/>
          </a:bodyPr>
          <a:lstStyle/>
          <a:p>
            <a:pPr algn="l">
              <a:spcBef>
                <a:spcPts val="0"/>
              </a:spcBef>
              <a:spcAft>
                <a:spcPts val="0"/>
              </a:spcAft>
            </a:pPr>
            <a:r>
              <a:rPr sz="1510" b="1" i="0">
                <a:solidFill>
                  <a:srgbClr val="022169"/>
                </a:solidFill>
                <a:latin typeface="EB Garamond"/>
              </a:rPr>
              <a:t>Consensus met</a:t>
            </a:r>
          </a:p>
        </p:txBody>
      </p:sp>
      <p:sp>
        <p:nvSpPr>
          <p:cNvPr id="21" name="Rectangle 20"/>
          <p:cNvSpPr/>
          <p:nvPr/>
        </p:nvSpPr>
        <p:spPr>
          <a:xfrm>
            <a:off x="3108960" y="2990088"/>
            <a:ext cx="12344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168396" y="3168396"/>
            <a:ext cx="1115568"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$903B</a:t>
            </a:r>
          </a:p>
        </p:txBody>
      </p:sp>
      <p:sp>
        <p:nvSpPr>
          <p:cNvPr id="23" name="Rectangle 22"/>
          <p:cNvSpPr/>
          <p:nvPr/>
        </p:nvSpPr>
        <p:spPr>
          <a:xfrm>
            <a:off x="4343400" y="2990088"/>
            <a:ext cx="1106424"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402836" y="3168396"/>
            <a:ext cx="987552"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+30.5%</a:t>
            </a:r>
          </a:p>
        </p:txBody>
      </p:sp>
      <p:sp>
        <p:nvSpPr>
          <p:cNvPr id="25" name="Rectangle 24"/>
          <p:cNvSpPr/>
          <p:nvPr/>
        </p:nvSpPr>
        <p:spPr>
          <a:xfrm>
            <a:off x="5449824" y="2990088"/>
            <a:ext cx="1133856"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5509260" y="3168396"/>
            <a:ext cx="1014984"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$0B</a:t>
            </a:r>
          </a:p>
        </p:txBody>
      </p:sp>
      <p:sp>
        <p:nvSpPr>
          <p:cNvPr id="27" name="Rectangle 26"/>
          <p:cNvSpPr/>
          <p:nvPr/>
        </p:nvSpPr>
        <p:spPr>
          <a:xfrm>
            <a:off x="6583680" y="2990088"/>
            <a:ext cx="1069847"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643116" y="3168396"/>
            <a:ext cx="950975"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0.0%</a:t>
            </a:r>
          </a:p>
        </p:txBody>
      </p:sp>
      <p:sp>
        <p:nvSpPr>
          <p:cNvPr id="29" name="Rectangle 28"/>
          <p:cNvSpPr/>
          <p:nvPr/>
        </p:nvSpPr>
        <p:spPr>
          <a:xfrm>
            <a:off x="7653527" y="2990088"/>
            <a:ext cx="1033272"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7712963" y="3168396"/>
            <a:ext cx="914400" cy="310896"/>
          </a:xfrm>
          <a:prstGeom prst="rect">
            <a:avLst/>
          </a:prstGeom>
          <a:noFill/>
        </p:spPr>
        <p:txBody>
          <a:bodyPr wrap="square" lIns="0" tIns="0" rIns="0" bIns="0">
            <a:spAutoFit/>
          </a:bodyPr>
          <a:lstStyle/>
          <a:p>
            <a:pPr algn="ctr">
              <a:spcBef>
                <a:spcPts val="0"/>
              </a:spcBef>
              <a:spcAft>
                <a:spcPts val="0"/>
              </a:spcAft>
            </a:pPr>
            <a:r>
              <a:rPr sz="1530" b="1" i="0">
                <a:solidFill>
                  <a:srgbClr val="0072CE"/>
                </a:solidFill>
                <a:latin typeface="EB Garamond"/>
              </a:rPr>
              <a:t>−18%</a:t>
            </a:r>
          </a:p>
        </p:txBody>
      </p:sp>
      <p:sp>
        <p:nvSpPr>
          <p:cNvPr id="31" name="Rectangle 30"/>
          <p:cNvSpPr/>
          <p:nvPr/>
        </p:nvSpPr>
        <p:spPr>
          <a:xfrm>
            <a:off x="896112" y="3610051"/>
            <a:ext cx="7790688" cy="10972"/>
          </a:xfrm>
          <a:prstGeom prst="rect">
            <a:avLst/>
          </a:prstGeom>
          <a:solidFill>
            <a:srgbClr val="E1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896112" y="3630168"/>
            <a:ext cx="2212848" cy="621792"/>
          </a:xfrm>
          <a:prstGeom prst="rect">
            <a:avLst/>
          </a:prstGeom>
          <a:solidFill>
            <a:srgbClr val="E9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55547" y="3808476"/>
            <a:ext cx="2093976" cy="310896"/>
          </a:xfrm>
          <a:prstGeom prst="rect">
            <a:avLst/>
          </a:prstGeom>
          <a:noFill/>
        </p:spPr>
        <p:txBody>
          <a:bodyPr wrap="square" lIns="0" tIns="0" rIns="0" bIns="0">
            <a:spAutoFit/>
          </a:bodyPr>
          <a:lstStyle/>
          <a:p>
            <a:pPr algn="l">
              <a:spcBef>
                <a:spcPts val="0"/>
              </a:spcBef>
              <a:spcAft>
                <a:spcPts val="0"/>
              </a:spcAft>
            </a:pPr>
            <a:r>
              <a:rPr sz="1510" b="1" i="0">
                <a:solidFill>
                  <a:srgbClr val="022169"/>
                </a:solidFill>
                <a:latin typeface="EB Garamond"/>
              </a:rPr>
              <a:t>Half FY2029 growth</a:t>
            </a:r>
          </a:p>
        </p:txBody>
      </p:sp>
      <p:sp>
        <p:nvSpPr>
          <p:cNvPr id="34" name="Rectangle 33"/>
          <p:cNvSpPr/>
          <p:nvPr/>
        </p:nvSpPr>
        <p:spPr>
          <a:xfrm>
            <a:off x="3108960" y="3630168"/>
            <a:ext cx="1234440" cy="621792"/>
          </a:xfrm>
          <a:prstGeom prst="rect">
            <a:avLst/>
          </a:prstGeom>
          <a:solidFill>
            <a:srgbClr val="E9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168396" y="3808476"/>
            <a:ext cx="1115568"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$798B</a:t>
            </a:r>
          </a:p>
        </p:txBody>
      </p:sp>
      <p:sp>
        <p:nvSpPr>
          <p:cNvPr id="36" name="Rectangle 35"/>
          <p:cNvSpPr/>
          <p:nvPr/>
        </p:nvSpPr>
        <p:spPr>
          <a:xfrm>
            <a:off x="4343400" y="3630168"/>
            <a:ext cx="1106424" cy="621792"/>
          </a:xfrm>
          <a:prstGeom prst="rect">
            <a:avLst/>
          </a:prstGeom>
          <a:solidFill>
            <a:srgbClr val="E9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4402836" y="3808476"/>
            <a:ext cx="987552"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+15.2%</a:t>
            </a:r>
          </a:p>
        </p:txBody>
      </p:sp>
      <p:sp>
        <p:nvSpPr>
          <p:cNvPr id="38" name="Rectangle 37"/>
          <p:cNvSpPr/>
          <p:nvPr/>
        </p:nvSpPr>
        <p:spPr>
          <a:xfrm>
            <a:off x="5449824" y="3630168"/>
            <a:ext cx="1133856" cy="621792"/>
          </a:xfrm>
          <a:prstGeom prst="rect">
            <a:avLst/>
          </a:prstGeom>
          <a:solidFill>
            <a:srgbClr val="E9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5509260" y="3808476"/>
            <a:ext cx="1014984"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$26B</a:t>
            </a:r>
          </a:p>
        </p:txBody>
      </p:sp>
      <p:sp>
        <p:nvSpPr>
          <p:cNvPr id="40" name="Rectangle 39"/>
          <p:cNvSpPr/>
          <p:nvPr/>
        </p:nvSpPr>
        <p:spPr>
          <a:xfrm>
            <a:off x="6583680" y="3630168"/>
            <a:ext cx="1069847" cy="621792"/>
          </a:xfrm>
          <a:prstGeom prst="rect">
            <a:avLst/>
          </a:prstGeom>
          <a:solidFill>
            <a:srgbClr val="E9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6643116" y="3808476"/>
            <a:ext cx="950975"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−11.7%</a:t>
            </a:r>
          </a:p>
        </p:txBody>
      </p:sp>
      <p:sp>
        <p:nvSpPr>
          <p:cNvPr id="42" name="Rectangle 41"/>
          <p:cNvSpPr/>
          <p:nvPr/>
        </p:nvSpPr>
        <p:spPr>
          <a:xfrm>
            <a:off x="7653527" y="3630168"/>
            <a:ext cx="1033272" cy="621792"/>
          </a:xfrm>
          <a:prstGeom prst="rect">
            <a:avLst/>
          </a:prstGeom>
          <a:solidFill>
            <a:srgbClr val="E9F4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7712963" y="3808476"/>
            <a:ext cx="914400" cy="310896"/>
          </a:xfrm>
          <a:prstGeom prst="rect">
            <a:avLst/>
          </a:prstGeom>
          <a:noFill/>
        </p:spPr>
        <p:txBody>
          <a:bodyPr wrap="square" lIns="0" tIns="0" rIns="0" bIns="0">
            <a:spAutoFit/>
          </a:bodyPr>
          <a:lstStyle/>
          <a:p>
            <a:pPr algn="ctr">
              <a:spcBef>
                <a:spcPts val="0"/>
              </a:spcBef>
              <a:spcAft>
                <a:spcPts val="0"/>
              </a:spcAft>
            </a:pPr>
            <a:r>
              <a:rPr sz="1530" b="1" i="0">
                <a:solidFill>
                  <a:srgbClr val="0072CE"/>
                </a:solidFill>
                <a:latin typeface="EB Garamond"/>
              </a:rPr>
              <a:t>−49%</a:t>
            </a:r>
          </a:p>
        </p:txBody>
      </p:sp>
      <p:sp>
        <p:nvSpPr>
          <p:cNvPr id="44" name="Rectangle 43"/>
          <p:cNvSpPr/>
          <p:nvPr/>
        </p:nvSpPr>
        <p:spPr>
          <a:xfrm>
            <a:off x="896112" y="4250131"/>
            <a:ext cx="7790688" cy="10972"/>
          </a:xfrm>
          <a:prstGeom prst="rect">
            <a:avLst/>
          </a:prstGeom>
          <a:solidFill>
            <a:srgbClr val="E1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Rectangle 44"/>
          <p:cNvSpPr/>
          <p:nvPr/>
        </p:nvSpPr>
        <p:spPr>
          <a:xfrm>
            <a:off x="896112" y="4270248"/>
            <a:ext cx="2212848"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955547" y="4448556"/>
            <a:ext cx="2093976" cy="310896"/>
          </a:xfrm>
          <a:prstGeom prst="rect">
            <a:avLst/>
          </a:prstGeom>
          <a:noFill/>
        </p:spPr>
        <p:txBody>
          <a:bodyPr wrap="square" lIns="0" tIns="0" rIns="0" bIns="0">
            <a:spAutoFit/>
          </a:bodyPr>
          <a:lstStyle/>
          <a:p>
            <a:pPr algn="l">
              <a:spcBef>
                <a:spcPts val="0"/>
              </a:spcBef>
              <a:spcAft>
                <a:spcPts val="0"/>
              </a:spcAft>
            </a:pPr>
            <a:r>
              <a:rPr sz="1510" b="1" i="0">
                <a:solidFill>
                  <a:srgbClr val="022169"/>
                </a:solidFill>
                <a:latin typeface="EB Garamond"/>
              </a:rPr>
              <a:t>Flat at FY2028</a:t>
            </a:r>
          </a:p>
        </p:txBody>
      </p:sp>
      <p:sp>
        <p:nvSpPr>
          <p:cNvPr id="47" name="Rectangle 46"/>
          <p:cNvSpPr/>
          <p:nvPr/>
        </p:nvSpPr>
        <p:spPr>
          <a:xfrm>
            <a:off x="3108960" y="4270248"/>
            <a:ext cx="1234440"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3168396" y="4448556"/>
            <a:ext cx="1115568"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$692B</a:t>
            </a:r>
          </a:p>
        </p:txBody>
      </p:sp>
      <p:sp>
        <p:nvSpPr>
          <p:cNvPr id="49" name="Rectangle 48"/>
          <p:cNvSpPr/>
          <p:nvPr/>
        </p:nvSpPr>
        <p:spPr>
          <a:xfrm>
            <a:off x="4343400" y="4270248"/>
            <a:ext cx="1106424"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402836" y="4448556"/>
            <a:ext cx="987552"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0.0%</a:t>
            </a:r>
          </a:p>
        </p:txBody>
      </p:sp>
      <p:sp>
        <p:nvSpPr>
          <p:cNvPr id="51" name="Rectangle 50"/>
          <p:cNvSpPr/>
          <p:nvPr/>
        </p:nvSpPr>
        <p:spPr>
          <a:xfrm>
            <a:off x="5449824" y="4270248"/>
            <a:ext cx="1133856"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5509260" y="4448556"/>
            <a:ext cx="1014984"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$53B</a:t>
            </a:r>
          </a:p>
        </p:txBody>
      </p:sp>
      <p:sp>
        <p:nvSpPr>
          <p:cNvPr id="53" name="Rectangle 52"/>
          <p:cNvSpPr/>
          <p:nvPr/>
        </p:nvSpPr>
        <p:spPr>
          <a:xfrm>
            <a:off x="6583680" y="4270248"/>
            <a:ext cx="1069847"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6643116" y="4448556"/>
            <a:ext cx="950975" cy="310896"/>
          </a:xfrm>
          <a:prstGeom prst="rect">
            <a:avLst/>
          </a:prstGeom>
          <a:noFill/>
        </p:spPr>
        <p:txBody>
          <a:bodyPr wrap="square" lIns="0" tIns="0" rIns="0" bIns="0">
            <a:spAutoFit/>
          </a:bodyPr>
          <a:lstStyle/>
          <a:p>
            <a:pPr algn="ctr">
              <a:spcBef>
                <a:spcPts val="0"/>
              </a:spcBef>
              <a:spcAft>
                <a:spcPts val="0"/>
              </a:spcAft>
            </a:pPr>
            <a:r>
              <a:rPr sz="1530" b="0" i="0">
                <a:solidFill>
                  <a:srgbClr val="2E3944"/>
                </a:solidFill>
                <a:latin typeface="EB Garamond"/>
              </a:rPr>
              <a:t>−23.4%</a:t>
            </a:r>
          </a:p>
        </p:txBody>
      </p:sp>
      <p:sp>
        <p:nvSpPr>
          <p:cNvPr id="55" name="Rectangle 54"/>
          <p:cNvSpPr/>
          <p:nvPr/>
        </p:nvSpPr>
        <p:spPr>
          <a:xfrm>
            <a:off x="7653527" y="4270248"/>
            <a:ext cx="1033272" cy="62179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7712963" y="4448556"/>
            <a:ext cx="914400" cy="310896"/>
          </a:xfrm>
          <a:prstGeom prst="rect">
            <a:avLst/>
          </a:prstGeom>
          <a:noFill/>
        </p:spPr>
        <p:txBody>
          <a:bodyPr wrap="square" lIns="0" tIns="0" rIns="0" bIns="0">
            <a:spAutoFit/>
          </a:bodyPr>
          <a:lstStyle/>
          <a:p>
            <a:pPr algn="ctr">
              <a:spcBef>
                <a:spcPts val="0"/>
              </a:spcBef>
              <a:spcAft>
                <a:spcPts val="0"/>
              </a:spcAft>
            </a:pPr>
            <a:r>
              <a:rPr sz="1530" b="1" i="0" dirty="0">
                <a:solidFill>
                  <a:srgbClr val="0072CE"/>
                </a:solidFill>
                <a:latin typeface="EB Garamond"/>
              </a:rPr>
              <a:t>−81%</a:t>
            </a:r>
          </a:p>
        </p:txBody>
      </p:sp>
      <p:sp>
        <p:nvSpPr>
          <p:cNvPr id="57" name="Rectangle 56"/>
          <p:cNvSpPr/>
          <p:nvPr/>
        </p:nvSpPr>
        <p:spPr>
          <a:xfrm>
            <a:off x="896112" y="4890211"/>
            <a:ext cx="7790688" cy="10972"/>
          </a:xfrm>
          <a:prstGeom prst="rect">
            <a:avLst/>
          </a:prstGeom>
          <a:solidFill>
            <a:srgbClr val="E1E8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p:cNvSpPr txBox="1"/>
          <p:nvPr/>
        </p:nvSpPr>
        <p:spPr>
          <a:xfrm>
            <a:off x="932688" y="5020056"/>
            <a:ext cx="7543800" cy="507831"/>
          </a:xfrm>
          <a:prstGeom prst="rect">
            <a:avLst/>
          </a:prstGeom>
          <a:noFill/>
        </p:spPr>
        <p:txBody>
          <a:bodyPr wrap="square" lIns="0" tIns="0" rIns="0" bIns="0">
            <a:spAutoFit/>
          </a:bodyPr>
          <a:lstStyle/>
          <a:p>
            <a:pPr algn="l"/>
            <a:r>
              <a:rPr sz="1650" b="1" dirty="0">
                <a:solidFill>
                  <a:srgbClr val="022169"/>
                </a:solidFill>
                <a:latin typeface="EB Garamond"/>
              </a:rPr>
              <a:t>The half-growth case still delivers +15% FY2029 sales growth after +68% in FY2028</a:t>
            </a:r>
            <a:r>
              <a:rPr lang="en-US" sz="1650" b="1" dirty="0">
                <a:solidFill>
                  <a:srgbClr val="022169"/>
                </a:solidFill>
                <a:latin typeface="EB Garamond"/>
              </a:rPr>
              <a:t> and +90.6% in FY2027</a:t>
            </a:r>
            <a:r>
              <a:rPr sz="1650" b="1" dirty="0">
                <a:solidFill>
                  <a:srgbClr val="022169"/>
                </a:solidFill>
                <a:latin typeface="EB Garamond"/>
              </a:rPr>
              <a:t>.</a:t>
            </a:r>
          </a:p>
        </p:txBody>
      </p:sp>
      <p:sp>
        <p:nvSpPr>
          <p:cNvPr id="59" name="Rounded Rectangle 58"/>
          <p:cNvSpPr/>
          <p:nvPr/>
        </p:nvSpPr>
        <p:spPr>
          <a:xfrm>
            <a:off x="9043416" y="1435608"/>
            <a:ext cx="2450592" cy="4069080"/>
          </a:xfrm>
          <a:prstGeom prst="roundRect">
            <a:avLst/>
          </a:prstGeom>
          <a:solidFill>
            <a:srgbClr val="F4F8FB"/>
          </a:solidFill>
          <a:ln w="15875">
            <a:solidFill>
              <a:srgbClr val="B8D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TextBox 59"/>
          <p:cNvSpPr txBox="1"/>
          <p:nvPr/>
        </p:nvSpPr>
        <p:spPr>
          <a:xfrm>
            <a:off x="9208008" y="1673352"/>
            <a:ext cx="2112264" cy="548640"/>
          </a:xfrm>
          <a:prstGeom prst="rect">
            <a:avLst/>
          </a:prstGeom>
          <a:noFill/>
        </p:spPr>
        <p:txBody>
          <a:bodyPr wrap="square" lIns="18288" tIns="9144" rIns="18288" bIns="9144">
            <a:spAutoFit/>
          </a:bodyPr>
          <a:lstStyle/>
          <a:p>
            <a:pPr algn="ctr"/>
            <a:r>
              <a:rPr sz="3600" b="1">
                <a:solidFill>
                  <a:srgbClr val="0072CE"/>
                </a:solidFill>
                <a:latin typeface="EB Garamond"/>
              </a:rPr>
              <a:t>≈−50%</a:t>
            </a:r>
          </a:p>
        </p:txBody>
      </p:sp>
      <p:sp>
        <p:nvSpPr>
          <p:cNvPr id="61" name="TextBox 60"/>
          <p:cNvSpPr txBox="1"/>
          <p:nvPr/>
        </p:nvSpPr>
        <p:spPr>
          <a:xfrm>
            <a:off x="9235440" y="2331720"/>
            <a:ext cx="2057400" cy="1335024"/>
          </a:xfrm>
          <a:prstGeom prst="rect">
            <a:avLst/>
          </a:prstGeom>
          <a:noFill/>
        </p:spPr>
        <p:txBody>
          <a:bodyPr wrap="square" lIns="18288" tIns="9144" rIns="18288" bIns="9144">
            <a:spAutoFit/>
          </a:bodyPr>
          <a:lstStyle/>
          <a:p>
            <a:pPr algn="l"/>
            <a:r>
              <a:rPr sz="1620" b="1">
                <a:solidFill>
                  <a:srgbClr val="022169"/>
                </a:solidFill>
                <a:latin typeface="EB Garamond"/>
              </a:rPr>
              <a:t>Despite being out of sample, a ~50% correction is not unrealistic, as implied by the current trend.</a:t>
            </a:r>
          </a:p>
        </p:txBody>
      </p:sp>
      <p:sp>
        <p:nvSpPr>
          <p:cNvPr id="62" name="TextBox 61"/>
          <p:cNvSpPr txBox="1"/>
          <p:nvPr/>
        </p:nvSpPr>
        <p:spPr>
          <a:xfrm>
            <a:off x="9235440" y="3776472"/>
            <a:ext cx="2057400" cy="1655838"/>
          </a:xfrm>
          <a:prstGeom prst="rect">
            <a:avLst/>
          </a:prstGeom>
          <a:noFill/>
        </p:spPr>
        <p:txBody>
          <a:bodyPr wrap="square" lIns="18288" tIns="9144" rIns="18288" bIns="9144">
            <a:spAutoFit/>
          </a:bodyPr>
          <a:lstStyle/>
          <a:p>
            <a:pPr algn="l"/>
            <a:r>
              <a:rPr sz="1520" b="0" dirty="0">
                <a:solidFill>
                  <a:srgbClr val="303742"/>
                </a:solidFill>
                <a:latin typeface="EB Garamond"/>
              </a:rPr>
              <a:t>Nvidia could grow revenue another ~70% in FY2028 and a further 15% in </a:t>
            </a:r>
            <a:r>
              <a:rPr lang="en-US" sz="1520" b="0" dirty="0">
                <a:solidFill>
                  <a:srgbClr val="303742"/>
                </a:solidFill>
                <a:latin typeface="EB Garamond"/>
              </a:rPr>
              <a:t>FY2029  yet</a:t>
            </a:r>
            <a:r>
              <a:rPr sz="1520" b="0" dirty="0">
                <a:solidFill>
                  <a:srgbClr val="303742"/>
                </a:solidFill>
                <a:latin typeface="EB Garamond"/>
              </a:rPr>
              <a:t> still suffer a catastrophic repricing if it falls short of current expectations.</a:t>
            </a:r>
          </a:p>
        </p:txBody>
      </p:sp>
      <p:sp>
        <p:nvSpPr>
          <p:cNvPr id="63" name="Slide Number 17"/>
          <p:cNvSpPr txBox="1"/>
          <p:nvPr/>
        </p:nvSpPr>
        <p:spPr>
          <a:xfrm>
            <a:off x="11384280" y="6492240"/>
            <a:ext cx="411480" cy="164592"/>
          </a:xfrm>
          <a:prstGeom prst="rect">
            <a:avLst/>
          </a:prstGeom>
          <a:noFill/>
        </p:spPr>
        <p:txBody>
          <a:bodyPr wrap="square" anchor="ctr">
            <a:spAutoFit/>
          </a:bodyPr>
          <a:lstStyle/>
          <a:p>
            <a:pPr algn="l">
              <a:spcBef>
                <a:spcPts val="0"/>
              </a:spcBef>
              <a:spcAft>
                <a:spcPts val="0"/>
              </a:spcAft>
            </a:pPr>
            <a:r>
              <a:rPr sz="900" b="0" i="0">
                <a:solidFill>
                  <a:srgbClr val="5F6973"/>
                </a:solidFill>
                <a:latin typeface="Aptos"/>
              </a:rPr>
              <a:t>18</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lnSpc>
                <a:spcPct val="100000"/>
              </a:lnSpc>
              <a:spcBef>
                <a:spcPts val="0"/>
              </a:spcBef>
              <a:spcAft>
                <a:spcPts val="0"/>
              </a:spcAft>
              <a:buNone/>
            </a:pPr>
            <a:r>
              <a:rPr sz="2600" b="1">
                <a:solidFill>
                  <a:srgbClr val="022169"/>
                </a:solidFill>
                <a:latin typeface="EB Garamond"/>
              </a:rPr>
              <a:t>Frontier-model leadership is measured in months; valuations in years</a:t>
            </a:r>
            <a:endParaRPr lang="en-US" sz="2600" dirty="0"/>
          </a:p>
        </p:txBody>
      </p:sp>
      <p:sp>
        <p:nvSpPr>
          <p:cNvPr id="3" name="Text 1"/>
          <p:cNvSpPr/>
          <p:nvPr/>
        </p:nvSpPr>
        <p:spPr>
          <a:xfrm>
            <a:off x="822960" y="1261872"/>
            <a:ext cx="2743200" cy="713232"/>
          </a:xfrm>
          <a:prstGeom prst="rect">
            <a:avLst/>
          </a:prstGeom>
          <a:noFill/>
          <a:ln/>
        </p:spPr>
        <p:txBody>
          <a:bodyPr wrap="square" lIns="0" tIns="0" rIns="0" bIns="0" rtlCol="0" anchor="ctr"/>
          <a:lstStyle/>
          <a:p>
            <a:pPr marL="0" indent="0" algn="ctr">
              <a:lnSpc>
                <a:spcPct val="100000"/>
              </a:lnSpc>
              <a:spcBef>
                <a:spcPts val="0"/>
              </a:spcBef>
              <a:spcAft>
                <a:spcPts val="0"/>
              </a:spcAft>
              <a:buNone/>
            </a:pPr>
            <a:r>
              <a:rPr sz="4000" b="1">
                <a:solidFill>
                  <a:srgbClr val="0072CE"/>
                </a:solidFill>
                <a:latin typeface="EB Garamond"/>
              </a:rPr>
              <a:t>≈1 year</a:t>
            </a:r>
            <a:endParaRPr lang="en-US" sz="4200" dirty="0"/>
          </a:p>
        </p:txBody>
      </p:sp>
      <p:sp>
        <p:nvSpPr>
          <p:cNvPr id="4" name="Text 2"/>
          <p:cNvSpPr/>
          <p:nvPr/>
        </p:nvSpPr>
        <p:spPr>
          <a:xfrm>
            <a:off x="960120" y="1993392"/>
            <a:ext cx="2468880" cy="640080"/>
          </a:xfrm>
          <a:prstGeom prst="rect">
            <a:avLst/>
          </a:prstGeom>
          <a:noFill/>
          <a:ln/>
        </p:spPr>
        <p:txBody>
          <a:bodyPr wrap="square" lIns="0" tIns="0" rIns="0" bIns="0" rtlCol="0" anchor="ctr">
            <a:normAutofit/>
          </a:bodyPr>
          <a:lstStyle/>
          <a:p>
            <a:pPr marL="0" indent="0" algn="ctr">
              <a:lnSpc>
                <a:spcPct val="100000"/>
              </a:lnSpc>
              <a:spcBef>
                <a:spcPts val="0"/>
              </a:spcBef>
              <a:spcAft>
                <a:spcPts val="0"/>
              </a:spcAft>
              <a:buNone/>
            </a:pPr>
            <a:r>
              <a:rPr sz="1450" b="0">
                <a:solidFill>
                  <a:srgbClr val="2F3437"/>
                </a:solidFill>
                <a:latin typeface="EB Garamond"/>
              </a:rPr>
              <a:t>Open-model capability lag in 2024</a:t>
            </a:r>
            <a:endParaRPr lang="en-US" sz="1450" dirty="0"/>
          </a:p>
          <a:p>
            <a:pPr algn="ctr">
              <a:lnSpc>
                <a:spcPct val="100000"/>
              </a:lnSpc>
              <a:spcBef>
                <a:spcPts val="0"/>
              </a:spcBef>
              <a:spcAft>
                <a:spcPts val="0"/>
              </a:spcAft>
            </a:pPr>
            <a:r>
              <a:rPr sz="1450" b="0">
                <a:solidFill>
                  <a:srgbClr val="2F3437"/>
                </a:solidFill>
                <a:latin typeface="EB Garamond"/>
              </a:rPr>
              <a:t>(Epoch, multiple measures)</a:t>
            </a:r>
          </a:p>
        </p:txBody>
      </p:sp>
      <p:sp>
        <p:nvSpPr>
          <p:cNvPr id="5" name="Text 3"/>
          <p:cNvSpPr/>
          <p:nvPr/>
        </p:nvSpPr>
        <p:spPr>
          <a:xfrm>
            <a:off x="3611880" y="1261872"/>
            <a:ext cx="2743200" cy="713232"/>
          </a:xfrm>
          <a:prstGeom prst="rect">
            <a:avLst/>
          </a:prstGeom>
          <a:noFill/>
          <a:ln/>
        </p:spPr>
        <p:txBody>
          <a:bodyPr wrap="square" lIns="0" tIns="0" rIns="0" bIns="0" rtlCol="0" anchor="ctr"/>
          <a:lstStyle/>
          <a:p>
            <a:pPr marL="0" indent="0" algn="ctr">
              <a:lnSpc>
                <a:spcPct val="100000"/>
              </a:lnSpc>
              <a:spcBef>
                <a:spcPts val="0"/>
              </a:spcBef>
              <a:spcAft>
                <a:spcPts val="0"/>
              </a:spcAft>
              <a:buNone/>
            </a:pPr>
            <a:r>
              <a:rPr sz="3600" b="1">
                <a:solidFill>
                  <a:srgbClr val="0072CE"/>
                </a:solidFill>
                <a:latin typeface="EB Garamond"/>
              </a:rPr>
              <a:t>≈4 months</a:t>
            </a:r>
            <a:endParaRPr lang="en-US" sz="4200" dirty="0"/>
          </a:p>
        </p:txBody>
      </p:sp>
      <p:sp>
        <p:nvSpPr>
          <p:cNvPr id="6" name="Text 4"/>
          <p:cNvSpPr/>
          <p:nvPr/>
        </p:nvSpPr>
        <p:spPr>
          <a:xfrm>
            <a:off x="3749040" y="1993392"/>
            <a:ext cx="2468880" cy="640080"/>
          </a:xfrm>
          <a:prstGeom prst="rect">
            <a:avLst/>
          </a:prstGeom>
          <a:noFill/>
          <a:ln/>
        </p:spPr>
        <p:txBody>
          <a:bodyPr wrap="square" lIns="0" tIns="0" rIns="0" bIns="0" rtlCol="0" anchor="ctr">
            <a:normAutofit lnSpcReduction="10000"/>
          </a:bodyPr>
          <a:lstStyle/>
          <a:p>
            <a:pPr marL="0" indent="0" algn="ctr">
              <a:lnSpc>
                <a:spcPct val="100000"/>
              </a:lnSpc>
              <a:spcBef>
                <a:spcPts val="0"/>
              </a:spcBef>
              <a:spcAft>
                <a:spcPts val="0"/>
              </a:spcAft>
              <a:buNone/>
            </a:pPr>
            <a:r>
              <a:rPr sz="1450" b="0">
                <a:solidFill>
                  <a:srgbClr val="2F3437"/>
                </a:solidFill>
                <a:latin typeface="EB Garamond"/>
              </a:rPr>
              <a:t>Open-weight capability lag, Jan–May 2026</a:t>
            </a:r>
            <a:endParaRPr lang="en-US" sz="1450" dirty="0"/>
          </a:p>
          <a:p>
            <a:pPr algn="ctr">
              <a:lnSpc>
                <a:spcPct val="100000"/>
              </a:lnSpc>
              <a:spcBef>
                <a:spcPts val="0"/>
              </a:spcBef>
              <a:spcAft>
                <a:spcPts val="0"/>
              </a:spcAft>
            </a:pPr>
            <a:r>
              <a:rPr sz="1450" b="0">
                <a:solidFill>
                  <a:srgbClr val="2F3437"/>
                </a:solidFill>
                <a:latin typeface="EB Garamond"/>
              </a:rPr>
              <a:t>(Epoch ECI)</a:t>
            </a:r>
          </a:p>
        </p:txBody>
      </p:sp>
      <p:sp>
        <p:nvSpPr>
          <p:cNvPr id="7" name="Text 5"/>
          <p:cNvSpPr/>
          <p:nvPr/>
        </p:nvSpPr>
        <p:spPr>
          <a:xfrm>
            <a:off x="868680" y="3035808"/>
            <a:ext cx="5623560" cy="438912"/>
          </a:xfrm>
          <a:prstGeom prst="rect">
            <a:avLst/>
          </a:prstGeom>
          <a:noFill/>
          <a:ln/>
        </p:spPr>
        <p:txBody>
          <a:bodyPr wrap="square" lIns="0" tIns="0" rIns="0" bIns="0" rtlCol="0" anchor="ctr"/>
          <a:lstStyle/>
          <a:p>
            <a:pPr marL="0" indent="0" algn="ctr">
              <a:lnSpc>
                <a:spcPct val="100000"/>
              </a:lnSpc>
              <a:spcBef>
                <a:spcPts val="0"/>
              </a:spcBef>
              <a:spcAft>
                <a:spcPts val="0"/>
              </a:spcAft>
              <a:buNone/>
            </a:pPr>
            <a:r>
              <a:rPr sz="2039" b="1">
                <a:solidFill>
                  <a:srgbClr val="022169"/>
                </a:solidFill>
                <a:latin typeface="EB Garamond"/>
              </a:rPr>
              <a:t>2026: open models keep closing in</a:t>
            </a:r>
            <a:endParaRPr lang="en-US" sz="2100" dirty="0"/>
          </a:p>
        </p:txBody>
      </p:sp>
      <p:sp>
        <p:nvSpPr>
          <p:cNvPr id="11" name="Text 9"/>
          <p:cNvSpPr/>
          <p:nvPr/>
        </p:nvSpPr>
        <p:spPr>
          <a:xfrm>
            <a:off x="438912" y="6345936"/>
            <a:ext cx="10835640" cy="219456"/>
          </a:xfrm>
          <a:prstGeom prst="rect">
            <a:avLst/>
          </a:prstGeom>
          <a:noFill/>
          <a:ln/>
        </p:spPr>
        <p:txBody>
          <a:bodyPr wrap="square" lIns="0" tIns="0" rIns="0" bIns="0" rtlCol="0" anchor="ctr">
            <a:normAutofit lnSpcReduction="10000"/>
          </a:bodyPr>
          <a:lstStyle/>
          <a:p>
            <a:pPr algn="l">
              <a:spcAft>
                <a:spcPts val="0"/>
              </a:spcAft>
            </a:pPr>
            <a:r>
              <a:rPr sz="780">
                <a:solidFill>
                  <a:srgbClr val="5F6973"/>
                </a:solidFill>
                <a:latin typeface="EB Garamond"/>
              </a:rPr>
              <a:t>Sources: Epoch AI, “How far behind are open models?” (Nov. 2024) and Edwards &amp; Emberson (May 2026); Moonshot, Kimi K3 (July 2026), K3.1 Pro (Oct. 23, 2026); Mozilla (Sept. 2026); Artificial Analysis (Oct. 23, 2026). 2024/2026 lag methodologies differ; K3.1 Pro weights not yet released.</a:t>
            </a:r>
          </a:p>
        </p:txBody>
      </p:sp>
      <p:sp>
        <p:nvSpPr>
          <p:cNvPr id="25" name="Slide Number Placeholder 0"/>
          <p:cNvSpPr>
            <a:spLocks noGrp="1"/>
          </p:cNvSpPr>
          <p:nvPr>
            <p:ph type="sldNum" sz="quarter" idx="4294967295"/>
          </p:nvPr>
        </p:nvSpPr>
        <p:spPr>
          <a:xfrm>
            <a:off x="11780838" y="6492875"/>
            <a:ext cx="411162" cy="163513"/>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19</a:t>
            </a:r>
          </a:p>
        </p:txBody>
      </p:sp>
      <p:sp>
        <p:nvSpPr>
          <p:cNvPr id="26" name="Rounded Rectangle 25"/>
          <p:cNvSpPr/>
          <p:nvPr/>
        </p:nvSpPr>
        <p:spPr>
          <a:xfrm>
            <a:off x="6903720" y="1353312"/>
            <a:ext cx="4315968" cy="4297680"/>
          </a:xfrm>
          <a:prstGeom prst="roundRect">
            <a:avLst/>
          </a:prstGeom>
          <a:solidFill>
            <a:srgbClr val="FFFFFF"/>
          </a:solidFill>
          <a:ln w="10160">
            <a:solidFill>
              <a:srgbClr val="D2DAE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050024" y="1426464"/>
            <a:ext cx="4023359" cy="292608"/>
          </a:xfrm>
          <a:prstGeom prst="rect">
            <a:avLst/>
          </a:prstGeom>
          <a:noFill/>
        </p:spPr>
        <p:txBody>
          <a:bodyPr wrap="square" anchor="ctr">
            <a:spAutoFit/>
          </a:bodyPr>
          <a:lstStyle/>
          <a:p>
            <a:pPr algn="l">
              <a:lnSpc>
                <a:spcPct val="100000"/>
              </a:lnSpc>
              <a:spcBef>
                <a:spcPts val="0"/>
              </a:spcBef>
              <a:spcAft>
                <a:spcPts val="0"/>
              </a:spcAft>
            </a:pPr>
            <a:r>
              <a:rPr sz="1140" b="1">
                <a:solidFill>
                  <a:srgbClr val="022169"/>
                </a:solidFill>
                <a:latin typeface="EB Garamond"/>
              </a:rPr>
              <a:t>Open-weight models trail the frontier by months</a:t>
            </a:r>
          </a:p>
        </p:txBody>
      </p:sp>
      <p:sp>
        <p:nvSpPr>
          <p:cNvPr id="28" name="TextBox 27"/>
          <p:cNvSpPr txBox="1"/>
          <p:nvPr/>
        </p:nvSpPr>
        <p:spPr>
          <a:xfrm>
            <a:off x="7050024" y="1728216"/>
            <a:ext cx="4023359" cy="182880"/>
          </a:xfrm>
          <a:prstGeom prst="rect">
            <a:avLst/>
          </a:prstGeom>
          <a:noFill/>
        </p:spPr>
        <p:txBody>
          <a:bodyPr wrap="square" anchor="ctr">
            <a:spAutoFit/>
          </a:bodyPr>
          <a:lstStyle/>
          <a:p>
            <a:pPr algn="l"/>
            <a:r>
              <a:rPr sz="840" b="0">
                <a:solidFill>
                  <a:srgbClr val="5F6973"/>
                </a:solidFill>
                <a:latin typeface="EB Garamond"/>
              </a:rPr>
              <a:t>Epoch Capabilities Index (ECI)</a:t>
            </a:r>
          </a:p>
        </p:txBody>
      </p:sp>
      <p:sp>
        <p:nvSpPr>
          <p:cNvPr id="29" name="Straight Connector 28"/>
          <p:cNvSpPr/>
          <p:nvPr/>
        </p:nvSpPr>
        <p:spPr>
          <a:xfrm>
            <a:off x="7296912" y="5104384"/>
            <a:ext cx="3712463" cy="914"/>
          </a:xfrm>
          <a:prstGeom prst="lineInv">
            <a:avLst/>
          </a:prstGeom>
          <a:ln w="635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885431" y="5012944"/>
            <a:ext cx="384048" cy="182880"/>
          </a:xfrm>
          <a:prstGeom prst="rect">
            <a:avLst/>
          </a:prstGeom>
          <a:noFill/>
        </p:spPr>
        <p:txBody>
          <a:bodyPr wrap="square" anchor="ctr">
            <a:spAutoFit/>
          </a:bodyPr>
          <a:lstStyle/>
          <a:p>
            <a:pPr algn="r"/>
            <a:r>
              <a:rPr sz="700" b="0">
                <a:solidFill>
                  <a:srgbClr val="5F6973"/>
                </a:solidFill>
                <a:latin typeface="EB Garamond"/>
              </a:rPr>
              <a:t>110</a:t>
            </a:r>
          </a:p>
        </p:txBody>
      </p:sp>
      <p:sp>
        <p:nvSpPr>
          <p:cNvPr id="31" name="Straight Connector 30"/>
          <p:cNvSpPr/>
          <p:nvPr/>
        </p:nvSpPr>
        <p:spPr>
          <a:xfrm>
            <a:off x="7296912" y="4520184"/>
            <a:ext cx="3712463" cy="914"/>
          </a:xfrm>
          <a:prstGeom prst="lineInv">
            <a:avLst/>
          </a:prstGeom>
          <a:ln w="635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885431" y="4428744"/>
            <a:ext cx="384048" cy="182880"/>
          </a:xfrm>
          <a:prstGeom prst="rect">
            <a:avLst/>
          </a:prstGeom>
          <a:noFill/>
        </p:spPr>
        <p:txBody>
          <a:bodyPr wrap="square" anchor="ctr">
            <a:spAutoFit/>
          </a:bodyPr>
          <a:lstStyle/>
          <a:p>
            <a:pPr algn="r"/>
            <a:r>
              <a:rPr sz="700" b="0">
                <a:solidFill>
                  <a:srgbClr val="5F6973"/>
                </a:solidFill>
                <a:latin typeface="EB Garamond"/>
              </a:rPr>
              <a:t>120</a:t>
            </a:r>
          </a:p>
        </p:txBody>
      </p:sp>
      <p:sp>
        <p:nvSpPr>
          <p:cNvPr id="33" name="Straight Connector 32"/>
          <p:cNvSpPr/>
          <p:nvPr/>
        </p:nvSpPr>
        <p:spPr>
          <a:xfrm>
            <a:off x="7296912" y="3935983"/>
            <a:ext cx="3712463" cy="914"/>
          </a:xfrm>
          <a:prstGeom prst="lineInv">
            <a:avLst/>
          </a:prstGeom>
          <a:ln w="635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885431" y="3844544"/>
            <a:ext cx="384048" cy="182880"/>
          </a:xfrm>
          <a:prstGeom prst="rect">
            <a:avLst/>
          </a:prstGeom>
          <a:noFill/>
        </p:spPr>
        <p:txBody>
          <a:bodyPr wrap="square" anchor="ctr">
            <a:spAutoFit/>
          </a:bodyPr>
          <a:lstStyle/>
          <a:p>
            <a:pPr algn="r"/>
            <a:r>
              <a:rPr sz="700" b="0">
                <a:solidFill>
                  <a:srgbClr val="5F6973"/>
                </a:solidFill>
                <a:latin typeface="EB Garamond"/>
              </a:rPr>
              <a:t>130</a:t>
            </a:r>
          </a:p>
        </p:txBody>
      </p:sp>
      <p:sp>
        <p:nvSpPr>
          <p:cNvPr id="35" name="Straight Connector 34"/>
          <p:cNvSpPr/>
          <p:nvPr/>
        </p:nvSpPr>
        <p:spPr>
          <a:xfrm>
            <a:off x="7296912" y="3351784"/>
            <a:ext cx="3712463" cy="914"/>
          </a:xfrm>
          <a:prstGeom prst="lineInv">
            <a:avLst/>
          </a:prstGeom>
          <a:ln w="635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6885431" y="3260344"/>
            <a:ext cx="384048" cy="182880"/>
          </a:xfrm>
          <a:prstGeom prst="rect">
            <a:avLst/>
          </a:prstGeom>
          <a:noFill/>
        </p:spPr>
        <p:txBody>
          <a:bodyPr wrap="square" anchor="ctr">
            <a:spAutoFit/>
          </a:bodyPr>
          <a:lstStyle/>
          <a:p>
            <a:pPr algn="r"/>
            <a:r>
              <a:rPr sz="700" b="0">
                <a:solidFill>
                  <a:srgbClr val="5F6973"/>
                </a:solidFill>
                <a:latin typeface="EB Garamond"/>
              </a:rPr>
              <a:t>140</a:t>
            </a:r>
          </a:p>
        </p:txBody>
      </p:sp>
      <p:sp>
        <p:nvSpPr>
          <p:cNvPr id="37" name="Straight Connector 36"/>
          <p:cNvSpPr/>
          <p:nvPr/>
        </p:nvSpPr>
        <p:spPr>
          <a:xfrm>
            <a:off x="7296912" y="2767583"/>
            <a:ext cx="3712463" cy="914"/>
          </a:xfrm>
          <a:prstGeom prst="lineInv">
            <a:avLst/>
          </a:prstGeom>
          <a:ln w="635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6885431" y="2676143"/>
            <a:ext cx="384048" cy="182880"/>
          </a:xfrm>
          <a:prstGeom prst="rect">
            <a:avLst/>
          </a:prstGeom>
          <a:noFill/>
        </p:spPr>
        <p:txBody>
          <a:bodyPr wrap="square" anchor="ctr">
            <a:spAutoFit/>
          </a:bodyPr>
          <a:lstStyle/>
          <a:p>
            <a:pPr algn="r"/>
            <a:r>
              <a:rPr sz="700" b="0">
                <a:solidFill>
                  <a:srgbClr val="5F6973"/>
                </a:solidFill>
                <a:latin typeface="EB Garamond"/>
              </a:rPr>
              <a:t>150</a:t>
            </a:r>
          </a:p>
        </p:txBody>
      </p:sp>
      <p:sp>
        <p:nvSpPr>
          <p:cNvPr id="39" name="Straight Connector 38"/>
          <p:cNvSpPr/>
          <p:nvPr/>
        </p:nvSpPr>
        <p:spPr>
          <a:xfrm>
            <a:off x="7296912" y="2183384"/>
            <a:ext cx="3712463" cy="914"/>
          </a:xfrm>
          <a:prstGeom prst="lineInv">
            <a:avLst/>
          </a:prstGeom>
          <a:ln w="635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885431" y="2091943"/>
            <a:ext cx="384048" cy="182880"/>
          </a:xfrm>
          <a:prstGeom prst="rect">
            <a:avLst/>
          </a:prstGeom>
          <a:noFill/>
        </p:spPr>
        <p:txBody>
          <a:bodyPr wrap="square" anchor="ctr">
            <a:spAutoFit/>
          </a:bodyPr>
          <a:lstStyle/>
          <a:p>
            <a:pPr algn="r"/>
            <a:r>
              <a:rPr sz="700" b="0">
                <a:solidFill>
                  <a:srgbClr val="5F6973"/>
                </a:solidFill>
                <a:latin typeface="EB Garamond"/>
              </a:rPr>
              <a:t>160</a:t>
            </a:r>
          </a:p>
        </p:txBody>
      </p:sp>
      <p:sp>
        <p:nvSpPr>
          <p:cNvPr id="41" name="Straight Connector 40"/>
          <p:cNvSpPr/>
          <p:nvPr/>
        </p:nvSpPr>
        <p:spPr>
          <a:xfrm>
            <a:off x="7296912"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7040879" y="5248656"/>
            <a:ext cx="512064" cy="201168"/>
          </a:xfrm>
          <a:prstGeom prst="rect">
            <a:avLst/>
          </a:prstGeom>
          <a:noFill/>
        </p:spPr>
        <p:txBody>
          <a:bodyPr wrap="square" anchor="ctr">
            <a:spAutoFit/>
          </a:bodyPr>
          <a:lstStyle/>
          <a:p>
            <a:pPr algn="ctr"/>
            <a:r>
              <a:rPr sz="670" b="0">
                <a:solidFill>
                  <a:srgbClr val="5F6973"/>
                </a:solidFill>
                <a:latin typeface="EB Garamond"/>
              </a:rPr>
              <a:t>Jan 2023</a:t>
            </a:r>
          </a:p>
        </p:txBody>
      </p:sp>
      <p:sp>
        <p:nvSpPr>
          <p:cNvPr id="43" name="Straight Connector 42"/>
          <p:cNvSpPr/>
          <p:nvPr/>
        </p:nvSpPr>
        <p:spPr>
          <a:xfrm>
            <a:off x="7836202"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7580170" y="5248656"/>
            <a:ext cx="512064" cy="201168"/>
          </a:xfrm>
          <a:prstGeom prst="rect">
            <a:avLst/>
          </a:prstGeom>
          <a:noFill/>
        </p:spPr>
        <p:txBody>
          <a:bodyPr wrap="square" anchor="ctr">
            <a:spAutoFit/>
          </a:bodyPr>
          <a:lstStyle/>
          <a:p>
            <a:pPr algn="ctr"/>
            <a:r>
              <a:rPr sz="670" b="0">
                <a:solidFill>
                  <a:srgbClr val="5F6973"/>
                </a:solidFill>
                <a:latin typeface="EB Garamond"/>
              </a:rPr>
              <a:t>Jul 2023</a:t>
            </a:r>
          </a:p>
        </p:txBody>
      </p:sp>
      <p:sp>
        <p:nvSpPr>
          <p:cNvPr id="45" name="Straight Connector 44"/>
          <p:cNvSpPr/>
          <p:nvPr/>
        </p:nvSpPr>
        <p:spPr>
          <a:xfrm>
            <a:off x="8384431"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128399" y="5248656"/>
            <a:ext cx="512064" cy="201168"/>
          </a:xfrm>
          <a:prstGeom prst="rect">
            <a:avLst/>
          </a:prstGeom>
          <a:noFill/>
        </p:spPr>
        <p:txBody>
          <a:bodyPr wrap="square" anchor="ctr">
            <a:spAutoFit/>
          </a:bodyPr>
          <a:lstStyle/>
          <a:p>
            <a:pPr algn="ctr"/>
            <a:r>
              <a:rPr sz="670" b="0">
                <a:solidFill>
                  <a:srgbClr val="5F6973"/>
                </a:solidFill>
                <a:latin typeface="EB Garamond"/>
              </a:rPr>
              <a:t>Jan 2024</a:t>
            </a:r>
          </a:p>
        </p:txBody>
      </p:sp>
      <p:sp>
        <p:nvSpPr>
          <p:cNvPr id="47" name="Straight Connector 46"/>
          <p:cNvSpPr/>
          <p:nvPr/>
        </p:nvSpPr>
        <p:spPr>
          <a:xfrm>
            <a:off x="8926701"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670669" y="5248656"/>
            <a:ext cx="512064" cy="201168"/>
          </a:xfrm>
          <a:prstGeom prst="rect">
            <a:avLst/>
          </a:prstGeom>
          <a:noFill/>
        </p:spPr>
        <p:txBody>
          <a:bodyPr wrap="square" anchor="ctr">
            <a:spAutoFit/>
          </a:bodyPr>
          <a:lstStyle/>
          <a:p>
            <a:pPr algn="ctr"/>
            <a:r>
              <a:rPr sz="670" b="0">
                <a:solidFill>
                  <a:srgbClr val="5F6973"/>
                </a:solidFill>
                <a:latin typeface="EB Garamond"/>
              </a:rPr>
              <a:t>Jul 2024</a:t>
            </a:r>
          </a:p>
        </p:txBody>
      </p:sp>
      <p:sp>
        <p:nvSpPr>
          <p:cNvPr id="49" name="Straight Connector 48"/>
          <p:cNvSpPr/>
          <p:nvPr/>
        </p:nvSpPr>
        <p:spPr>
          <a:xfrm>
            <a:off x="9474930"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9218898" y="5248656"/>
            <a:ext cx="512064" cy="201168"/>
          </a:xfrm>
          <a:prstGeom prst="rect">
            <a:avLst/>
          </a:prstGeom>
          <a:noFill/>
        </p:spPr>
        <p:txBody>
          <a:bodyPr wrap="square" anchor="ctr">
            <a:spAutoFit/>
          </a:bodyPr>
          <a:lstStyle/>
          <a:p>
            <a:pPr algn="ctr"/>
            <a:r>
              <a:rPr sz="670" b="0">
                <a:solidFill>
                  <a:srgbClr val="5F6973"/>
                </a:solidFill>
                <a:latin typeface="EB Garamond"/>
              </a:rPr>
              <a:t>Jan 2025</a:t>
            </a:r>
          </a:p>
        </p:txBody>
      </p:sp>
      <p:sp>
        <p:nvSpPr>
          <p:cNvPr id="51" name="Straight Connector 50"/>
          <p:cNvSpPr/>
          <p:nvPr/>
        </p:nvSpPr>
        <p:spPr>
          <a:xfrm>
            <a:off x="10014221"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9758189" y="5248656"/>
            <a:ext cx="512064" cy="201168"/>
          </a:xfrm>
          <a:prstGeom prst="rect">
            <a:avLst/>
          </a:prstGeom>
          <a:noFill/>
        </p:spPr>
        <p:txBody>
          <a:bodyPr wrap="square" anchor="ctr">
            <a:spAutoFit/>
          </a:bodyPr>
          <a:lstStyle/>
          <a:p>
            <a:pPr algn="ctr"/>
            <a:r>
              <a:rPr sz="670" b="0">
                <a:solidFill>
                  <a:srgbClr val="5F6973"/>
                </a:solidFill>
                <a:latin typeface="EB Garamond"/>
              </a:rPr>
              <a:t>Jul 2025</a:t>
            </a:r>
          </a:p>
        </p:txBody>
      </p:sp>
      <p:sp>
        <p:nvSpPr>
          <p:cNvPr id="53" name="Straight Connector 52"/>
          <p:cNvSpPr/>
          <p:nvPr/>
        </p:nvSpPr>
        <p:spPr>
          <a:xfrm>
            <a:off x="10562450" y="2066543"/>
            <a:ext cx="914" cy="3154680"/>
          </a:xfrm>
          <a:prstGeom prst="lineInv">
            <a:avLst/>
          </a:prstGeom>
          <a:ln w="5080">
            <a:solidFill>
              <a:srgbClr val="E2E7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0306418" y="5248656"/>
            <a:ext cx="512064" cy="201168"/>
          </a:xfrm>
          <a:prstGeom prst="rect">
            <a:avLst/>
          </a:prstGeom>
          <a:noFill/>
        </p:spPr>
        <p:txBody>
          <a:bodyPr wrap="square" anchor="ctr">
            <a:spAutoFit/>
          </a:bodyPr>
          <a:lstStyle/>
          <a:p>
            <a:pPr algn="ctr"/>
            <a:r>
              <a:rPr sz="670" b="0">
                <a:solidFill>
                  <a:srgbClr val="5F6973"/>
                </a:solidFill>
                <a:latin typeface="EB Garamond"/>
              </a:rPr>
              <a:t>Jan 2026</a:t>
            </a:r>
          </a:p>
        </p:txBody>
      </p:sp>
      <p:sp>
        <p:nvSpPr>
          <p:cNvPr id="55" name="Straight Connector 54"/>
          <p:cNvSpPr/>
          <p:nvPr/>
        </p:nvSpPr>
        <p:spPr>
          <a:xfrm>
            <a:off x="7511436" y="4172000"/>
            <a:ext cx="1382490"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Straight Connector 55"/>
          <p:cNvSpPr/>
          <p:nvPr/>
        </p:nvSpPr>
        <p:spPr>
          <a:xfrm>
            <a:off x="8893927" y="3935983"/>
            <a:ext cx="914" cy="236016"/>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Straight Connector 56"/>
          <p:cNvSpPr/>
          <p:nvPr/>
        </p:nvSpPr>
        <p:spPr>
          <a:xfrm>
            <a:off x="8893927" y="3935983"/>
            <a:ext cx="250278"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Straight Connector 57"/>
          <p:cNvSpPr/>
          <p:nvPr/>
        </p:nvSpPr>
        <p:spPr>
          <a:xfrm>
            <a:off x="9144205" y="3545738"/>
            <a:ext cx="914" cy="390245"/>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Straight Connector 58"/>
          <p:cNvSpPr/>
          <p:nvPr/>
        </p:nvSpPr>
        <p:spPr>
          <a:xfrm>
            <a:off x="9144205" y="3545738"/>
            <a:ext cx="643573"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Straight Connector 59"/>
          <p:cNvSpPr/>
          <p:nvPr/>
        </p:nvSpPr>
        <p:spPr>
          <a:xfrm>
            <a:off x="9787778" y="2927070"/>
            <a:ext cx="914" cy="618667"/>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Straight Connector 60"/>
          <p:cNvSpPr/>
          <p:nvPr/>
        </p:nvSpPr>
        <p:spPr>
          <a:xfrm>
            <a:off x="9787778" y="2927070"/>
            <a:ext cx="518433"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Straight Connector 61"/>
          <p:cNvSpPr/>
          <p:nvPr/>
        </p:nvSpPr>
        <p:spPr>
          <a:xfrm>
            <a:off x="10306212" y="2755315"/>
            <a:ext cx="914" cy="17175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Straight Connector 62"/>
          <p:cNvSpPr/>
          <p:nvPr/>
        </p:nvSpPr>
        <p:spPr>
          <a:xfrm>
            <a:off x="10306212" y="2755315"/>
            <a:ext cx="193667"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Straight Connector 63"/>
          <p:cNvSpPr/>
          <p:nvPr/>
        </p:nvSpPr>
        <p:spPr>
          <a:xfrm>
            <a:off x="10499880" y="2522804"/>
            <a:ext cx="914" cy="232511"/>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Straight Connector 64"/>
          <p:cNvSpPr/>
          <p:nvPr/>
        </p:nvSpPr>
        <p:spPr>
          <a:xfrm>
            <a:off x="10499880" y="2522804"/>
            <a:ext cx="166852"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Straight Connector 65"/>
          <p:cNvSpPr/>
          <p:nvPr/>
        </p:nvSpPr>
        <p:spPr>
          <a:xfrm>
            <a:off x="10666732" y="2423490"/>
            <a:ext cx="914" cy="99313"/>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Straight Connector 66"/>
          <p:cNvSpPr/>
          <p:nvPr/>
        </p:nvSpPr>
        <p:spPr>
          <a:xfrm>
            <a:off x="10666732" y="2423490"/>
            <a:ext cx="229421"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Straight Connector 67"/>
          <p:cNvSpPr/>
          <p:nvPr/>
        </p:nvSpPr>
        <p:spPr>
          <a:xfrm>
            <a:off x="10896154" y="2221357"/>
            <a:ext cx="914" cy="202133"/>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Straight Connector 68"/>
          <p:cNvSpPr/>
          <p:nvPr/>
        </p:nvSpPr>
        <p:spPr>
          <a:xfrm>
            <a:off x="10896154" y="2221357"/>
            <a:ext cx="113221" cy="914"/>
          </a:xfrm>
          <a:prstGeom prst="lineInv">
            <a:avLst/>
          </a:prstGeom>
          <a:ln w="1778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0" name="Straight Connector 69"/>
          <p:cNvSpPr/>
          <p:nvPr/>
        </p:nvSpPr>
        <p:spPr>
          <a:xfrm>
            <a:off x="7886854" y="4920945"/>
            <a:ext cx="435007"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Straight Connector 70"/>
          <p:cNvSpPr/>
          <p:nvPr/>
        </p:nvSpPr>
        <p:spPr>
          <a:xfrm>
            <a:off x="8321861" y="4653965"/>
            <a:ext cx="914" cy="266979"/>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Straight Connector 71"/>
          <p:cNvSpPr/>
          <p:nvPr/>
        </p:nvSpPr>
        <p:spPr>
          <a:xfrm>
            <a:off x="8321861" y="4653965"/>
            <a:ext cx="381376"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Straight Connector 72"/>
          <p:cNvSpPr/>
          <p:nvPr/>
        </p:nvSpPr>
        <p:spPr>
          <a:xfrm>
            <a:off x="8703238" y="4449495"/>
            <a:ext cx="914" cy="204470"/>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Straight Connector 73"/>
          <p:cNvSpPr/>
          <p:nvPr/>
        </p:nvSpPr>
        <p:spPr>
          <a:xfrm>
            <a:off x="8703238" y="4449495"/>
            <a:ext cx="289012"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Straight Connector 74"/>
          <p:cNvSpPr/>
          <p:nvPr/>
        </p:nvSpPr>
        <p:spPr>
          <a:xfrm>
            <a:off x="8992250" y="3991482"/>
            <a:ext cx="914" cy="458012"/>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Straight Connector 75"/>
          <p:cNvSpPr/>
          <p:nvPr/>
        </p:nvSpPr>
        <p:spPr>
          <a:xfrm>
            <a:off x="8992250" y="3991482"/>
            <a:ext cx="539290"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Straight Connector 76"/>
          <p:cNvSpPr/>
          <p:nvPr/>
        </p:nvSpPr>
        <p:spPr>
          <a:xfrm>
            <a:off x="9531541" y="3359962"/>
            <a:ext cx="914" cy="631520"/>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Straight Connector 77"/>
          <p:cNvSpPr/>
          <p:nvPr/>
        </p:nvSpPr>
        <p:spPr>
          <a:xfrm>
            <a:off x="9531541" y="3359962"/>
            <a:ext cx="554188"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Straight Connector 78"/>
          <p:cNvSpPr/>
          <p:nvPr/>
        </p:nvSpPr>
        <p:spPr>
          <a:xfrm>
            <a:off x="10085729" y="3012363"/>
            <a:ext cx="914" cy="347598"/>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Straight Connector 79"/>
          <p:cNvSpPr/>
          <p:nvPr/>
        </p:nvSpPr>
        <p:spPr>
          <a:xfrm>
            <a:off x="10085729" y="3012363"/>
            <a:ext cx="554188"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1" name="Straight Connector 80"/>
          <p:cNvSpPr/>
          <p:nvPr/>
        </p:nvSpPr>
        <p:spPr>
          <a:xfrm>
            <a:off x="10639917" y="2871571"/>
            <a:ext cx="914" cy="140792"/>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2" name="Straight Connector 81"/>
          <p:cNvSpPr/>
          <p:nvPr/>
        </p:nvSpPr>
        <p:spPr>
          <a:xfrm>
            <a:off x="10639917" y="2871571"/>
            <a:ext cx="247298"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Straight Connector 82"/>
          <p:cNvSpPr/>
          <p:nvPr/>
        </p:nvSpPr>
        <p:spPr>
          <a:xfrm>
            <a:off x="10887216" y="2674112"/>
            <a:ext cx="914" cy="197459"/>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Straight Connector 83"/>
          <p:cNvSpPr/>
          <p:nvPr/>
        </p:nvSpPr>
        <p:spPr>
          <a:xfrm>
            <a:off x="10887216" y="2674112"/>
            <a:ext cx="122159" cy="914"/>
          </a:xfrm>
          <a:prstGeom prst="lineInv">
            <a:avLst/>
          </a:prstGeom>
          <a:ln w="1778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TextBox 84"/>
          <p:cNvSpPr txBox="1"/>
          <p:nvPr/>
        </p:nvSpPr>
        <p:spPr>
          <a:xfrm>
            <a:off x="7237116" y="3934256"/>
            <a:ext cx="658368" cy="201168"/>
          </a:xfrm>
          <a:prstGeom prst="rect">
            <a:avLst/>
          </a:prstGeom>
          <a:noFill/>
        </p:spPr>
        <p:txBody>
          <a:bodyPr wrap="square" anchor="ctr">
            <a:spAutoFit/>
          </a:bodyPr>
          <a:lstStyle/>
          <a:p>
            <a:pPr algn="ctr"/>
            <a:r>
              <a:rPr sz="650" b="1">
                <a:solidFill>
                  <a:srgbClr val="23AFAA"/>
                </a:solidFill>
                <a:latin typeface="EB Garamond"/>
              </a:rPr>
              <a:t>GPT-4</a:t>
            </a:r>
          </a:p>
        </p:txBody>
      </p:sp>
      <p:sp>
        <p:nvSpPr>
          <p:cNvPr id="86" name="TextBox 85"/>
          <p:cNvSpPr txBox="1"/>
          <p:nvPr/>
        </p:nvSpPr>
        <p:spPr>
          <a:xfrm>
            <a:off x="8619607" y="3698240"/>
            <a:ext cx="658368" cy="201168"/>
          </a:xfrm>
          <a:prstGeom prst="rect">
            <a:avLst/>
          </a:prstGeom>
          <a:noFill/>
        </p:spPr>
        <p:txBody>
          <a:bodyPr wrap="square" anchor="ctr">
            <a:spAutoFit/>
          </a:bodyPr>
          <a:lstStyle/>
          <a:p>
            <a:pPr algn="ctr"/>
            <a:r>
              <a:rPr sz="650" b="1">
                <a:solidFill>
                  <a:srgbClr val="23AFAA"/>
                </a:solidFill>
                <a:latin typeface="EB Garamond"/>
              </a:rPr>
              <a:t>Claude 3.5</a:t>
            </a:r>
          </a:p>
        </p:txBody>
      </p:sp>
      <p:sp>
        <p:nvSpPr>
          <p:cNvPr id="87" name="TextBox 86"/>
          <p:cNvSpPr txBox="1"/>
          <p:nvPr/>
        </p:nvSpPr>
        <p:spPr>
          <a:xfrm>
            <a:off x="8869885" y="3307994"/>
            <a:ext cx="658368" cy="201168"/>
          </a:xfrm>
          <a:prstGeom prst="rect">
            <a:avLst/>
          </a:prstGeom>
          <a:noFill/>
        </p:spPr>
        <p:txBody>
          <a:bodyPr wrap="square" anchor="ctr">
            <a:spAutoFit/>
          </a:bodyPr>
          <a:lstStyle/>
          <a:p>
            <a:pPr algn="ctr"/>
            <a:r>
              <a:rPr sz="650" b="1">
                <a:solidFill>
                  <a:srgbClr val="23AFAA"/>
                </a:solidFill>
                <a:latin typeface="EB Garamond"/>
              </a:rPr>
              <a:t>o1-mini</a:t>
            </a:r>
          </a:p>
        </p:txBody>
      </p:sp>
      <p:sp>
        <p:nvSpPr>
          <p:cNvPr id="88" name="TextBox 87"/>
          <p:cNvSpPr txBox="1"/>
          <p:nvPr/>
        </p:nvSpPr>
        <p:spPr>
          <a:xfrm>
            <a:off x="9513458" y="2689326"/>
            <a:ext cx="658368" cy="201168"/>
          </a:xfrm>
          <a:prstGeom prst="rect">
            <a:avLst/>
          </a:prstGeom>
          <a:noFill/>
        </p:spPr>
        <p:txBody>
          <a:bodyPr wrap="square" anchor="ctr">
            <a:spAutoFit/>
          </a:bodyPr>
          <a:lstStyle/>
          <a:p>
            <a:pPr algn="ctr"/>
            <a:r>
              <a:rPr sz="650" b="1">
                <a:solidFill>
                  <a:srgbClr val="23AFAA"/>
                </a:solidFill>
                <a:latin typeface="EB Garamond"/>
              </a:rPr>
              <a:t>o3</a:t>
            </a:r>
          </a:p>
        </p:txBody>
      </p:sp>
      <p:sp>
        <p:nvSpPr>
          <p:cNvPr id="89" name="TextBox 88"/>
          <p:cNvSpPr txBox="1"/>
          <p:nvPr/>
        </p:nvSpPr>
        <p:spPr>
          <a:xfrm>
            <a:off x="10621834" y="1983613"/>
            <a:ext cx="658368" cy="201168"/>
          </a:xfrm>
          <a:prstGeom prst="rect">
            <a:avLst/>
          </a:prstGeom>
          <a:noFill/>
        </p:spPr>
        <p:txBody>
          <a:bodyPr wrap="square" anchor="ctr">
            <a:spAutoFit/>
          </a:bodyPr>
          <a:lstStyle/>
          <a:p>
            <a:pPr algn="ctr"/>
            <a:r>
              <a:rPr sz="650" b="1">
                <a:solidFill>
                  <a:srgbClr val="23AFAA"/>
                </a:solidFill>
                <a:latin typeface="EB Garamond"/>
              </a:rPr>
              <a:t>GPT-5.5 Pro</a:t>
            </a:r>
          </a:p>
        </p:txBody>
      </p:sp>
      <p:sp>
        <p:nvSpPr>
          <p:cNvPr id="90" name="TextBox 89"/>
          <p:cNvSpPr txBox="1"/>
          <p:nvPr/>
        </p:nvSpPr>
        <p:spPr>
          <a:xfrm>
            <a:off x="7594246" y="4948377"/>
            <a:ext cx="713232" cy="210312"/>
          </a:xfrm>
          <a:prstGeom prst="rect">
            <a:avLst/>
          </a:prstGeom>
          <a:noFill/>
        </p:spPr>
        <p:txBody>
          <a:bodyPr wrap="square" anchor="ctr">
            <a:spAutoFit/>
          </a:bodyPr>
          <a:lstStyle/>
          <a:p>
            <a:pPr algn="ctr"/>
            <a:r>
              <a:rPr sz="640" b="1">
                <a:solidFill>
                  <a:srgbClr val="D8469A"/>
                </a:solidFill>
                <a:latin typeface="EB Garamond"/>
              </a:rPr>
              <a:t>Llama 2</a:t>
            </a:r>
          </a:p>
        </p:txBody>
      </p:sp>
      <p:sp>
        <p:nvSpPr>
          <p:cNvPr id="91" name="TextBox 90"/>
          <p:cNvSpPr txBox="1"/>
          <p:nvPr/>
        </p:nvSpPr>
        <p:spPr>
          <a:xfrm>
            <a:off x="8029253" y="4681397"/>
            <a:ext cx="713232" cy="210312"/>
          </a:xfrm>
          <a:prstGeom prst="rect">
            <a:avLst/>
          </a:prstGeom>
          <a:noFill/>
        </p:spPr>
        <p:txBody>
          <a:bodyPr wrap="square" anchor="ctr">
            <a:spAutoFit/>
          </a:bodyPr>
          <a:lstStyle/>
          <a:p>
            <a:pPr algn="ctr"/>
            <a:r>
              <a:rPr sz="640" b="1">
                <a:solidFill>
                  <a:srgbClr val="D8469A"/>
                </a:solidFill>
                <a:latin typeface="EB Garamond"/>
              </a:rPr>
              <a:t>Mixtral 8x7B</a:t>
            </a:r>
          </a:p>
        </p:txBody>
      </p:sp>
      <p:sp>
        <p:nvSpPr>
          <p:cNvPr id="92" name="TextBox 91"/>
          <p:cNvSpPr txBox="1"/>
          <p:nvPr/>
        </p:nvSpPr>
        <p:spPr>
          <a:xfrm>
            <a:off x="8699642" y="4018914"/>
            <a:ext cx="713232" cy="210312"/>
          </a:xfrm>
          <a:prstGeom prst="rect">
            <a:avLst/>
          </a:prstGeom>
          <a:noFill/>
        </p:spPr>
        <p:txBody>
          <a:bodyPr wrap="square" anchor="ctr">
            <a:spAutoFit/>
          </a:bodyPr>
          <a:lstStyle/>
          <a:p>
            <a:pPr algn="ctr"/>
            <a:r>
              <a:rPr sz="640" b="1">
                <a:solidFill>
                  <a:srgbClr val="D8469A"/>
                </a:solidFill>
                <a:latin typeface="EB Garamond"/>
              </a:rPr>
              <a:t>Llama 3.1</a:t>
            </a:r>
          </a:p>
        </p:txBody>
      </p:sp>
      <p:sp>
        <p:nvSpPr>
          <p:cNvPr id="93" name="TextBox 92"/>
          <p:cNvSpPr txBox="1"/>
          <p:nvPr/>
        </p:nvSpPr>
        <p:spPr>
          <a:xfrm>
            <a:off x="9238933" y="3387394"/>
            <a:ext cx="713232" cy="210312"/>
          </a:xfrm>
          <a:prstGeom prst="rect">
            <a:avLst/>
          </a:prstGeom>
          <a:noFill/>
        </p:spPr>
        <p:txBody>
          <a:bodyPr wrap="square" anchor="ctr">
            <a:spAutoFit/>
          </a:bodyPr>
          <a:lstStyle/>
          <a:p>
            <a:pPr algn="ctr"/>
            <a:r>
              <a:rPr sz="640" b="1">
                <a:solidFill>
                  <a:srgbClr val="D8469A"/>
                </a:solidFill>
                <a:latin typeface="EB Garamond"/>
              </a:rPr>
              <a:t>DeepSeek-R1</a:t>
            </a:r>
          </a:p>
        </p:txBody>
      </p:sp>
      <p:sp>
        <p:nvSpPr>
          <p:cNvPr id="94" name="TextBox 93"/>
          <p:cNvSpPr txBox="1"/>
          <p:nvPr/>
        </p:nvSpPr>
        <p:spPr>
          <a:xfrm>
            <a:off x="9793121" y="3039795"/>
            <a:ext cx="713232" cy="210312"/>
          </a:xfrm>
          <a:prstGeom prst="rect">
            <a:avLst/>
          </a:prstGeom>
          <a:noFill/>
        </p:spPr>
        <p:txBody>
          <a:bodyPr wrap="square" anchor="ctr">
            <a:spAutoFit/>
          </a:bodyPr>
          <a:lstStyle/>
          <a:p>
            <a:pPr algn="ctr"/>
            <a:r>
              <a:rPr sz="640" b="1">
                <a:solidFill>
                  <a:srgbClr val="D8469A"/>
                </a:solidFill>
                <a:latin typeface="EB Garamond"/>
              </a:rPr>
              <a:t>Qwen3</a:t>
            </a:r>
          </a:p>
        </p:txBody>
      </p:sp>
      <p:sp>
        <p:nvSpPr>
          <p:cNvPr id="95" name="TextBox 94"/>
          <p:cNvSpPr txBox="1"/>
          <p:nvPr/>
        </p:nvSpPr>
        <p:spPr>
          <a:xfrm>
            <a:off x="10594608" y="2701544"/>
            <a:ext cx="713232" cy="210312"/>
          </a:xfrm>
          <a:prstGeom prst="rect">
            <a:avLst/>
          </a:prstGeom>
          <a:noFill/>
        </p:spPr>
        <p:txBody>
          <a:bodyPr wrap="square" anchor="ctr">
            <a:spAutoFit/>
          </a:bodyPr>
          <a:lstStyle/>
          <a:p>
            <a:pPr algn="ctr"/>
            <a:r>
              <a:rPr sz="640" b="1">
                <a:solidFill>
                  <a:srgbClr val="D8469A"/>
                </a:solidFill>
                <a:latin typeface="EB Garamond"/>
              </a:rPr>
              <a:t>Kimi K2.6</a:t>
            </a:r>
          </a:p>
        </p:txBody>
      </p:sp>
      <p:sp>
        <p:nvSpPr>
          <p:cNvPr id="96" name="Straight Connector 95"/>
          <p:cNvSpPr/>
          <p:nvPr/>
        </p:nvSpPr>
        <p:spPr>
          <a:xfrm>
            <a:off x="7909560" y="5568696"/>
            <a:ext cx="292608" cy="914"/>
          </a:xfrm>
          <a:prstGeom prst="lineInv">
            <a:avLst/>
          </a:prstGeom>
          <a:ln w="19050">
            <a:solidFill>
              <a:srgbClr val="23AFA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p:cNvSpPr txBox="1"/>
          <p:nvPr/>
        </p:nvSpPr>
        <p:spPr>
          <a:xfrm>
            <a:off x="8247888" y="5486400"/>
            <a:ext cx="868680" cy="182880"/>
          </a:xfrm>
          <a:prstGeom prst="rect">
            <a:avLst/>
          </a:prstGeom>
          <a:noFill/>
        </p:spPr>
        <p:txBody>
          <a:bodyPr wrap="square" anchor="ctr">
            <a:spAutoFit/>
          </a:bodyPr>
          <a:lstStyle/>
          <a:p>
            <a:pPr algn="l"/>
            <a:r>
              <a:rPr sz="740" b="0">
                <a:solidFill>
                  <a:srgbClr val="1F2A37"/>
                </a:solidFill>
                <a:latin typeface="EB Garamond"/>
              </a:rPr>
              <a:t>Closed-weight</a:t>
            </a:r>
          </a:p>
        </p:txBody>
      </p:sp>
      <p:sp>
        <p:nvSpPr>
          <p:cNvPr id="98" name="Straight Connector 97"/>
          <p:cNvSpPr/>
          <p:nvPr/>
        </p:nvSpPr>
        <p:spPr>
          <a:xfrm>
            <a:off x="9326880" y="5568696"/>
            <a:ext cx="292608" cy="914"/>
          </a:xfrm>
          <a:prstGeom prst="lineInv">
            <a:avLst/>
          </a:prstGeom>
          <a:ln w="19050">
            <a:solidFill>
              <a:srgbClr val="D846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TextBox 98"/>
          <p:cNvSpPr txBox="1"/>
          <p:nvPr/>
        </p:nvSpPr>
        <p:spPr>
          <a:xfrm>
            <a:off x="9665208" y="5486400"/>
            <a:ext cx="868680" cy="182880"/>
          </a:xfrm>
          <a:prstGeom prst="rect">
            <a:avLst/>
          </a:prstGeom>
          <a:noFill/>
        </p:spPr>
        <p:txBody>
          <a:bodyPr wrap="square" anchor="ctr">
            <a:spAutoFit/>
          </a:bodyPr>
          <a:lstStyle/>
          <a:p>
            <a:pPr algn="l"/>
            <a:r>
              <a:rPr sz="740" b="0">
                <a:solidFill>
                  <a:srgbClr val="1F2A37"/>
                </a:solidFill>
                <a:latin typeface="EB Garamond"/>
              </a:rPr>
              <a:t>Open-weight</a:t>
            </a:r>
          </a:p>
        </p:txBody>
      </p:sp>
      <p:sp>
        <p:nvSpPr>
          <p:cNvPr id="100" name="TextBox 99"/>
          <p:cNvSpPr txBox="1"/>
          <p:nvPr/>
        </p:nvSpPr>
        <p:spPr>
          <a:xfrm>
            <a:off x="868680" y="5330952"/>
            <a:ext cx="5632704" cy="612648"/>
          </a:xfrm>
          <a:prstGeom prst="rect">
            <a:avLst/>
          </a:prstGeom>
          <a:noFill/>
        </p:spPr>
        <p:txBody>
          <a:bodyPr wrap="square" lIns="9144" tIns="0" rIns="9144" bIns="0" anchor="ctr">
            <a:spAutoFit/>
          </a:bodyPr>
          <a:lstStyle/>
          <a:p>
            <a:pPr algn="ctr">
              <a:lnSpc>
                <a:spcPct val="100000"/>
              </a:lnSpc>
              <a:spcBef>
                <a:spcPts val="0"/>
              </a:spcBef>
              <a:spcAft>
                <a:spcPts val="0"/>
              </a:spcAft>
            </a:pPr>
            <a:r>
              <a:rPr sz="1880" b="1">
                <a:solidFill>
                  <a:srgbClr val="022169"/>
                </a:solidFill>
                <a:latin typeface="EB Garamond"/>
              </a:rPr>
              <a:t>The premium on frontier superiority must be earned in months, while valuations often assume years.</a:t>
            </a:r>
          </a:p>
        </p:txBody>
      </p:sp>
      <p:sp>
        <p:nvSpPr>
          <p:cNvPr id="101" name="TextBox 100"/>
          <p:cNvSpPr txBox="1"/>
          <p:nvPr/>
        </p:nvSpPr>
        <p:spPr>
          <a:xfrm>
            <a:off x="6894576" y="5715000"/>
            <a:ext cx="4416552" cy="219456"/>
          </a:xfrm>
          <a:prstGeom prst="rect">
            <a:avLst/>
          </a:prstGeom>
          <a:noFill/>
        </p:spPr>
        <p:txBody>
          <a:bodyPr wrap="square" lIns="9144" tIns="0" rIns="9144" bIns="0" anchor="ctr">
            <a:spAutoFit/>
          </a:bodyPr>
          <a:lstStyle/>
          <a:p>
            <a:pPr algn="ctr">
              <a:lnSpc>
                <a:spcPct val="100000"/>
              </a:lnSpc>
              <a:spcBef>
                <a:spcPts val="0"/>
              </a:spcBef>
              <a:spcAft>
                <a:spcPts val="0"/>
              </a:spcAft>
            </a:pPr>
            <a:r>
              <a:rPr sz="940" b="0">
                <a:solidFill>
                  <a:srgbClr val="737B86"/>
                </a:solidFill>
                <a:latin typeface="EB Garamond"/>
              </a:rPr>
              <a:t>Epoch series ends May 2026; later releases not plotted.</a:t>
            </a:r>
          </a:p>
        </p:txBody>
      </p:sp>
      <p:sp>
        <p:nvSpPr>
          <p:cNvPr id="102" name="TextBox 101"/>
          <p:cNvSpPr txBox="1"/>
          <p:nvPr/>
        </p:nvSpPr>
        <p:spPr>
          <a:xfrm>
            <a:off x="877824" y="3666744"/>
            <a:ext cx="5586984" cy="1645920"/>
          </a:xfrm>
          <a:prstGeom prst="rect">
            <a:avLst/>
          </a:prstGeom>
          <a:noFill/>
        </p:spPr>
        <p:txBody>
          <a:bodyPr wrap="square" lIns="0" tIns="0" rIns="0" bIns="0">
            <a:spAutoFit/>
          </a:bodyPr>
          <a:lstStyle/>
          <a:p>
            <a:pPr algn="l">
              <a:lnSpc>
                <a:spcPct val="100000"/>
              </a:lnSpc>
              <a:spcBef>
                <a:spcPts val="0"/>
              </a:spcBef>
              <a:spcAft>
                <a:spcPts val="240"/>
              </a:spcAft>
            </a:pPr>
            <a:r>
              <a:rPr sz="1510" dirty="0">
                <a:solidFill>
                  <a:srgbClr val="2F3437"/>
                </a:solidFill>
                <a:latin typeface="EB Garamond"/>
              </a:rPr>
              <a:t>• July: Kimi K3 reached near-frontier benchmarks with open weights.</a:t>
            </a:r>
          </a:p>
          <a:p>
            <a:pPr algn="l">
              <a:lnSpc>
                <a:spcPct val="100000"/>
              </a:lnSpc>
              <a:spcBef>
                <a:spcPts val="0"/>
              </a:spcBef>
              <a:spcAft>
                <a:spcPts val="240"/>
              </a:spcAft>
            </a:pPr>
            <a:r>
              <a:rPr sz="1510" dirty="0">
                <a:solidFill>
                  <a:srgbClr val="2F3437"/>
                </a:solidFill>
                <a:latin typeface="EB Garamond"/>
              </a:rPr>
              <a:t>• September: four open-weight models ranked immediately behind the four closed leaders.</a:t>
            </a:r>
          </a:p>
          <a:p>
            <a:pPr algn="l">
              <a:lnSpc>
                <a:spcPct val="100000"/>
              </a:lnSpc>
              <a:spcBef>
                <a:spcPts val="0"/>
              </a:spcBef>
              <a:spcAft>
                <a:spcPts val="240"/>
              </a:spcAft>
            </a:pPr>
            <a:r>
              <a:rPr sz="1510" dirty="0">
                <a:solidFill>
                  <a:srgbClr val="2F3437"/>
                </a:solidFill>
                <a:latin typeface="EB Garamond"/>
              </a:rPr>
              <a:t>• October: Kimi K3.1 Pro scored 55 vs. 53 for GPT-6 Astra and Claude Fable 5.1 (Artificial Analysis); weights due Nov. 4.</a:t>
            </a:r>
          </a:p>
          <a:p>
            <a:pPr algn="l">
              <a:lnSpc>
                <a:spcPct val="100000"/>
              </a:lnSpc>
              <a:spcBef>
                <a:spcPts val="0"/>
              </a:spcBef>
              <a:spcAft>
                <a:spcPts val="240"/>
              </a:spcAft>
            </a:pPr>
            <a:r>
              <a:rPr sz="1510" dirty="0">
                <a:solidFill>
                  <a:srgbClr val="2F3437"/>
                </a:solidFill>
                <a:latin typeface="EB Garamond"/>
              </a:rPr>
              <a:t>• Convergence operates on release-cycle timescales, not valuation horizons.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987552"/>
            <a:ext cx="10652760" cy="411480"/>
          </a:xfrm>
          <a:prstGeom prst="rect">
            <a:avLst/>
          </a:prstGeom>
          <a:noFill/>
        </p:spPr>
        <p:txBody>
          <a:bodyPr wrap="square" anchor="ctr">
            <a:spAutoFit/>
          </a:bodyPr>
          <a:lstStyle/>
          <a:p>
            <a:pPr algn="l">
              <a:spcBef>
                <a:spcPts val="0"/>
              </a:spcBef>
              <a:spcAft>
                <a:spcPts val="0"/>
              </a:spcAft>
            </a:pPr>
            <a:r>
              <a:rPr sz="1820" b="0" i="0">
                <a:solidFill>
                  <a:srgbClr val="2F3437"/>
                </a:solidFill>
                <a:latin typeface="EB Garamond"/>
              </a:rPr>
              <a:t>Anthropic internal estimates put annual model-training costs near $30B by 2028, before inference expenses.</a:t>
            </a:r>
          </a:p>
        </p:txBody>
      </p:sp>
      <p:sp>
        <p:nvSpPr>
          <p:cNvPr id="3" name="Rounded Rectangle 2"/>
          <p:cNvSpPr/>
          <p:nvPr/>
        </p:nvSpPr>
        <p:spPr>
          <a:xfrm>
            <a:off x="850392" y="1572768"/>
            <a:ext cx="7973568" cy="3575304"/>
          </a:xfrm>
          <a:prstGeom prst="roundRect">
            <a:avLst/>
          </a:prstGeom>
          <a:solidFill>
            <a:srgbClr val="F8FBFD"/>
          </a:solidFill>
          <a:ln w="9525">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1133856" y="1773936"/>
            <a:ext cx="7278624" cy="292608"/>
          </a:xfrm>
          <a:prstGeom prst="rect">
            <a:avLst/>
          </a:prstGeom>
          <a:noFill/>
        </p:spPr>
        <p:txBody>
          <a:bodyPr wrap="square" anchor="ctr">
            <a:spAutoFit/>
          </a:bodyPr>
          <a:lstStyle/>
          <a:p>
            <a:pPr algn="l">
              <a:spcBef>
                <a:spcPts val="0"/>
              </a:spcBef>
              <a:spcAft>
                <a:spcPts val="0"/>
              </a:spcAft>
            </a:pPr>
            <a:r>
              <a:rPr sz="1580" b="1" i="0">
                <a:solidFill>
                  <a:srgbClr val="022169"/>
                </a:solidFill>
                <a:latin typeface="EB Garamond"/>
              </a:rPr>
              <a:t>ANTHROPIC ANNUAL MODEL-TRAINING EXPENDITURE</a:t>
            </a:r>
          </a:p>
        </p:txBody>
      </p:sp>
      <p:sp>
        <p:nvSpPr>
          <p:cNvPr id="5" name="TextBox 4"/>
          <p:cNvSpPr txBox="1"/>
          <p:nvPr/>
        </p:nvSpPr>
        <p:spPr>
          <a:xfrm>
            <a:off x="1133856" y="2084831"/>
            <a:ext cx="7278624" cy="201168"/>
          </a:xfrm>
          <a:prstGeom prst="rect">
            <a:avLst/>
          </a:prstGeom>
          <a:noFill/>
        </p:spPr>
        <p:txBody>
          <a:bodyPr wrap="square" anchor="ctr">
            <a:spAutoFit/>
          </a:bodyPr>
          <a:lstStyle/>
          <a:p>
            <a:pPr algn="l">
              <a:spcBef>
                <a:spcPts val="0"/>
              </a:spcBef>
              <a:spcAft>
                <a:spcPts val="0"/>
              </a:spcAft>
            </a:pPr>
            <a:r>
              <a:rPr sz="1150" b="0" i="0">
                <a:solidFill>
                  <a:srgbClr val="5F6973"/>
                </a:solidFill>
                <a:latin typeface="EB Garamond"/>
              </a:rPr>
              <a:t>USD billions  |  Anthropic internal estimates / projections</a:t>
            </a:r>
          </a:p>
        </p:txBody>
      </p:sp>
      <p:cxnSp>
        <p:nvCxnSpPr>
          <p:cNvPr id="6" name="Connector 5"/>
          <p:cNvCxnSpPr/>
          <p:nvPr/>
        </p:nvCxnSpPr>
        <p:spPr>
          <a:xfrm>
            <a:off x="1572768" y="4663440"/>
            <a:ext cx="6821424" cy="0"/>
          </a:xfrm>
          <a:prstGeom prst="line">
            <a:avLst/>
          </a:prstGeom>
          <a:ln w="12700">
            <a:solidFill>
              <a:srgbClr val="D8E2E8"/>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1572768" y="3971925"/>
            <a:ext cx="6821424" cy="0"/>
          </a:xfrm>
          <a:prstGeom prst="line">
            <a:avLst/>
          </a:prstGeom>
          <a:ln w="6985">
            <a:solidFill>
              <a:srgbClr val="D8E2E8"/>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115568" y="3862197"/>
            <a:ext cx="320040" cy="201168"/>
          </a:xfrm>
          <a:prstGeom prst="rect">
            <a:avLst/>
          </a:prstGeom>
          <a:noFill/>
        </p:spPr>
        <p:txBody>
          <a:bodyPr wrap="square" anchor="ctr">
            <a:spAutoFit/>
          </a:bodyPr>
          <a:lstStyle/>
          <a:p>
            <a:pPr algn="r">
              <a:spcBef>
                <a:spcPts val="0"/>
              </a:spcBef>
              <a:spcAft>
                <a:spcPts val="0"/>
              </a:spcAft>
            </a:pPr>
            <a:r>
              <a:rPr sz="1000" b="0" i="0">
                <a:solidFill>
                  <a:srgbClr val="5F6973"/>
                </a:solidFill>
                <a:latin typeface="EB Garamond"/>
              </a:rPr>
              <a:t>10</a:t>
            </a:r>
          </a:p>
        </p:txBody>
      </p:sp>
      <p:cxnSp>
        <p:nvCxnSpPr>
          <p:cNvPr id="9" name="Connector 8"/>
          <p:cNvCxnSpPr/>
          <p:nvPr/>
        </p:nvCxnSpPr>
        <p:spPr>
          <a:xfrm>
            <a:off x="1572768" y="3280410"/>
            <a:ext cx="6821424" cy="0"/>
          </a:xfrm>
          <a:prstGeom prst="line">
            <a:avLst/>
          </a:prstGeom>
          <a:ln w="6985">
            <a:solidFill>
              <a:srgbClr val="D8E2E8"/>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1115568" y="3170682"/>
            <a:ext cx="320040" cy="201168"/>
          </a:xfrm>
          <a:prstGeom prst="rect">
            <a:avLst/>
          </a:prstGeom>
          <a:noFill/>
        </p:spPr>
        <p:txBody>
          <a:bodyPr wrap="square" anchor="ctr">
            <a:spAutoFit/>
          </a:bodyPr>
          <a:lstStyle/>
          <a:p>
            <a:pPr algn="r">
              <a:spcBef>
                <a:spcPts val="0"/>
              </a:spcBef>
              <a:spcAft>
                <a:spcPts val="0"/>
              </a:spcAft>
            </a:pPr>
            <a:r>
              <a:rPr sz="1000" b="0" i="0">
                <a:solidFill>
                  <a:srgbClr val="5F6973"/>
                </a:solidFill>
                <a:latin typeface="EB Garamond"/>
              </a:rPr>
              <a:t>20</a:t>
            </a:r>
          </a:p>
        </p:txBody>
      </p:sp>
      <p:cxnSp>
        <p:nvCxnSpPr>
          <p:cNvPr id="11" name="Connector 10"/>
          <p:cNvCxnSpPr/>
          <p:nvPr/>
        </p:nvCxnSpPr>
        <p:spPr>
          <a:xfrm>
            <a:off x="1572768" y="2588895"/>
            <a:ext cx="6821424" cy="0"/>
          </a:xfrm>
          <a:prstGeom prst="line">
            <a:avLst/>
          </a:prstGeom>
          <a:ln w="6985">
            <a:solidFill>
              <a:srgbClr val="D8E2E8"/>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1115568" y="2479167"/>
            <a:ext cx="320040" cy="201168"/>
          </a:xfrm>
          <a:prstGeom prst="rect">
            <a:avLst/>
          </a:prstGeom>
          <a:noFill/>
        </p:spPr>
        <p:txBody>
          <a:bodyPr wrap="square" anchor="ctr">
            <a:spAutoFit/>
          </a:bodyPr>
          <a:lstStyle/>
          <a:p>
            <a:pPr algn="r">
              <a:spcBef>
                <a:spcPts val="0"/>
              </a:spcBef>
              <a:spcAft>
                <a:spcPts val="0"/>
              </a:spcAft>
            </a:pPr>
            <a:r>
              <a:rPr sz="1000" b="0" i="0">
                <a:solidFill>
                  <a:srgbClr val="5F6973"/>
                </a:solidFill>
                <a:latin typeface="EB Garamond"/>
              </a:rPr>
              <a:t>30</a:t>
            </a:r>
          </a:p>
        </p:txBody>
      </p:sp>
      <p:sp>
        <p:nvSpPr>
          <p:cNvPr id="13" name="Rectangle 12"/>
          <p:cNvSpPr/>
          <p:nvPr/>
        </p:nvSpPr>
        <p:spPr>
          <a:xfrm>
            <a:off x="1801368" y="4379918"/>
            <a:ext cx="969264" cy="283521"/>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27632" y="4050734"/>
            <a:ext cx="1316736" cy="265176"/>
          </a:xfrm>
          <a:prstGeom prst="rect">
            <a:avLst/>
          </a:prstGeom>
          <a:noFill/>
        </p:spPr>
        <p:txBody>
          <a:bodyPr wrap="square" anchor="ctr">
            <a:spAutoFit/>
          </a:bodyPr>
          <a:lstStyle/>
          <a:p>
            <a:pPr algn="ctr">
              <a:spcBef>
                <a:spcPts val="0"/>
              </a:spcBef>
              <a:spcAft>
                <a:spcPts val="0"/>
              </a:spcAft>
            </a:pPr>
            <a:r>
              <a:rPr sz="1600" b="1" i="0">
                <a:solidFill>
                  <a:srgbClr val="0072CE"/>
                </a:solidFill>
                <a:latin typeface="EB Garamond"/>
              </a:rPr>
              <a:t>$4.1B</a:t>
            </a:r>
          </a:p>
        </p:txBody>
      </p:sp>
      <p:sp>
        <p:nvSpPr>
          <p:cNvPr id="15" name="TextBox 14"/>
          <p:cNvSpPr txBox="1"/>
          <p:nvPr/>
        </p:nvSpPr>
        <p:spPr>
          <a:xfrm>
            <a:off x="1783080" y="4690872"/>
            <a:ext cx="1005840" cy="274320"/>
          </a:xfrm>
          <a:prstGeom prst="rect">
            <a:avLst/>
          </a:prstGeom>
          <a:noFill/>
        </p:spPr>
        <p:txBody>
          <a:bodyPr wrap="square" anchor="ctr">
            <a:spAutoFit/>
          </a:bodyPr>
          <a:lstStyle/>
          <a:p>
            <a:pPr algn="ctr">
              <a:spcBef>
                <a:spcPts val="0"/>
              </a:spcBef>
              <a:spcAft>
                <a:spcPts val="0"/>
              </a:spcAft>
            </a:pPr>
            <a:r>
              <a:rPr sz="1330" b="1" i="0">
                <a:solidFill>
                  <a:srgbClr val="022169"/>
                </a:solidFill>
                <a:latin typeface="EB Garamond"/>
              </a:rPr>
              <a:t>2025</a:t>
            </a:r>
          </a:p>
        </p:txBody>
      </p:sp>
      <p:sp>
        <p:nvSpPr>
          <p:cNvPr id="16" name="Rectangle 15"/>
          <p:cNvSpPr/>
          <p:nvPr/>
        </p:nvSpPr>
        <p:spPr>
          <a:xfrm>
            <a:off x="3538728" y="3833622"/>
            <a:ext cx="969264" cy="829817"/>
          </a:xfrm>
          <a:prstGeom prst="rect">
            <a:avLst/>
          </a:prstGeom>
          <a:solidFill>
            <a:srgbClr val="A6C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364992" y="3504438"/>
            <a:ext cx="1316736" cy="265176"/>
          </a:xfrm>
          <a:prstGeom prst="rect">
            <a:avLst/>
          </a:prstGeom>
          <a:noFill/>
        </p:spPr>
        <p:txBody>
          <a:bodyPr wrap="square" anchor="ctr">
            <a:spAutoFit/>
          </a:bodyPr>
          <a:lstStyle/>
          <a:p>
            <a:pPr algn="ctr">
              <a:spcBef>
                <a:spcPts val="0"/>
              </a:spcBef>
              <a:spcAft>
                <a:spcPts val="0"/>
              </a:spcAft>
            </a:pPr>
            <a:r>
              <a:rPr sz="1600" b="1" i="0">
                <a:solidFill>
                  <a:srgbClr val="022169"/>
                </a:solidFill>
                <a:latin typeface="EB Garamond"/>
              </a:rPr>
              <a:t>&gt;$12B</a:t>
            </a:r>
          </a:p>
        </p:txBody>
      </p:sp>
      <p:sp>
        <p:nvSpPr>
          <p:cNvPr id="18" name="TextBox 17"/>
          <p:cNvSpPr txBox="1"/>
          <p:nvPr/>
        </p:nvSpPr>
        <p:spPr>
          <a:xfrm>
            <a:off x="3520440" y="4690872"/>
            <a:ext cx="1005840" cy="274320"/>
          </a:xfrm>
          <a:prstGeom prst="rect">
            <a:avLst/>
          </a:prstGeom>
          <a:noFill/>
        </p:spPr>
        <p:txBody>
          <a:bodyPr wrap="square" anchor="ctr">
            <a:spAutoFit/>
          </a:bodyPr>
          <a:lstStyle/>
          <a:p>
            <a:pPr algn="ctr">
              <a:spcBef>
                <a:spcPts val="0"/>
              </a:spcBef>
              <a:spcAft>
                <a:spcPts val="0"/>
              </a:spcAft>
            </a:pPr>
            <a:r>
              <a:rPr sz="1330" b="1" i="0">
                <a:solidFill>
                  <a:srgbClr val="022169"/>
                </a:solidFill>
                <a:latin typeface="EB Garamond"/>
              </a:rPr>
              <a:t>2026</a:t>
            </a:r>
          </a:p>
        </p:txBody>
      </p:sp>
      <p:sp>
        <p:nvSpPr>
          <p:cNvPr id="19" name="Rectangle 18"/>
          <p:cNvSpPr/>
          <p:nvPr/>
        </p:nvSpPr>
        <p:spPr>
          <a:xfrm>
            <a:off x="5276088" y="3072955"/>
            <a:ext cx="969264" cy="1590484"/>
          </a:xfrm>
          <a:prstGeom prst="rect">
            <a:avLst/>
          </a:prstGeom>
          <a:solidFill>
            <a:srgbClr val="A6C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102352" y="2743771"/>
            <a:ext cx="1316736" cy="265176"/>
          </a:xfrm>
          <a:prstGeom prst="rect">
            <a:avLst/>
          </a:prstGeom>
          <a:noFill/>
        </p:spPr>
        <p:txBody>
          <a:bodyPr wrap="square" anchor="ctr">
            <a:spAutoFit/>
          </a:bodyPr>
          <a:lstStyle/>
          <a:p>
            <a:pPr algn="ctr">
              <a:spcBef>
                <a:spcPts val="0"/>
              </a:spcBef>
              <a:spcAft>
                <a:spcPts val="0"/>
              </a:spcAft>
            </a:pPr>
            <a:r>
              <a:rPr sz="1600" b="1" i="0">
                <a:solidFill>
                  <a:srgbClr val="022169"/>
                </a:solidFill>
                <a:latin typeface="EB Garamond"/>
              </a:rPr>
              <a:t>~$23B</a:t>
            </a:r>
          </a:p>
        </p:txBody>
      </p:sp>
      <p:sp>
        <p:nvSpPr>
          <p:cNvPr id="21" name="TextBox 20"/>
          <p:cNvSpPr txBox="1"/>
          <p:nvPr/>
        </p:nvSpPr>
        <p:spPr>
          <a:xfrm>
            <a:off x="5257800" y="4690872"/>
            <a:ext cx="1005840" cy="274320"/>
          </a:xfrm>
          <a:prstGeom prst="rect">
            <a:avLst/>
          </a:prstGeom>
          <a:noFill/>
        </p:spPr>
        <p:txBody>
          <a:bodyPr wrap="square" anchor="ctr">
            <a:spAutoFit/>
          </a:bodyPr>
          <a:lstStyle/>
          <a:p>
            <a:pPr algn="ctr">
              <a:spcBef>
                <a:spcPts val="0"/>
              </a:spcBef>
              <a:spcAft>
                <a:spcPts val="0"/>
              </a:spcAft>
            </a:pPr>
            <a:r>
              <a:rPr sz="1330" b="1" i="0">
                <a:solidFill>
                  <a:srgbClr val="022169"/>
                </a:solidFill>
                <a:latin typeface="EB Garamond"/>
              </a:rPr>
              <a:t>2027</a:t>
            </a:r>
          </a:p>
        </p:txBody>
      </p:sp>
      <p:sp>
        <p:nvSpPr>
          <p:cNvPr id="22" name="Rectangle 21"/>
          <p:cNvSpPr/>
          <p:nvPr/>
        </p:nvSpPr>
        <p:spPr>
          <a:xfrm>
            <a:off x="7013447" y="2588895"/>
            <a:ext cx="969264" cy="2074544"/>
          </a:xfrm>
          <a:prstGeom prst="rect">
            <a:avLst/>
          </a:prstGeom>
          <a:solidFill>
            <a:srgbClr val="A6C8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839712" y="2259711"/>
            <a:ext cx="1316736" cy="265176"/>
          </a:xfrm>
          <a:prstGeom prst="rect">
            <a:avLst/>
          </a:prstGeom>
          <a:noFill/>
        </p:spPr>
        <p:txBody>
          <a:bodyPr wrap="square" anchor="ctr">
            <a:spAutoFit/>
          </a:bodyPr>
          <a:lstStyle/>
          <a:p>
            <a:pPr algn="ctr">
              <a:spcBef>
                <a:spcPts val="0"/>
              </a:spcBef>
              <a:spcAft>
                <a:spcPts val="0"/>
              </a:spcAft>
            </a:pPr>
            <a:r>
              <a:rPr sz="1600" b="1" i="0">
                <a:solidFill>
                  <a:srgbClr val="022169"/>
                </a:solidFill>
                <a:latin typeface="EB Garamond"/>
              </a:rPr>
              <a:t>~$30B</a:t>
            </a:r>
          </a:p>
        </p:txBody>
      </p:sp>
      <p:sp>
        <p:nvSpPr>
          <p:cNvPr id="24" name="TextBox 23"/>
          <p:cNvSpPr txBox="1"/>
          <p:nvPr/>
        </p:nvSpPr>
        <p:spPr>
          <a:xfrm>
            <a:off x="6995159" y="4690872"/>
            <a:ext cx="1005840" cy="274320"/>
          </a:xfrm>
          <a:prstGeom prst="rect">
            <a:avLst/>
          </a:prstGeom>
          <a:noFill/>
        </p:spPr>
        <p:txBody>
          <a:bodyPr wrap="square" anchor="ctr">
            <a:spAutoFit/>
          </a:bodyPr>
          <a:lstStyle/>
          <a:p>
            <a:pPr algn="ctr">
              <a:spcBef>
                <a:spcPts val="0"/>
              </a:spcBef>
              <a:spcAft>
                <a:spcPts val="0"/>
              </a:spcAft>
            </a:pPr>
            <a:r>
              <a:rPr sz="1330" b="1" i="0">
                <a:solidFill>
                  <a:srgbClr val="022169"/>
                </a:solidFill>
                <a:latin typeface="EB Garamond"/>
              </a:rPr>
              <a:t>2028</a:t>
            </a:r>
          </a:p>
        </p:txBody>
      </p:sp>
      <p:sp>
        <p:nvSpPr>
          <p:cNvPr id="25" name="TextBox 24"/>
          <p:cNvSpPr txBox="1"/>
          <p:nvPr/>
        </p:nvSpPr>
        <p:spPr>
          <a:xfrm>
            <a:off x="2057400" y="4965192"/>
            <a:ext cx="4983480" cy="182880"/>
          </a:xfrm>
          <a:prstGeom prst="rect">
            <a:avLst/>
          </a:prstGeom>
          <a:noFill/>
        </p:spPr>
        <p:txBody>
          <a:bodyPr wrap="square" anchor="ctr">
            <a:spAutoFit/>
          </a:bodyPr>
          <a:lstStyle/>
          <a:p>
            <a:pPr algn="ctr">
              <a:spcBef>
                <a:spcPts val="0"/>
              </a:spcBef>
              <a:spcAft>
                <a:spcPts val="0"/>
              </a:spcAft>
            </a:pPr>
            <a:r>
              <a:rPr sz="1080" b="0" i="0">
                <a:solidFill>
                  <a:srgbClr val="5F6973"/>
                </a:solidFill>
                <a:latin typeface="EB Garamond"/>
              </a:rPr>
              <a:t>Company estimates / projections</a:t>
            </a:r>
          </a:p>
        </p:txBody>
      </p:sp>
      <p:sp>
        <p:nvSpPr>
          <p:cNvPr id="26" name="Rounded Rectangle 25"/>
          <p:cNvSpPr/>
          <p:nvPr/>
        </p:nvSpPr>
        <p:spPr>
          <a:xfrm>
            <a:off x="9025128" y="1572768"/>
            <a:ext cx="2240280" cy="1682496"/>
          </a:xfrm>
          <a:prstGeom prst="roundRect">
            <a:avLst/>
          </a:prstGeom>
          <a:solidFill>
            <a:srgbClr val="EEF7FC"/>
          </a:solidFill>
          <a:ln w="9525">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162288" y="1792224"/>
            <a:ext cx="1956816" cy="484632"/>
          </a:xfrm>
          <a:prstGeom prst="rect">
            <a:avLst/>
          </a:prstGeom>
          <a:noFill/>
        </p:spPr>
        <p:txBody>
          <a:bodyPr wrap="square" anchor="ctr">
            <a:spAutoFit/>
          </a:bodyPr>
          <a:lstStyle/>
          <a:p>
            <a:pPr algn="ctr">
              <a:spcBef>
                <a:spcPts val="0"/>
              </a:spcBef>
              <a:spcAft>
                <a:spcPts val="0"/>
              </a:spcAft>
            </a:pPr>
            <a:r>
              <a:rPr sz="2700" b="1">
                <a:solidFill>
                  <a:srgbClr val="0072CE"/>
                </a:solidFill>
                <a:latin typeface="EB Garamond"/>
              </a:rPr>
              <a:t>≈4 months</a:t>
            </a:r>
          </a:p>
        </p:txBody>
      </p:sp>
      <p:sp>
        <p:nvSpPr>
          <p:cNvPr id="28" name="TextBox 27"/>
          <p:cNvSpPr txBox="1"/>
          <p:nvPr/>
        </p:nvSpPr>
        <p:spPr>
          <a:xfrm>
            <a:off x="9235440" y="2322576"/>
            <a:ext cx="1810512" cy="704088"/>
          </a:xfrm>
          <a:prstGeom prst="rect">
            <a:avLst/>
          </a:prstGeom>
          <a:noFill/>
        </p:spPr>
        <p:txBody>
          <a:bodyPr wrap="square" anchor="ctr">
            <a:spAutoFit/>
          </a:bodyPr>
          <a:lstStyle/>
          <a:p>
            <a:pPr algn="ctr">
              <a:spcBef>
                <a:spcPts val="0"/>
              </a:spcBef>
              <a:spcAft>
                <a:spcPts val="0"/>
              </a:spcAft>
            </a:pPr>
            <a:r>
              <a:rPr sz="1280" b="0">
                <a:solidFill>
                  <a:srgbClr val="2F3437"/>
                </a:solidFill>
                <a:latin typeface="EB Garamond"/>
              </a:rPr>
              <a:t>Open-weight lag behind</a:t>
            </a:r>
            <a:br/>
            <a:r>
              <a:rPr sz="1280" b="0">
                <a:solidFill>
                  <a:srgbClr val="2F3437"/>
                </a:solidFill>
                <a:latin typeface="EB Garamond"/>
              </a:rPr>
              <a:t>the closed frontier in</a:t>
            </a:r>
            <a:br/>
            <a:r>
              <a:rPr sz="1280" b="0">
                <a:solidFill>
                  <a:srgbClr val="2F3437"/>
                </a:solidFill>
                <a:latin typeface="EB Garamond"/>
              </a:rPr>
              <a:t>early 2026 (Epoch)</a:t>
            </a:r>
          </a:p>
        </p:txBody>
      </p:sp>
      <p:sp>
        <p:nvSpPr>
          <p:cNvPr id="29" name="Rounded Rectangle 28"/>
          <p:cNvSpPr/>
          <p:nvPr/>
        </p:nvSpPr>
        <p:spPr>
          <a:xfrm>
            <a:off x="9025128" y="3438144"/>
            <a:ext cx="2240280" cy="1709928"/>
          </a:xfrm>
          <a:prstGeom prst="roundRect">
            <a:avLst/>
          </a:prstGeom>
          <a:solidFill>
            <a:srgbClr val="EEF7FC"/>
          </a:solidFill>
          <a:ln w="9525">
            <a:solidFill>
              <a:srgbClr val="D8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208008" y="3611880"/>
            <a:ext cx="1874519" cy="402336"/>
          </a:xfrm>
          <a:prstGeom prst="rect">
            <a:avLst/>
          </a:prstGeom>
          <a:noFill/>
        </p:spPr>
        <p:txBody>
          <a:bodyPr wrap="square" anchor="ctr">
            <a:spAutoFit/>
          </a:bodyPr>
          <a:lstStyle/>
          <a:p>
            <a:pPr algn="ctr">
              <a:spcBef>
                <a:spcPts val="0"/>
              </a:spcBef>
              <a:spcAft>
                <a:spcPts val="0"/>
              </a:spcAft>
            </a:pPr>
            <a:r>
              <a:rPr sz="1750" b="1" i="0">
                <a:solidFill>
                  <a:srgbClr val="022169"/>
                </a:solidFill>
                <a:latin typeface="EB Garamond"/>
              </a:rPr>
              <a:t>On top of training</a:t>
            </a:r>
          </a:p>
        </p:txBody>
      </p:sp>
      <p:sp>
        <p:nvSpPr>
          <p:cNvPr id="31" name="TextBox 30"/>
          <p:cNvSpPr txBox="1"/>
          <p:nvPr/>
        </p:nvSpPr>
        <p:spPr>
          <a:xfrm>
            <a:off x="9217152" y="4023360"/>
            <a:ext cx="1856231" cy="877824"/>
          </a:xfrm>
          <a:prstGeom prst="rect">
            <a:avLst/>
          </a:prstGeom>
          <a:noFill/>
        </p:spPr>
        <p:txBody>
          <a:bodyPr wrap="square" anchor="ctr">
            <a:spAutoFit/>
          </a:bodyPr>
          <a:lstStyle/>
          <a:p>
            <a:pPr algn="ctr">
              <a:spcBef>
                <a:spcPts val="0"/>
              </a:spcBef>
              <a:spcAft>
                <a:spcPts val="0"/>
              </a:spcAft>
            </a:pPr>
            <a:r>
              <a:rPr sz="1390" b="0" i="0">
                <a:solidFill>
                  <a:srgbClr val="2F3437"/>
                </a:solidFill>
                <a:latin typeface="EB Garamond"/>
              </a:rPr>
              <a:t>Inference, personnel and</a:t>
            </a:r>
          </a:p>
          <a:p>
            <a:pPr algn="ctr">
              <a:spcBef>
                <a:spcPts val="0"/>
              </a:spcBef>
              <a:spcAft>
                <a:spcPts val="0"/>
              </a:spcAft>
            </a:pPr>
            <a:r>
              <a:rPr sz="1390" b="0" i="0">
                <a:solidFill>
                  <a:srgbClr val="2F3437"/>
                </a:solidFill>
                <a:latin typeface="EB Garamond"/>
              </a:rPr>
              <a:t>other expenses are</a:t>
            </a:r>
          </a:p>
          <a:p>
            <a:pPr algn="ctr">
              <a:spcBef>
                <a:spcPts val="0"/>
              </a:spcBef>
              <a:spcAft>
                <a:spcPts val="0"/>
              </a:spcAft>
            </a:pPr>
            <a:r>
              <a:rPr sz="1390" b="0" i="0">
                <a:solidFill>
                  <a:srgbClr val="2F3437"/>
                </a:solidFill>
                <a:latin typeface="EB Garamond"/>
              </a:rPr>
              <a:t>additional; this chart is</a:t>
            </a:r>
          </a:p>
          <a:p>
            <a:pPr algn="ctr">
              <a:spcBef>
                <a:spcPts val="0"/>
              </a:spcBef>
              <a:spcAft>
                <a:spcPts val="0"/>
              </a:spcAft>
            </a:pPr>
            <a:r>
              <a:rPr sz="1390" b="0" i="0">
                <a:solidFill>
                  <a:srgbClr val="2F3437"/>
                </a:solidFill>
                <a:latin typeface="EB Garamond"/>
              </a:rPr>
              <a:t>training only.</a:t>
            </a:r>
          </a:p>
        </p:txBody>
      </p:sp>
      <p:sp>
        <p:nvSpPr>
          <p:cNvPr id="32" name="Rounded Rectangle 31"/>
          <p:cNvSpPr/>
          <p:nvPr/>
        </p:nvSpPr>
        <p:spPr>
          <a:xfrm>
            <a:off x="1005840" y="5413248"/>
            <a:ext cx="10232136" cy="566928"/>
          </a:xfrm>
          <a:prstGeom prst="roundRect">
            <a:avLst/>
          </a:prstGeom>
          <a:solidFill>
            <a:srgbClr val="EEF7FC"/>
          </a:solidFill>
          <a:ln w="9525">
            <a:solidFill>
              <a:srgbClr val="B6D8E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234440" y="5458968"/>
            <a:ext cx="9811512" cy="466344"/>
          </a:xfrm>
          <a:prstGeom prst="rect">
            <a:avLst/>
          </a:prstGeom>
          <a:noFill/>
        </p:spPr>
        <p:txBody>
          <a:bodyPr wrap="square" anchor="ctr">
            <a:spAutoFit/>
          </a:bodyPr>
          <a:lstStyle/>
          <a:p>
            <a:pPr algn="ctr">
              <a:spcBef>
                <a:spcPts val="0"/>
              </a:spcBef>
              <a:spcAft>
                <a:spcPts val="0"/>
              </a:spcAft>
            </a:pPr>
            <a:r>
              <a:rPr sz="1850" b="1" i="0">
                <a:solidFill>
                  <a:srgbClr val="022169"/>
                </a:solidFill>
                <a:latin typeface="EB Garamond"/>
              </a:rPr>
              <a:t>Recurring training bills require durable rents, while frontier capability gaps can narrow on release-cycle timescales.</a:t>
            </a:r>
          </a:p>
        </p:txBody>
      </p:sp>
      <p:sp>
        <p:nvSpPr>
          <p:cNvPr id="34" name="TextBox 33"/>
          <p:cNvSpPr txBox="1"/>
          <p:nvPr/>
        </p:nvSpPr>
        <p:spPr>
          <a:xfrm>
            <a:off x="438912" y="6208776"/>
            <a:ext cx="10835640" cy="347472"/>
          </a:xfrm>
          <a:prstGeom prst="rect">
            <a:avLst/>
          </a:prstGeom>
          <a:noFill/>
        </p:spPr>
        <p:txBody>
          <a:bodyPr wrap="square" anchor="ctr">
            <a:spAutoFit/>
          </a:bodyPr>
          <a:lstStyle/>
          <a:p>
            <a:pPr algn="l">
              <a:spcBef>
                <a:spcPts val="0"/>
              </a:spcBef>
              <a:spcAft>
                <a:spcPts val="0"/>
              </a:spcAft>
            </a:pPr>
            <a:r>
              <a:rPr sz="819" b="0" i="0">
                <a:solidFill>
                  <a:srgbClr val="5F6973"/>
                </a:solidFill>
                <a:latin typeface="EB Garamond"/>
              </a:rPr>
              <a:t>Source: The Information (Dec. 2025; Jan. 27, 2026), reporting Anthropic internal estimates / forecasts; Epoch AI (Feb. 2026) for the open-weight lag comparison. 2025 is a near-year-end company estimate; 2026–2028 are internal company projections. Figures are approximate and exclude inference.</a:t>
            </a:r>
          </a:p>
        </p:txBody>
      </p:sp>
      <p:sp>
        <p:nvSpPr>
          <p:cNvPr id="35" name="TextBox 34"/>
          <p:cNvSpPr txBox="1"/>
          <p:nvPr/>
        </p:nvSpPr>
        <p:spPr>
          <a:xfrm>
            <a:off x="11384280" y="6492240"/>
            <a:ext cx="411480" cy="164592"/>
          </a:xfrm>
          <a:prstGeom prst="rect">
            <a:avLst/>
          </a:prstGeom>
          <a:noFill/>
        </p:spPr>
        <p:txBody>
          <a:bodyPr wrap="square" anchor="ctr">
            <a:spAutoFit/>
          </a:bodyPr>
          <a:lstStyle/>
          <a:p>
            <a:pPr algn="l">
              <a:spcBef>
                <a:spcPts val="0"/>
              </a:spcBef>
              <a:spcAft>
                <a:spcPts val="0"/>
              </a:spcAft>
            </a:pPr>
            <a:r>
              <a:rPr sz="900" b="0" i="0">
                <a:solidFill>
                  <a:srgbClr val="5F6973"/>
                </a:solidFill>
                <a:latin typeface="Aptos"/>
              </a:rPr>
              <a:t>20</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The model layer is being commoditized from both sides</a:t>
            </a:r>
            <a:endParaRPr lang="en-US" sz="2600" dirty="0"/>
          </a:p>
        </p:txBody>
      </p:sp>
      <p:sp>
        <p:nvSpPr>
          <p:cNvPr id="3" name="Text 1"/>
          <p:cNvSpPr/>
          <p:nvPr/>
        </p:nvSpPr>
        <p:spPr>
          <a:xfrm>
            <a:off x="822960" y="1298448"/>
            <a:ext cx="5623560" cy="3977640"/>
          </a:xfrm>
          <a:prstGeom prst="rect">
            <a:avLst/>
          </a:prstGeom>
          <a:noFill/>
          <a:ln/>
        </p:spPr>
        <p:txBody>
          <a:bodyPr wrap="square" lIns="381" tIns="381" rIns="381" bIns="381" rtlCol="0" anchor="t">
            <a:normAutofit/>
          </a:bodyPr>
          <a:lstStyle/>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Open and distilled models reduce the premium attached to proprietary frontier access.</a:t>
            </a:r>
            <a:endParaRPr lang="en-US" sz="1800" dirty="0"/>
          </a:p>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Chinese models increasingly approach frontier capability at dramatically lower API prices.</a:t>
            </a:r>
            <a:endParaRPr lang="en-US" sz="1800" dirty="0"/>
          </a:p>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Meta can rationally commoditize the model layer because it monetizes through advertising, distribution, devices, and engagement rather than model API margins.</a:t>
            </a:r>
            <a:endParaRPr lang="en-US" sz="1800" dirty="0"/>
          </a:p>
          <a:p>
            <a:pPr marL="215900" indent="-215900">
              <a:buSzPct val="100000"/>
              <a:buChar char="•"/>
            </a:pPr>
            <a:r>
              <a:rPr lang="en-US" sz="1800" dirty="0">
                <a:solidFill>
                  <a:srgbClr val="2F3437"/>
                </a:solidFill>
                <a:latin typeface="EB Garamond" pitchFamily="34" charset="0"/>
                <a:ea typeface="EB Garamond" pitchFamily="34" charset="-122"/>
                <a:cs typeface="EB Garamond" pitchFamily="34" charset="-120"/>
              </a:rPr>
              <a:t>The price of useful intelligence can fall even while total AI consumption and productivity value rise.</a:t>
            </a:r>
            <a:endParaRPr lang="en-US" sz="1800" dirty="0"/>
          </a:p>
        </p:txBody>
      </p:sp>
      <p:sp>
        <p:nvSpPr>
          <p:cNvPr id="4" name="Text 2"/>
          <p:cNvSpPr/>
          <p:nvPr/>
        </p:nvSpPr>
        <p:spPr>
          <a:xfrm>
            <a:off x="6858000" y="1325880"/>
            <a:ext cx="3977640" cy="329184"/>
          </a:xfrm>
          <a:prstGeom prst="rect">
            <a:avLst/>
          </a:prstGeom>
          <a:noFill/>
          <a:ln/>
        </p:spPr>
        <p:txBody>
          <a:bodyPr wrap="square" lIns="0" tIns="0" rIns="0" bIns="0" rtlCol="0" anchor="ctr"/>
          <a:lstStyle/>
          <a:p>
            <a:pPr marL="0" indent="0" algn="ctr">
              <a:buNone/>
            </a:pPr>
            <a:r>
              <a:rPr lang="en-US" sz="1600" b="1" dirty="0">
                <a:solidFill>
                  <a:srgbClr val="022169"/>
                </a:solidFill>
                <a:latin typeface="EB Garamond" pitchFamily="34" charset="0"/>
                <a:ea typeface="EB Garamond" pitchFamily="34" charset="-122"/>
                <a:cs typeface="EB Garamond" pitchFamily="34" charset="-120"/>
              </a:rPr>
              <a:t>Illustrative API list prices per 1M tokens</a:t>
            </a:r>
            <a:endParaRPr lang="en-US" sz="1600" dirty="0"/>
          </a:p>
        </p:txBody>
      </p:sp>
      <p:sp>
        <p:nvSpPr>
          <p:cNvPr id="5" name="Text 3"/>
          <p:cNvSpPr/>
          <p:nvPr/>
        </p:nvSpPr>
        <p:spPr>
          <a:xfrm>
            <a:off x="6903720" y="1874520"/>
            <a:ext cx="1783080" cy="256032"/>
          </a:xfrm>
          <a:prstGeom prst="rect">
            <a:avLst/>
          </a:prstGeom>
          <a:noFill/>
          <a:ln/>
        </p:spPr>
        <p:txBody>
          <a:bodyPr wrap="square" lIns="0" tIns="0" rIns="0" bIns="0" rtlCol="0" anchor="ctr"/>
          <a:lstStyle/>
          <a:p>
            <a:pPr marL="0" indent="0">
              <a:buNone/>
            </a:pPr>
            <a:r>
              <a:rPr lang="en-US" sz="1300" b="1" dirty="0">
                <a:solidFill>
                  <a:srgbClr val="626B73"/>
                </a:solidFill>
                <a:latin typeface="EB Garamond" pitchFamily="34" charset="0"/>
                <a:ea typeface="EB Garamond" pitchFamily="34" charset="-122"/>
                <a:cs typeface="EB Garamond" pitchFamily="34" charset="-120"/>
              </a:rPr>
              <a:t>Model</a:t>
            </a:r>
            <a:endParaRPr lang="en-US" sz="1300" dirty="0"/>
          </a:p>
        </p:txBody>
      </p:sp>
      <p:sp>
        <p:nvSpPr>
          <p:cNvPr id="6" name="Text 4"/>
          <p:cNvSpPr/>
          <p:nvPr/>
        </p:nvSpPr>
        <p:spPr>
          <a:xfrm>
            <a:off x="8915400" y="1874520"/>
            <a:ext cx="822960" cy="256032"/>
          </a:xfrm>
          <a:prstGeom prst="rect">
            <a:avLst/>
          </a:prstGeom>
          <a:noFill/>
          <a:ln/>
        </p:spPr>
        <p:txBody>
          <a:bodyPr wrap="square" lIns="0" tIns="0" rIns="0" bIns="0" rtlCol="0" anchor="ctr"/>
          <a:lstStyle/>
          <a:p>
            <a:pPr marL="0" indent="0" algn="r">
              <a:buNone/>
            </a:pPr>
            <a:r>
              <a:rPr lang="en-US" sz="1300" b="1" dirty="0">
                <a:solidFill>
                  <a:srgbClr val="626B73"/>
                </a:solidFill>
                <a:latin typeface="EB Garamond" pitchFamily="34" charset="0"/>
                <a:ea typeface="EB Garamond" pitchFamily="34" charset="-122"/>
                <a:cs typeface="EB Garamond" pitchFamily="34" charset="-120"/>
              </a:rPr>
              <a:t>Input</a:t>
            </a:r>
            <a:endParaRPr lang="en-US" sz="1300" dirty="0"/>
          </a:p>
        </p:txBody>
      </p:sp>
      <p:sp>
        <p:nvSpPr>
          <p:cNvPr id="7" name="Text 5"/>
          <p:cNvSpPr/>
          <p:nvPr/>
        </p:nvSpPr>
        <p:spPr>
          <a:xfrm>
            <a:off x="10012680" y="1874520"/>
            <a:ext cx="960120" cy="256032"/>
          </a:xfrm>
          <a:prstGeom prst="rect">
            <a:avLst/>
          </a:prstGeom>
          <a:noFill/>
          <a:ln/>
        </p:spPr>
        <p:txBody>
          <a:bodyPr wrap="square" lIns="0" tIns="0" rIns="0" bIns="0" rtlCol="0" anchor="ctr"/>
          <a:lstStyle/>
          <a:p>
            <a:pPr marL="0" indent="0" algn="r">
              <a:buNone/>
            </a:pPr>
            <a:r>
              <a:rPr lang="en-US" sz="1300" b="1" dirty="0">
                <a:solidFill>
                  <a:srgbClr val="626B73"/>
                </a:solidFill>
                <a:latin typeface="EB Garamond" pitchFamily="34" charset="0"/>
                <a:ea typeface="EB Garamond" pitchFamily="34" charset="-122"/>
                <a:cs typeface="EB Garamond" pitchFamily="34" charset="-120"/>
              </a:rPr>
              <a:t>Output</a:t>
            </a:r>
            <a:endParaRPr lang="en-US" sz="1300" dirty="0"/>
          </a:p>
        </p:txBody>
      </p:sp>
      <p:sp>
        <p:nvSpPr>
          <p:cNvPr id="8" name="Shape 6"/>
          <p:cNvSpPr/>
          <p:nvPr/>
        </p:nvSpPr>
        <p:spPr>
          <a:xfrm>
            <a:off x="6812280" y="2194560"/>
            <a:ext cx="4251960" cy="0"/>
          </a:xfrm>
          <a:prstGeom prst="line">
            <a:avLst/>
          </a:prstGeom>
          <a:noFill/>
          <a:ln w="12700">
            <a:solidFill>
              <a:srgbClr val="D6E7F0"/>
            </a:solidFill>
            <a:prstDash val="solid"/>
          </a:ln>
        </p:spPr>
        <p:txBody>
          <a:bodyPr/>
          <a:lstStyle/>
          <a:p>
            <a:endParaRPr/>
          </a:p>
        </p:txBody>
      </p:sp>
      <p:sp>
        <p:nvSpPr>
          <p:cNvPr id="9" name="Text 7"/>
          <p:cNvSpPr/>
          <p:nvPr/>
        </p:nvSpPr>
        <p:spPr>
          <a:xfrm>
            <a:off x="6903720" y="2304288"/>
            <a:ext cx="1783080" cy="274320"/>
          </a:xfrm>
          <a:prstGeom prst="rect">
            <a:avLst/>
          </a:prstGeom>
          <a:noFill/>
          <a:ln/>
        </p:spPr>
        <p:txBody>
          <a:bodyPr wrap="square" lIns="0" tIns="0" rIns="0" bIns="0" rtlCol="0" anchor="ctr"/>
          <a:lstStyle/>
          <a:p>
            <a:pPr marL="0" indent="0">
              <a:buNone/>
            </a:pPr>
            <a:r>
              <a:rPr lang="en-US" sz="1400" b="1" dirty="0">
                <a:solidFill>
                  <a:srgbClr val="2F3437"/>
                </a:solidFill>
                <a:latin typeface="EB Garamond" pitchFamily="34" charset="0"/>
                <a:ea typeface="EB Garamond" pitchFamily="34" charset="-122"/>
                <a:cs typeface="EB Garamond" pitchFamily="34" charset="-120"/>
              </a:rPr>
              <a:t>GPT-6 Astra</a:t>
            </a:r>
            <a:endParaRPr lang="en-US" sz="1400" dirty="0"/>
          </a:p>
        </p:txBody>
      </p:sp>
      <p:sp>
        <p:nvSpPr>
          <p:cNvPr id="10" name="Text 8"/>
          <p:cNvSpPr/>
          <p:nvPr/>
        </p:nvSpPr>
        <p:spPr>
          <a:xfrm>
            <a:off x="8823960" y="2304288"/>
            <a:ext cx="914400" cy="274320"/>
          </a:xfrm>
          <a:prstGeom prst="rect">
            <a:avLst/>
          </a:prstGeom>
          <a:noFill/>
          <a:ln/>
        </p:spPr>
        <p:txBody>
          <a:bodyPr wrap="square" lIns="0" tIns="0" rIns="0" bIns="0" rtlCol="0" anchor="ctr"/>
          <a:lstStyle/>
          <a:p>
            <a:pPr marL="0" indent="0" algn="r">
              <a:buNone/>
            </a:pPr>
            <a:r>
              <a:rPr lang="en-US" sz="1400" dirty="0">
                <a:solidFill>
                  <a:srgbClr val="0072CE"/>
                </a:solidFill>
                <a:latin typeface="EB Garamond" pitchFamily="34" charset="0"/>
                <a:ea typeface="EB Garamond" pitchFamily="34" charset="-122"/>
                <a:cs typeface="EB Garamond" pitchFamily="34" charset="-120"/>
              </a:rPr>
              <a:t>$10.00</a:t>
            </a:r>
            <a:endParaRPr lang="en-US" sz="1400" dirty="0"/>
          </a:p>
        </p:txBody>
      </p:sp>
      <p:sp>
        <p:nvSpPr>
          <p:cNvPr id="11" name="Text 9"/>
          <p:cNvSpPr/>
          <p:nvPr/>
        </p:nvSpPr>
        <p:spPr>
          <a:xfrm>
            <a:off x="9966960" y="2304288"/>
            <a:ext cx="1005840" cy="274320"/>
          </a:xfrm>
          <a:prstGeom prst="rect">
            <a:avLst/>
          </a:prstGeom>
          <a:noFill/>
          <a:ln/>
        </p:spPr>
        <p:txBody>
          <a:bodyPr wrap="square" lIns="0" tIns="0" rIns="0" bIns="0" rtlCol="0" anchor="ctr"/>
          <a:lstStyle/>
          <a:p>
            <a:pPr marL="0" indent="0" algn="r">
              <a:buNone/>
            </a:pPr>
            <a:r>
              <a:rPr lang="en-US" sz="1400" dirty="0">
                <a:solidFill>
                  <a:srgbClr val="0072CE"/>
                </a:solidFill>
                <a:latin typeface="EB Garamond" pitchFamily="34" charset="0"/>
                <a:ea typeface="EB Garamond" pitchFamily="34" charset="-122"/>
                <a:cs typeface="EB Garamond" pitchFamily="34" charset="-120"/>
              </a:rPr>
              <a:t>$50.00</a:t>
            </a:r>
            <a:endParaRPr lang="en-US" sz="1400" dirty="0"/>
          </a:p>
        </p:txBody>
      </p:sp>
      <p:sp>
        <p:nvSpPr>
          <p:cNvPr id="12" name="Shape 10"/>
          <p:cNvSpPr/>
          <p:nvPr/>
        </p:nvSpPr>
        <p:spPr>
          <a:xfrm>
            <a:off x="6812280" y="2852928"/>
            <a:ext cx="4251960" cy="0"/>
          </a:xfrm>
          <a:prstGeom prst="line">
            <a:avLst/>
          </a:prstGeom>
          <a:noFill/>
          <a:ln w="12700">
            <a:solidFill>
              <a:srgbClr val="D6E7F0"/>
            </a:solidFill>
            <a:prstDash val="solid"/>
          </a:ln>
        </p:spPr>
        <p:txBody>
          <a:bodyPr/>
          <a:lstStyle/>
          <a:p>
            <a:endParaRPr/>
          </a:p>
        </p:txBody>
      </p:sp>
      <p:sp>
        <p:nvSpPr>
          <p:cNvPr id="13" name="Text 11"/>
          <p:cNvSpPr/>
          <p:nvPr/>
        </p:nvSpPr>
        <p:spPr>
          <a:xfrm>
            <a:off x="6903720" y="2962656"/>
            <a:ext cx="1783080" cy="274320"/>
          </a:xfrm>
          <a:prstGeom prst="rect">
            <a:avLst/>
          </a:prstGeom>
          <a:noFill/>
          <a:ln/>
        </p:spPr>
        <p:txBody>
          <a:bodyPr wrap="square" lIns="0" tIns="0" rIns="0" bIns="0" rtlCol="0" anchor="ctr"/>
          <a:lstStyle/>
          <a:p>
            <a:pPr marL="0" indent="0">
              <a:buNone/>
            </a:pPr>
            <a:r>
              <a:rPr lang="en-US" sz="1400" b="1" dirty="0">
                <a:solidFill>
                  <a:srgbClr val="2F3437"/>
                </a:solidFill>
                <a:latin typeface="EB Garamond" pitchFamily="34" charset="0"/>
                <a:ea typeface="EB Garamond" pitchFamily="34" charset="-122"/>
                <a:cs typeface="EB Garamond" pitchFamily="34" charset="-120"/>
              </a:rPr>
              <a:t>Claude Opus 5.5</a:t>
            </a:r>
            <a:endParaRPr lang="en-US" sz="1400" dirty="0"/>
          </a:p>
        </p:txBody>
      </p:sp>
      <p:sp>
        <p:nvSpPr>
          <p:cNvPr id="14" name="Text 12"/>
          <p:cNvSpPr/>
          <p:nvPr/>
        </p:nvSpPr>
        <p:spPr>
          <a:xfrm>
            <a:off x="8823960" y="2962656"/>
            <a:ext cx="914400" cy="274320"/>
          </a:xfrm>
          <a:prstGeom prst="rect">
            <a:avLst/>
          </a:prstGeom>
          <a:noFill/>
          <a:ln/>
        </p:spPr>
        <p:txBody>
          <a:bodyPr wrap="square" lIns="0" tIns="0" rIns="0" bIns="0" rtlCol="0" anchor="ctr"/>
          <a:lstStyle/>
          <a:p>
            <a:pPr marL="0" indent="0" algn="r">
              <a:buNone/>
            </a:pPr>
            <a:r>
              <a:rPr lang="en-US" sz="1400" dirty="0">
                <a:solidFill>
                  <a:srgbClr val="0072CE"/>
                </a:solidFill>
                <a:latin typeface="EB Garamond" pitchFamily="34" charset="0"/>
                <a:ea typeface="EB Garamond" pitchFamily="34" charset="-122"/>
                <a:cs typeface="EB Garamond" pitchFamily="34" charset="-120"/>
              </a:rPr>
              <a:t>$4.00</a:t>
            </a:r>
            <a:endParaRPr lang="en-US" sz="1400" dirty="0"/>
          </a:p>
        </p:txBody>
      </p:sp>
      <p:sp>
        <p:nvSpPr>
          <p:cNvPr id="15" name="Text 13"/>
          <p:cNvSpPr/>
          <p:nvPr/>
        </p:nvSpPr>
        <p:spPr>
          <a:xfrm>
            <a:off x="9966960" y="2962656"/>
            <a:ext cx="1005840" cy="274320"/>
          </a:xfrm>
          <a:prstGeom prst="rect">
            <a:avLst/>
          </a:prstGeom>
          <a:noFill/>
          <a:ln/>
        </p:spPr>
        <p:txBody>
          <a:bodyPr wrap="square" lIns="0" tIns="0" rIns="0" bIns="0" rtlCol="0" anchor="ctr"/>
          <a:lstStyle/>
          <a:p>
            <a:pPr marL="0" indent="0" algn="r">
              <a:buNone/>
            </a:pPr>
            <a:r>
              <a:rPr lang="en-US" sz="1400" dirty="0">
                <a:solidFill>
                  <a:srgbClr val="0072CE"/>
                </a:solidFill>
                <a:latin typeface="EB Garamond" pitchFamily="34" charset="0"/>
                <a:ea typeface="EB Garamond" pitchFamily="34" charset="-122"/>
                <a:cs typeface="EB Garamond" pitchFamily="34" charset="-120"/>
              </a:rPr>
              <a:t>$20.00</a:t>
            </a:r>
            <a:endParaRPr lang="en-US" sz="1400" dirty="0"/>
          </a:p>
        </p:txBody>
      </p:sp>
      <p:sp>
        <p:nvSpPr>
          <p:cNvPr id="16" name="Shape 14"/>
          <p:cNvSpPr/>
          <p:nvPr/>
        </p:nvSpPr>
        <p:spPr>
          <a:xfrm>
            <a:off x="6812280" y="3511296"/>
            <a:ext cx="4251960" cy="0"/>
          </a:xfrm>
          <a:prstGeom prst="line">
            <a:avLst/>
          </a:prstGeom>
          <a:noFill/>
          <a:ln w="12700">
            <a:solidFill>
              <a:srgbClr val="D6E7F0"/>
            </a:solidFill>
            <a:prstDash val="solid"/>
          </a:ln>
        </p:spPr>
        <p:txBody>
          <a:bodyPr/>
          <a:lstStyle/>
          <a:p>
            <a:endParaRPr/>
          </a:p>
        </p:txBody>
      </p:sp>
      <p:sp>
        <p:nvSpPr>
          <p:cNvPr id="17" name="Text 15"/>
          <p:cNvSpPr/>
          <p:nvPr/>
        </p:nvSpPr>
        <p:spPr>
          <a:xfrm>
            <a:off x="6903720" y="3621024"/>
            <a:ext cx="1783080" cy="274320"/>
          </a:xfrm>
          <a:prstGeom prst="rect">
            <a:avLst/>
          </a:prstGeom>
          <a:noFill/>
          <a:ln/>
        </p:spPr>
        <p:txBody>
          <a:bodyPr wrap="square" lIns="0" tIns="0" rIns="0" bIns="0" rtlCol="0" anchor="ctr"/>
          <a:lstStyle/>
          <a:p>
            <a:pPr marL="0" indent="0">
              <a:buNone/>
            </a:pPr>
            <a:r>
              <a:rPr lang="en-US" sz="1400" b="1" dirty="0">
                <a:solidFill>
                  <a:srgbClr val="2F3437"/>
                </a:solidFill>
                <a:latin typeface="EB Garamond" pitchFamily="34" charset="0"/>
                <a:ea typeface="EB Garamond" pitchFamily="34" charset="-122"/>
                <a:cs typeface="EB Garamond" pitchFamily="34" charset="-120"/>
              </a:rPr>
              <a:t>Qwen3.5 Plus</a:t>
            </a:r>
            <a:endParaRPr lang="en-US" sz="1400" dirty="0"/>
          </a:p>
        </p:txBody>
      </p:sp>
      <p:sp>
        <p:nvSpPr>
          <p:cNvPr id="18" name="Text 16"/>
          <p:cNvSpPr/>
          <p:nvPr/>
        </p:nvSpPr>
        <p:spPr>
          <a:xfrm>
            <a:off x="8823960" y="3621024"/>
            <a:ext cx="914400" cy="274320"/>
          </a:xfrm>
          <a:prstGeom prst="rect">
            <a:avLst/>
          </a:prstGeom>
          <a:noFill/>
          <a:ln/>
        </p:spPr>
        <p:txBody>
          <a:bodyPr wrap="square" lIns="0" tIns="0" rIns="0" bIns="0" rtlCol="0" anchor="ctr"/>
          <a:lstStyle/>
          <a:p>
            <a:pPr marL="0" indent="0" algn="r">
              <a:buNone/>
            </a:pPr>
            <a:r>
              <a:rPr lang="en-US" sz="1400" dirty="0">
                <a:solidFill>
                  <a:srgbClr val="0072CE"/>
                </a:solidFill>
                <a:latin typeface="EB Garamond" pitchFamily="34" charset="0"/>
                <a:ea typeface="EB Garamond" pitchFamily="34" charset="-122"/>
                <a:cs typeface="EB Garamond" pitchFamily="34" charset="-120"/>
              </a:rPr>
              <a:t>$0.115</a:t>
            </a:r>
            <a:endParaRPr lang="en-US" sz="1400" dirty="0"/>
          </a:p>
        </p:txBody>
      </p:sp>
      <p:sp>
        <p:nvSpPr>
          <p:cNvPr id="19" name="Text 17"/>
          <p:cNvSpPr/>
          <p:nvPr/>
        </p:nvSpPr>
        <p:spPr>
          <a:xfrm>
            <a:off x="9966960" y="3621024"/>
            <a:ext cx="1005840" cy="274320"/>
          </a:xfrm>
          <a:prstGeom prst="rect">
            <a:avLst/>
          </a:prstGeom>
          <a:noFill/>
          <a:ln/>
        </p:spPr>
        <p:txBody>
          <a:bodyPr wrap="square" lIns="0" tIns="0" rIns="0" bIns="0" rtlCol="0" anchor="ctr"/>
          <a:lstStyle/>
          <a:p>
            <a:pPr marL="0" indent="0" algn="r">
              <a:buNone/>
            </a:pPr>
            <a:r>
              <a:rPr lang="en-US" sz="1400" dirty="0">
                <a:solidFill>
                  <a:srgbClr val="0072CE"/>
                </a:solidFill>
                <a:latin typeface="EB Garamond" pitchFamily="34" charset="0"/>
                <a:ea typeface="EB Garamond" pitchFamily="34" charset="-122"/>
                <a:cs typeface="EB Garamond" pitchFamily="34" charset="-120"/>
              </a:rPr>
              <a:t>$0.688</a:t>
            </a:r>
            <a:endParaRPr lang="en-US" sz="1400" dirty="0"/>
          </a:p>
        </p:txBody>
      </p:sp>
      <p:sp>
        <p:nvSpPr>
          <p:cNvPr id="21" name="Text 19"/>
          <p:cNvSpPr/>
          <p:nvPr/>
        </p:nvSpPr>
        <p:spPr>
          <a:xfrm>
            <a:off x="6675120" y="5230368"/>
            <a:ext cx="4526280" cy="566928"/>
          </a:xfrm>
          <a:prstGeom prst="rect">
            <a:avLst/>
          </a:prstGeom>
          <a:noFill/>
          <a:ln/>
        </p:spPr>
        <p:txBody>
          <a:bodyPr wrap="square" lIns="0" tIns="0" rIns="0" bIns="0" rtlCol="0" anchor="ctr">
            <a:normAutofit lnSpcReduction="10000"/>
          </a:bodyPr>
          <a:lstStyle/>
          <a:p>
            <a:pPr marL="0" indent="0" algn="ctr">
              <a:buNone/>
            </a:pPr>
            <a:r>
              <a:rPr lang="en-US" sz="1900" b="1" dirty="0">
                <a:solidFill>
                  <a:srgbClr val="022169"/>
                </a:solidFill>
                <a:latin typeface="EB Garamond" pitchFamily="34" charset="0"/>
                <a:ea typeface="EB Garamond" pitchFamily="34" charset="-122"/>
                <a:cs typeface="EB Garamond" pitchFamily="34" charset="-120"/>
              </a:rPr>
              <a:t>AI can become more valuable to the economy while model-provider rents compress.</a:t>
            </a:r>
            <a:endParaRPr lang="en-US" sz="1900" dirty="0"/>
          </a:p>
        </p:txBody>
      </p:sp>
      <p:sp>
        <p:nvSpPr>
          <p:cNvPr id="22" name="Text 20"/>
          <p:cNvSpPr/>
          <p:nvPr/>
        </p:nvSpPr>
        <p:spPr>
          <a:xfrm>
            <a:off x="438912" y="6345936"/>
            <a:ext cx="10835640" cy="219456"/>
          </a:xfrm>
          <a:prstGeom prst="rect">
            <a:avLst/>
          </a:prstGeom>
          <a:noFill/>
          <a:ln/>
        </p:spPr>
        <p:txBody>
          <a:bodyPr wrap="square" lIns="0" tIns="0" rIns="0" bIns="0" rtlCol="0" anchor="ctr">
            <a:normAutofit/>
          </a:bodyPr>
          <a:lstStyle/>
          <a:p>
            <a:pPr marL="0" indent="0">
              <a:buNone/>
            </a:pPr>
            <a:r>
              <a:rPr lang="en-US" sz="820" i="1" dirty="0">
                <a:solidFill>
                  <a:srgbClr val="78838B"/>
                </a:solidFill>
                <a:latin typeface="EB Garamond" pitchFamily="34" charset="0"/>
                <a:ea typeface="EB Garamond" pitchFamily="34" charset="-122"/>
                <a:cs typeface="EB Garamond" pitchFamily="34" charset="-120"/>
              </a:rPr>
              <a:t>Sources: current official OpenAI, Anthropic, and Alibaba Cloud pricing; Stanford / Epoch cost comparisons.</a:t>
            </a:r>
            <a:endParaRPr lang="en-US" sz="820" dirty="0"/>
          </a:p>
        </p:txBody>
      </p:sp>
      <p:sp>
        <p:nvSpPr>
          <p:cNvPr id="25" name="Slide Number Placeholder 0"/>
          <p:cNvSpPr>
            <a:spLocks noGrp="1"/>
          </p:cNvSpPr>
          <p:nvPr>
            <p:ph type="sldNum" sz="quarter" idx="4294967295"/>
          </p:nvPr>
        </p:nvSpPr>
        <p:spPr>
          <a:xfrm>
            <a:off x="11780838" y="6492875"/>
            <a:ext cx="411162" cy="163513"/>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21</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r>
              <a:rPr lang="en-US" sz="2400" b="1" dirty="0">
                <a:solidFill>
                  <a:srgbClr val="022169"/>
                </a:solidFill>
                <a:latin typeface="EB Garamond" pitchFamily="34" charset="0"/>
                <a:ea typeface="EB Garamond" pitchFamily="34" charset="-122"/>
                <a:cs typeface="EB Garamond" pitchFamily="34" charset="-120"/>
              </a:rPr>
              <a:t>A conservative basket worth 10 trillion.</a:t>
            </a:r>
            <a:endParaRPr lang="en-US" sz="2400" dirty="0"/>
          </a:p>
        </p:txBody>
      </p:sp>
      <p:sp>
        <p:nvSpPr>
          <p:cNvPr id="3" name="Text 1"/>
          <p:cNvSpPr/>
          <p:nvPr/>
        </p:nvSpPr>
        <p:spPr>
          <a:xfrm>
            <a:off x="841248" y="1097280"/>
            <a:ext cx="10515600" cy="585216"/>
          </a:xfrm>
          <a:prstGeom prst="rect">
            <a:avLst/>
          </a:prstGeom>
          <a:noFill/>
          <a:ln/>
        </p:spPr>
        <p:txBody>
          <a:bodyPr wrap="square" lIns="0" tIns="0" rIns="0" bIns="0" rtlCol="0" anchor="ctr">
            <a:normAutofit/>
          </a:bodyPr>
          <a:lstStyle/>
          <a:p>
            <a:r>
              <a:t>Only firms whose valuations depend heavily on current compute scarcity, frontier-model leadership, or hyperscale AI economics.</a:t>
            </a:r>
          </a:p>
        </p:txBody>
      </p:sp>
      <p:sp>
        <p:nvSpPr>
          <p:cNvPr id="4" name="Text 2"/>
          <p:cNvSpPr/>
          <p:nvPr/>
        </p:nvSpPr>
        <p:spPr>
          <a:xfrm>
            <a:off x="777240" y="1965960"/>
            <a:ext cx="2880360" cy="868680"/>
          </a:xfrm>
          <a:prstGeom prst="rect">
            <a:avLst/>
          </a:prstGeom>
          <a:noFill/>
          <a:ln/>
        </p:spPr>
        <p:txBody>
          <a:bodyPr wrap="square" lIns="0" tIns="0" rIns="0" bIns="0" rtlCol="0" anchor="ctr"/>
          <a:lstStyle/>
          <a:p>
            <a:pPr marL="0" indent="0" algn="ctr">
              <a:buNone/>
            </a:pPr>
            <a:r>
              <a:rPr lang="en-US" sz="5400" b="1" dirty="0">
                <a:solidFill>
                  <a:srgbClr val="0072CE"/>
                </a:solidFill>
                <a:latin typeface="EB Garamond" pitchFamily="34" charset="0"/>
                <a:ea typeface="EB Garamond" pitchFamily="34" charset="-122"/>
                <a:cs typeface="EB Garamond" pitchFamily="34" charset="-120"/>
              </a:rPr>
              <a:t>≈ $10T</a:t>
            </a:r>
            <a:endParaRPr lang="en-US" sz="5400" dirty="0"/>
          </a:p>
        </p:txBody>
      </p:sp>
      <p:sp>
        <p:nvSpPr>
          <p:cNvPr id="5" name="Text 3"/>
          <p:cNvSpPr/>
          <p:nvPr/>
        </p:nvSpPr>
        <p:spPr>
          <a:xfrm>
            <a:off x="868680" y="2788920"/>
            <a:ext cx="2697480" cy="676656"/>
          </a:xfrm>
          <a:prstGeom prst="rect">
            <a:avLst/>
          </a:prstGeom>
          <a:noFill/>
          <a:ln/>
        </p:spPr>
        <p:txBody>
          <a:bodyPr wrap="square" lIns="0" tIns="0" rIns="0" bIns="0" rtlCol="0" anchor="ctr">
            <a:normAutofit/>
          </a:bodyPr>
          <a:lstStyle/>
          <a:p>
            <a:pPr marL="0" indent="0" algn="ctr">
              <a:buNone/>
            </a:pPr>
            <a:r>
              <a:rPr lang="en-US" sz="1500" dirty="0">
                <a:solidFill>
                  <a:srgbClr val="2F3437"/>
                </a:solidFill>
                <a:latin typeface="EB Garamond" pitchFamily="34" charset="0"/>
                <a:ea typeface="EB Garamond" pitchFamily="34" charset="-122"/>
                <a:cs typeface="EB Garamond" pitchFamily="34" charset="-120"/>
              </a:rPr>
              <a:t>illustrative current / latest private-market value</a:t>
            </a:r>
            <a:endParaRPr lang="en-US" sz="1500" dirty="0"/>
          </a:p>
        </p:txBody>
      </p:sp>
      <p:sp>
        <p:nvSpPr>
          <p:cNvPr id="6" name="Text 4"/>
          <p:cNvSpPr/>
          <p:nvPr/>
        </p:nvSpPr>
        <p:spPr>
          <a:xfrm>
            <a:off x="4069080" y="1847088"/>
            <a:ext cx="2240280" cy="274320"/>
          </a:xfrm>
          <a:prstGeom prst="rect">
            <a:avLst/>
          </a:prstGeom>
          <a:noFill/>
          <a:ln/>
        </p:spPr>
        <p:txBody>
          <a:bodyPr wrap="square" lIns="0" tIns="0" rIns="0" bIns="0" rtlCol="0" anchor="ctr"/>
          <a:lstStyle/>
          <a:p>
            <a:pPr marL="0" indent="0">
              <a:buNone/>
            </a:pPr>
            <a:r>
              <a:rPr lang="en-US" sz="1400" b="1" dirty="0">
                <a:solidFill>
                  <a:srgbClr val="626B73"/>
                </a:solidFill>
                <a:latin typeface="EB Garamond" pitchFamily="34" charset="0"/>
                <a:ea typeface="EB Garamond" pitchFamily="34" charset="-122"/>
                <a:cs typeface="EB Garamond" pitchFamily="34" charset="-120"/>
              </a:rPr>
              <a:t>Company</a:t>
            </a:r>
            <a:endParaRPr lang="en-US" sz="1400" dirty="0"/>
          </a:p>
        </p:txBody>
      </p:sp>
      <p:sp>
        <p:nvSpPr>
          <p:cNvPr id="7" name="Text 5"/>
          <p:cNvSpPr/>
          <p:nvPr/>
        </p:nvSpPr>
        <p:spPr>
          <a:xfrm>
            <a:off x="6492240" y="1847088"/>
            <a:ext cx="1325880" cy="274320"/>
          </a:xfrm>
          <a:prstGeom prst="rect">
            <a:avLst/>
          </a:prstGeom>
          <a:noFill/>
          <a:ln/>
        </p:spPr>
        <p:txBody>
          <a:bodyPr wrap="square" lIns="0" tIns="0" rIns="0" bIns="0" rtlCol="0" anchor="ctr"/>
          <a:lstStyle/>
          <a:p>
            <a:pPr marL="0" indent="0" algn="r">
              <a:buNone/>
            </a:pPr>
            <a:r>
              <a:rPr lang="en-US" sz="1400" b="1" dirty="0">
                <a:solidFill>
                  <a:srgbClr val="626B73"/>
                </a:solidFill>
                <a:latin typeface="EB Garamond" pitchFamily="34" charset="0"/>
                <a:ea typeface="EB Garamond" pitchFamily="34" charset="-122"/>
                <a:cs typeface="EB Garamond" pitchFamily="34" charset="-120"/>
              </a:rPr>
              <a:t>Approx. value</a:t>
            </a:r>
            <a:endParaRPr lang="en-US" sz="1400" dirty="0"/>
          </a:p>
        </p:txBody>
      </p:sp>
      <p:sp>
        <p:nvSpPr>
          <p:cNvPr id="8" name="Shape 6"/>
          <p:cNvSpPr/>
          <p:nvPr/>
        </p:nvSpPr>
        <p:spPr>
          <a:xfrm>
            <a:off x="4023360" y="2139696"/>
            <a:ext cx="3886200" cy="0"/>
          </a:xfrm>
          <a:prstGeom prst="line">
            <a:avLst/>
          </a:prstGeom>
          <a:noFill/>
          <a:ln w="12700">
            <a:solidFill>
              <a:srgbClr val="D6E7F0"/>
            </a:solidFill>
            <a:prstDash val="solid"/>
          </a:ln>
        </p:spPr>
        <p:txBody>
          <a:bodyPr/>
          <a:lstStyle/>
          <a:p>
            <a:endParaRPr/>
          </a:p>
        </p:txBody>
      </p:sp>
      <p:sp>
        <p:nvSpPr>
          <p:cNvPr id="9" name="Text 7"/>
          <p:cNvSpPr/>
          <p:nvPr/>
        </p:nvSpPr>
        <p:spPr>
          <a:xfrm>
            <a:off x="4096512" y="2212848"/>
            <a:ext cx="2148840" cy="256032"/>
          </a:xfrm>
          <a:prstGeom prst="rect">
            <a:avLst/>
          </a:prstGeom>
          <a:noFill/>
          <a:ln/>
        </p:spPr>
        <p:txBody>
          <a:bodyPr wrap="square" lIns="0" tIns="0" rIns="0" bIns="0" rtlCol="0" anchor="ctr"/>
          <a:lstStyle/>
          <a:p>
            <a:pPr marL="0" indent="0">
              <a:buNone/>
            </a:pPr>
            <a:r>
              <a:rPr lang="en-US" sz="1600" b="1" dirty="0">
                <a:solidFill>
                  <a:srgbClr val="2F3437"/>
                </a:solidFill>
                <a:latin typeface="EB Garamond" pitchFamily="34" charset="0"/>
                <a:ea typeface="EB Garamond" pitchFamily="34" charset="-122"/>
                <a:cs typeface="EB Garamond" pitchFamily="34" charset="-120"/>
              </a:rPr>
              <a:t>Nvidia</a:t>
            </a:r>
            <a:endParaRPr lang="en-US" sz="1600" dirty="0"/>
          </a:p>
        </p:txBody>
      </p:sp>
      <p:sp>
        <p:nvSpPr>
          <p:cNvPr id="10" name="Text 8"/>
          <p:cNvSpPr/>
          <p:nvPr/>
        </p:nvSpPr>
        <p:spPr>
          <a:xfrm>
            <a:off x="6400800" y="2212848"/>
            <a:ext cx="1371600" cy="256032"/>
          </a:xfrm>
          <a:prstGeom prst="rect">
            <a:avLst/>
          </a:prstGeom>
          <a:noFill/>
          <a:ln/>
        </p:spPr>
        <p:txBody>
          <a:bodyPr wrap="square" lIns="0" tIns="0" rIns="0" bIns="0" rtlCol="0" anchor="ctr"/>
          <a:lstStyle/>
          <a:p>
            <a:pPr marL="0" indent="0" algn="r">
              <a:buNone/>
            </a:pPr>
            <a:r>
              <a:rPr lang="en-US" sz="1600" b="1" dirty="0">
                <a:solidFill>
                  <a:srgbClr val="022169"/>
                </a:solidFill>
                <a:latin typeface="EB Garamond" pitchFamily="34" charset="0"/>
                <a:ea typeface="EB Garamond" pitchFamily="34" charset="-122"/>
                <a:cs typeface="EB Garamond" pitchFamily="34" charset="-120"/>
              </a:rPr>
              <a:t>~$5.09T</a:t>
            </a:r>
            <a:endParaRPr lang="en-US" sz="1600" dirty="0"/>
          </a:p>
        </p:txBody>
      </p:sp>
      <p:sp>
        <p:nvSpPr>
          <p:cNvPr id="11" name="Shape 9"/>
          <p:cNvSpPr/>
          <p:nvPr/>
        </p:nvSpPr>
        <p:spPr>
          <a:xfrm>
            <a:off x="4023360" y="2642616"/>
            <a:ext cx="3886200" cy="0"/>
          </a:xfrm>
          <a:prstGeom prst="line">
            <a:avLst/>
          </a:prstGeom>
          <a:noFill/>
          <a:ln w="12700">
            <a:solidFill>
              <a:srgbClr val="D6E7F0"/>
            </a:solidFill>
            <a:prstDash val="solid"/>
          </a:ln>
        </p:spPr>
        <p:txBody>
          <a:bodyPr/>
          <a:lstStyle/>
          <a:p>
            <a:endParaRPr/>
          </a:p>
        </p:txBody>
      </p:sp>
      <p:sp>
        <p:nvSpPr>
          <p:cNvPr id="12" name="Text 10"/>
          <p:cNvSpPr/>
          <p:nvPr/>
        </p:nvSpPr>
        <p:spPr>
          <a:xfrm>
            <a:off x="4096512" y="2715768"/>
            <a:ext cx="2148840" cy="256032"/>
          </a:xfrm>
          <a:prstGeom prst="rect">
            <a:avLst/>
          </a:prstGeom>
          <a:noFill/>
          <a:ln/>
        </p:spPr>
        <p:txBody>
          <a:bodyPr wrap="square" lIns="0" tIns="0" rIns="0" bIns="0" rtlCol="0" anchor="ctr"/>
          <a:lstStyle/>
          <a:p>
            <a:pPr marL="0" indent="0">
              <a:buNone/>
            </a:pPr>
            <a:r>
              <a:rPr lang="en-US" sz="1600" b="1" dirty="0">
                <a:solidFill>
                  <a:srgbClr val="2F3437"/>
                </a:solidFill>
                <a:latin typeface="EB Garamond" pitchFamily="34" charset="0"/>
                <a:ea typeface="EB Garamond" pitchFamily="34" charset="-122"/>
                <a:cs typeface="EB Garamond" pitchFamily="34" charset="-120"/>
              </a:rPr>
              <a:t>SpaceX / xAI</a:t>
            </a:r>
            <a:endParaRPr lang="en-US" sz="1600" dirty="0"/>
          </a:p>
        </p:txBody>
      </p:sp>
      <p:sp>
        <p:nvSpPr>
          <p:cNvPr id="13" name="Text 11"/>
          <p:cNvSpPr/>
          <p:nvPr/>
        </p:nvSpPr>
        <p:spPr>
          <a:xfrm>
            <a:off x="6400800" y="2715768"/>
            <a:ext cx="1371600" cy="256032"/>
          </a:xfrm>
          <a:prstGeom prst="rect">
            <a:avLst/>
          </a:prstGeom>
          <a:noFill/>
          <a:ln/>
        </p:spPr>
        <p:txBody>
          <a:bodyPr wrap="square" lIns="0" tIns="0" rIns="0" bIns="0" rtlCol="0" anchor="ctr"/>
          <a:lstStyle/>
          <a:p>
            <a:pPr marL="0" indent="0" algn="r">
              <a:buNone/>
            </a:pPr>
            <a:r>
              <a:rPr lang="en-US" sz="1600" b="1" dirty="0">
                <a:solidFill>
                  <a:srgbClr val="022169"/>
                </a:solidFill>
                <a:latin typeface="EB Garamond" pitchFamily="34" charset="0"/>
                <a:ea typeface="EB Garamond" pitchFamily="34" charset="-122"/>
                <a:cs typeface="EB Garamond" pitchFamily="34" charset="-120"/>
              </a:rPr>
              <a:t>~$2.0T</a:t>
            </a:r>
            <a:endParaRPr lang="en-US" sz="1600" dirty="0"/>
          </a:p>
        </p:txBody>
      </p:sp>
      <p:sp>
        <p:nvSpPr>
          <p:cNvPr id="14" name="Shape 12"/>
          <p:cNvSpPr/>
          <p:nvPr/>
        </p:nvSpPr>
        <p:spPr>
          <a:xfrm>
            <a:off x="4023360" y="3145536"/>
            <a:ext cx="3886200" cy="0"/>
          </a:xfrm>
          <a:prstGeom prst="line">
            <a:avLst/>
          </a:prstGeom>
          <a:noFill/>
          <a:ln w="12700">
            <a:solidFill>
              <a:srgbClr val="D6E7F0"/>
            </a:solidFill>
            <a:prstDash val="solid"/>
          </a:ln>
        </p:spPr>
        <p:txBody>
          <a:bodyPr/>
          <a:lstStyle/>
          <a:p>
            <a:endParaRPr/>
          </a:p>
        </p:txBody>
      </p:sp>
      <p:sp>
        <p:nvSpPr>
          <p:cNvPr id="15" name="Text 13"/>
          <p:cNvSpPr/>
          <p:nvPr/>
        </p:nvSpPr>
        <p:spPr>
          <a:xfrm>
            <a:off x="4096512" y="3218688"/>
            <a:ext cx="2148840" cy="256032"/>
          </a:xfrm>
          <a:prstGeom prst="rect">
            <a:avLst/>
          </a:prstGeom>
          <a:noFill/>
          <a:ln/>
        </p:spPr>
        <p:txBody>
          <a:bodyPr wrap="square" lIns="0" tIns="0" rIns="0" bIns="0" rtlCol="0" anchor="ctr"/>
          <a:lstStyle/>
          <a:p>
            <a:pPr marL="0" indent="0">
              <a:buNone/>
            </a:pPr>
            <a:r>
              <a:rPr lang="en-US" sz="1600" b="1" dirty="0">
                <a:solidFill>
                  <a:srgbClr val="2F3437"/>
                </a:solidFill>
                <a:latin typeface="EB Garamond" pitchFamily="34" charset="0"/>
                <a:ea typeface="EB Garamond" pitchFamily="34" charset="-122"/>
                <a:cs typeface="EB Garamond" pitchFamily="34" charset="-120"/>
              </a:rPr>
              <a:t>OpenAI</a:t>
            </a:r>
            <a:endParaRPr lang="en-US" sz="1600" dirty="0"/>
          </a:p>
        </p:txBody>
      </p:sp>
      <p:sp>
        <p:nvSpPr>
          <p:cNvPr id="16" name="Text 14"/>
          <p:cNvSpPr/>
          <p:nvPr/>
        </p:nvSpPr>
        <p:spPr>
          <a:xfrm>
            <a:off x="6400800" y="3218688"/>
            <a:ext cx="1371600" cy="256032"/>
          </a:xfrm>
          <a:prstGeom prst="rect">
            <a:avLst/>
          </a:prstGeom>
          <a:noFill/>
          <a:ln/>
        </p:spPr>
        <p:txBody>
          <a:bodyPr wrap="square" lIns="0" tIns="0" rIns="0" bIns="0" rtlCol="0" anchor="ctr"/>
          <a:lstStyle/>
          <a:p>
            <a:pPr marL="0" indent="0" algn="r">
              <a:buNone/>
            </a:pPr>
            <a:r>
              <a:rPr lang="en-US" sz="1600" b="1" dirty="0">
                <a:solidFill>
                  <a:srgbClr val="022169"/>
                </a:solidFill>
                <a:latin typeface="EB Garamond" pitchFamily="34" charset="0"/>
                <a:ea typeface="EB Garamond" pitchFamily="34" charset="-122"/>
                <a:cs typeface="EB Garamond" pitchFamily="34" charset="-120"/>
              </a:rPr>
              <a:t>~$1.4T</a:t>
            </a:r>
            <a:endParaRPr lang="en-US" sz="1600" dirty="0"/>
          </a:p>
        </p:txBody>
      </p:sp>
      <p:sp>
        <p:nvSpPr>
          <p:cNvPr id="17" name="Shape 15"/>
          <p:cNvSpPr/>
          <p:nvPr/>
        </p:nvSpPr>
        <p:spPr>
          <a:xfrm>
            <a:off x="4023360" y="3648456"/>
            <a:ext cx="3886200" cy="0"/>
          </a:xfrm>
          <a:prstGeom prst="line">
            <a:avLst/>
          </a:prstGeom>
          <a:noFill/>
          <a:ln w="12700">
            <a:solidFill>
              <a:srgbClr val="D6E7F0"/>
            </a:solidFill>
            <a:prstDash val="solid"/>
          </a:ln>
        </p:spPr>
        <p:txBody>
          <a:bodyPr/>
          <a:lstStyle/>
          <a:p>
            <a:endParaRPr/>
          </a:p>
        </p:txBody>
      </p:sp>
      <p:sp>
        <p:nvSpPr>
          <p:cNvPr id="18" name="Text 16"/>
          <p:cNvSpPr/>
          <p:nvPr/>
        </p:nvSpPr>
        <p:spPr>
          <a:xfrm>
            <a:off x="4096512" y="3721608"/>
            <a:ext cx="2148840" cy="256032"/>
          </a:xfrm>
          <a:prstGeom prst="rect">
            <a:avLst/>
          </a:prstGeom>
          <a:noFill/>
          <a:ln/>
        </p:spPr>
        <p:txBody>
          <a:bodyPr wrap="square" lIns="0" tIns="0" rIns="0" bIns="0" rtlCol="0" anchor="ctr"/>
          <a:lstStyle/>
          <a:p>
            <a:pPr marL="0" indent="0">
              <a:buNone/>
            </a:pPr>
            <a:r>
              <a:rPr lang="en-US" sz="1600" b="1" dirty="0">
                <a:solidFill>
                  <a:srgbClr val="2F3437"/>
                </a:solidFill>
                <a:latin typeface="EB Garamond" pitchFamily="34" charset="0"/>
                <a:ea typeface="EB Garamond" pitchFamily="34" charset="-122"/>
                <a:cs typeface="EB Garamond" pitchFamily="34" charset="-120"/>
              </a:rPr>
              <a:t>Anthropic</a:t>
            </a:r>
            <a:endParaRPr lang="en-US" sz="1600" dirty="0"/>
          </a:p>
        </p:txBody>
      </p:sp>
      <p:sp>
        <p:nvSpPr>
          <p:cNvPr id="19" name="Text 17"/>
          <p:cNvSpPr/>
          <p:nvPr/>
        </p:nvSpPr>
        <p:spPr>
          <a:xfrm>
            <a:off x="6400800" y="3721608"/>
            <a:ext cx="1371600" cy="256032"/>
          </a:xfrm>
          <a:prstGeom prst="rect">
            <a:avLst/>
          </a:prstGeom>
          <a:noFill/>
          <a:ln/>
        </p:spPr>
        <p:txBody>
          <a:bodyPr wrap="square" lIns="0" tIns="0" rIns="0" bIns="0" rtlCol="0" anchor="ctr"/>
          <a:lstStyle/>
          <a:p>
            <a:pPr marL="0" indent="0" algn="r">
              <a:buNone/>
            </a:pPr>
            <a:r>
              <a:rPr lang="en-US" sz="1600" b="1" dirty="0">
                <a:solidFill>
                  <a:srgbClr val="022169"/>
                </a:solidFill>
                <a:latin typeface="EB Garamond" pitchFamily="34" charset="0"/>
                <a:ea typeface="EB Garamond" pitchFamily="34" charset="-122"/>
                <a:cs typeface="EB Garamond" pitchFamily="34" charset="-120"/>
              </a:rPr>
              <a:t>~$1.5T</a:t>
            </a:r>
            <a:endParaRPr lang="en-US" sz="1600" dirty="0"/>
          </a:p>
        </p:txBody>
      </p:sp>
      <p:sp>
        <p:nvSpPr>
          <p:cNvPr id="26" name="Shape 24"/>
          <p:cNvSpPr/>
          <p:nvPr/>
        </p:nvSpPr>
        <p:spPr>
          <a:xfrm>
            <a:off x="8412480" y="1810512"/>
            <a:ext cx="0" cy="3520440"/>
          </a:xfrm>
          <a:prstGeom prst="line">
            <a:avLst/>
          </a:prstGeom>
          <a:noFill/>
          <a:ln w="12700">
            <a:solidFill>
              <a:srgbClr val="D6E7F0"/>
            </a:solidFill>
            <a:prstDash val="solid"/>
          </a:ln>
        </p:spPr>
        <p:txBody>
          <a:bodyPr/>
          <a:lstStyle/>
          <a:p>
            <a:endParaRPr/>
          </a:p>
        </p:txBody>
      </p:sp>
      <p:sp>
        <p:nvSpPr>
          <p:cNvPr id="27" name="Text 25"/>
          <p:cNvSpPr/>
          <p:nvPr/>
        </p:nvSpPr>
        <p:spPr>
          <a:xfrm>
            <a:off x="8732520" y="1723644"/>
            <a:ext cx="2194560" cy="320040"/>
          </a:xfrm>
          <a:prstGeom prst="rect">
            <a:avLst/>
          </a:prstGeom>
          <a:noFill/>
          <a:ln/>
        </p:spPr>
        <p:txBody>
          <a:bodyPr wrap="square" lIns="0" tIns="0" rIns="0" bIns="0" rtlCol="0" anchor="ctr"/>
          <a:lstStyle/>
          <a:p>
            <a:r>
              <a:rPr dirty="0"/>
              <a:t>Excluded by construction</a:t>
            </a:r>
          </a:p>
        </p:txBody>
      </p:sp>
      <p:sp>
        <p:nvSpPr>
          <p:cNvPr id="28" name="Text 26"/>
          <p:cNvSpPr/>
          <p:nvPr/>
        </p:nvSpPr>
        <p:spPr>
          <a:xfrm>
            <a:off x="8732520" y="2331720"/>
            <a:ext cx="2194560" cy="2148840"/>
          </a:xfrm>
          <a:prstGeom prst="rect">
            <a:avLst/>
          </a:prstGeom>
          <a:noFill/>
          <a:ln/>
        </p:spPr>
        <p:txBody>
          <a:bodyPr wrap="square" lIns="0" tIns="0" rIns="0" bIns="0" rtlCol="0" anchor="ctr">
            <a:normAutofit fontScale="92500" lnSpcReduction="10000"/>
          </a:bodyPr>
          <a:lstStyle/>
          <a:p>
            <a:r>
              <a:rPr sz="1600" dirty="0"/>
              <a:t>• AI startups</a:t>
            </a:r>
          </a:p>
          <a:p>
            <a:r>
              <a:rPr sz="1600" dirty="0"/>
              <a:t>• Other AI hardware / semiconductor firms</a:t>
            </a:r>
          </a:p>
          <a:p>
            <a:r>
              <a:rPr sz="1600" dirty="0"/>
              <a:t>• AI-attributable value inside diversified frontier competitors:</a:t>
            </a:r>
          </a:p>
          <a:p>
            <a:r>
              <a:rPr sz="1600" dirty="0"/>
              <a:t>  Alphabet / Google</a:t>
            </a:r>
          </a:p>
          <a:p>
            <a:r>
              <a:rPr sz="1600" dirty="0"/>
              <a:t>  Amazon</a:t>
            </a:r>
          </a:p>
          <a:p>
            <a:r>
              <a:rPr sz="1600" dirty="0"/>
              <a:t>  Microsoft</a:t>
            </a:r>
          </a:p>
          <a:p>
            <a:r>
              <a:rPr sz="1600" dirty="0"/>
              <a:t>  Meta</a:t>
            </a:r>
          </a:p>
        </p:txBody>
      </p:sp>
      <p:sp>
        <p:nvSpPr>
          <p:cNvPr id="29" name="Text 27"/>
          <p:cNvSpPr/>
          <p:nvPr/>
        </p:nvSpPr>
        <p:spPr>
          <a:xfrm>
            <a:off x="8641080" y="4645152"/>
            <a:ext cx="2377440" cy="685800"/>
          </a:xfrm>
          <a:prstGeom prst="rect">
            <a:avLst/>
          </a:prstGeom>
          <a:noFill/>
          <a:ln/>
        </p:spPr>
        <p:txBody>
          <a:bodyPr wrap="square" lIns="0" tIns="0" rIns="0" bIns="0" rtlCol="0" anchor="ctr">
            <a:normAutofit fontScale="92500"/>
          </a:bodyPr>
          <a:lstStyle/>
          <a:p>
            <a:r>
              <a:rPr sz="1500" dirty="0"/>
              <a:t>These omissions make the basket conservative: none of their AI-related valuation is counted.</a:t>
            </a:r>
          </a:p>
        </p:txBody>
      </p:sp>
      <p:sp>
        <p:nvSpPr>
          <p:cNvPr id="30" name="Text 28"/>
          <p:cNvSpPr/>
          <p:nvPr/>
        </p:nvSpPr>
        <p:spPr>
          <a:xfrm>
            <a:off x="1051560" y="5513832"/>
            <a:ext cx="10058400" cy="530352"/>
          </a:xfrm>
          <a:prstGeom prst="rect">
            <a:avLst/>
          </a:prstGeom>
          <a:noFill/>
          <a:ln/>
        </p:spPr>
        <p:txBody>
          <a:bodyPr wrap="square" lIns="0" tIns="0" rIns="0" bIns="0" rtlCol="0" anchor="ctr">
            <a:normAutofit lnSpcReduction="10000"/>
          </a:bodyPr>
          <a:lstStyle/>
          <a:p>
            <a:pPr algn="ctr"/>
            <a:r>
              <a:rPr sz="1800"/>
              <a:t>Illustrative bear scenarios put $4.74T–$8.02T of value at risk within this narrow basket, before wider market spillovers.</a:t>
            </a:r>
          </a:p>
        </p:txBody>
      </p:sp>
      <p:sp>
        <p:nvSpPr>
          <p:cNvPr id="25" name="Slide Number Placeholder 0"/>
          <p:cNvSpPr>
            <a:spLocks noGrp="1"/>
          </p:cNvSpPr>
          <p:nvPr>
            <p:ph type="sldNum" sz="quarter" idx="4294967295"/>
          </p:nvPr>
        </p:nvSpPr>
        <p:spPr>
          <a:xfrm>
            <a:off x="11780838" y="6492875"/>
            <a:ext cx="411162" cy="163513"/>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22</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43429"/>
            <a:ext cx="10698480" cy="400110"/>
          </a:xfrm>
          <a:prstGeom prst="rect">
            <a:avLst/>
          </a:prstGeom>
          <a:noFill/>
        </p:spPr>
        <p:txBody>
          <a:bodyPr wrap="square" lIns="27432" tIns="0" rIns="27432" bIns="0" anchor="ctr">
            <a:spAutoFit/>
          </a:bodyPr>
          <a:lstStyle/>
          <a:p>
            <a:pPr algn="l">
              <a:lnSpc>
                <a:spcPct val="100000"/>
              </a:lnSpc>
              <a:spcBef>
                <a:spcPts val="0"/>
              </a:spcBef>
              <a:spcAft>
                <a:spcPts val="0"/>
              </a:spcAft>
            </a:pPr>
            <a:r>
              <a:rPr sz="2600" b="1" i="0" dirty="0">
                <a:solidFill>
                  <a:srgbClr val="022169"/>
                </a:solidFill>
                <a:latin typeface="EB Garamond"/>
              </a:rPr>
              <a:t>Conservative bear: slower </a:t>
            </a:r>
            <a:r>
              <a:rPr lang="en-US" sz="2600" b="1" i="0" dirty="0">
                <a:solidFill>
                  <a:srgbClr val="022169"/>
                </a:solidFill>
                <a:latin typeface="EB Garamond"/>
              </a:rPr>
              <a:t>implies</a:t>
            </a:r>
            <a:r>
              <a:rPr sz="2600" b="1" i="0" dirty="0">
                <a:solidFill>
                  <a:srgbClr val="022169"/>
                </a:solidFill>
                <a:latin typeface="EB Garamond"/>
              </a:rPr>
              <a:t> puts $4.74T at risk</a:t>
            </a:r>
          </a:p>
        </p:txBody>
      </p:sp>
      <p:sp>
        <p:nvSpPr>
          <p:cNvPr id="3" name="TextBox 2"/>
          <p:cNvSpPr txBox="1"/>
          <p:nvPr/>
        </p:nvSpPr>
        <p:spPr>
          <a:xfrm>
            <a:off x="905256" y="886968"/>
            <a:ext cx="10561320" cy="585216"/>
          </a:xfrm>
          <a:prstGeom prst="rect">
            <a:avLst/>
          </a:prstGeom>
          <a:noFill/>
        </p:spPr>
        <p:txBody>
          <a:bodyPr wrap="square" lIns="27432" tIns="0" rIns="27432" bIns="0" anchor="ctr">
            <a:spAutoFit/>
          </a:bodyPr>
          <a:lstStyle/>
          <a:p>
            <a:pPr algn="l">
              <a:lnSpc>
                <a:spcPct val="100000"/>
              </a:lnSpc>
              <a:spcBef>
                <a:spcPts val="0"/>
              </a:spcBef>
              <a:spcAft>
                <a:spcPts val="0"/>
              </a:spcAft>
            </a:pPr>
            <a:r>
              <a:rPr sz="1700" b="0" i="0">
                <a:solidFill>
                  <a:srgbClr val="1F2A37"/>
                </a:solidFill>
                <a:latin typeface="EB Garamond"/>
              </a:rPr>
              <a:t>Nvidia grows +68% in FY2028 and +15% in FY2029, versus +30.5% FY2029 consensus. Apply the fitted ~49% correction.</a:t>
            </a:r>
          </a:p>
        </p:txBody>
      </p:sp>
      <p:sp>
        <p:nvSpPr>
          <p:cNvPr id="4" name="Rounded Rectangle 3"/>
          <p:cNvSpPr/>
          <p:nvPr/>
        </p:nvSpPr>
        <p:spPr>
          <a:xfrm>
            <a:off x="850392" y="1636776"/>
            <a:ext cx="3685032" cy="2523744"/>
          </a:xfrm>
          <a:prstGeom prst="roundRect">
            <a:avLst>
              <a:gd name="adj" fmla="val 12000"/>
            </a:avLst>
          </a:prstGeom>
          <a:solidFill>
            <a:srgbClr val="F4F8FA"/>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96696" y="1746504"/>
            <a:ext cx="3392424" cy="31089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1" i="0">
                <a:solidFill>
                  <a:srgbClr val="022169"/>
                </a:solidFill>
                <a:latin typeface="EB Garamond"/>
              </a:rPr>
              <a:t>NVIDIA</a:t>
            </a:r>
          </a:p>
        </p:txBody>
      </p:sp>
      <p:sp>
        <p:nvSpPr>
          <p:cNvPr id="6" name="TextBox 5"/>
          <p:cNvSpPr txBox="1"/>
          <p:nvPr/>
        </p:nvSpPr>
        <p:spPr>
          <a:xfrm>
            <a:off x="923544" y="2167128"/>
            <a:ext cx="3538728" cy="658368"/>
          </a:xfrm>
          <a:prstGeom prst="rect">
            <a:avLst/>
          </a:prstGeom>
          <a:noFill/>
        </p:spPr>
        <p:txBody>
          <a:bodyPr wrap="square" lIns="27432" tIns="0" rIns="27432" bIns="0" anchor="ctr">
            <a:spAutoFit/>
          </a:bodyPr>
          <a:lstStyle/>
          <a:p>
            <a:pPr algn="ctr">
              <a:lnSpc>
                <a:spcPct val="100000"/>
              </a:lnSpc>
              <a:spcBef>
                <a:spcPts val="0"/>
              </a:spcBef>
              <a:spcAft>
                <a:spcPts val="0"/>
              </a:spcAft>
            </a:pPr>
            <a:r>
              <a:rPr sz="3700" b="1" i="0">
                <a:solidFill>
                  <a:srgbClr val="0072CE"/>
                </a:solidFill>
                <a:latin typeface="EB Garamond"/>
              </a:rPr>
              <a:t>$2.58T</a:t>
            </a:r>
          </a:p>
        </p:txBody>
      </p:sp>
      <p:sp>
        <p:nvSpPr>
          <p:cNvPr id="7" name="TextBox 6"/>
          <p:cNvSpPr txBox="1"/>
          <p:nvPr/>
        </p:nvSpPr>
        <p:spPr>
          <a:xfrm>
            <a:off x="960120" y="2953512"/>
            <a:ext cx="3465576"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0" i="0">
                <a:solidFill>
                  <a:srgbClr val="1F2A37"/>
                </a:solidFill>
                <a:latin typeface="EB Garamond"/>
              </a:rPr>
              <a:t>FY2029 sales $798B  |  -11.7% vs consensus</a:t>
            </a:r>
          </a:p>
        </p:txBody>
      </p:sp>
      <p:sp>
        <p:nvSpPr>
          <p:cNvPr id="8" name="TextBox 7"/>
          <p:cNvSpPr txBox="1"/>
          <p:nvPr/>
        </p:nvSpPr>
        <p:spPr>
          <a:xfrm>
            <a:off x="996696" y="3410712"/>
            <a:ext cx="3392424" cy="576072"/>
          </a:xfrm>
          <a:prstGeom prst="rect">
            <a:avLst/>
          </a:prstGeom>
          <a:noFill/>
        </p:spPr>
        <p:txBody>
          <a:bodyPr wrap="square" lIns="27432" tIns="0" rIns="27432" bIns="0" anchor="ctr">
            <a:spAutoFit/>
          </a:bodyPr>
          <a:lstStyle/>
          <a:p>
            <a:pPr algn="ctr">
              <a:lnSpc>
                <a:spcPct val="100000"/>
              </a:lnSpc>
              <a:spcBef>
                <a:spcPts val="0"/>
              </a:spcBef>
              <a:spcAft>
                <a:spcPts val="0"/>
              </a:spcAft>
            </a:pPr>
            <a:r>
              <a:rPr sz="1400" b="0" i="0">
                <a:solidFill>
                  <a:srgbClr val="5F6973"/>
                </a:solidFill>
                <a:latin typeface="EB Garamond"/>
              </a:rPr>
              <a:t>Historical EPS regression mechanically implies a ~49% equity haircut (out of sample).</a:t>
            </a:r>
          </a:p>
        </p:txBody>
      </p:sp>
      <p:sp>
        <p:nvSpPr>
          <p:cNvPr id="9" name="Rounded Rectangle 8"/>
          <p:cNvSpPr/>
          <p:nvPr/>
        </p:nvSpPr>
        <p:spPr>
          <a:xfrm>
            <a:off x="4636008" y="1636776"/>
            <a:ext cx="3255264" cy="2523744"/>
          </a:xfrm>
          <a:prstGeom prst="roundRect">
            <a:avLst>
              <a:gd name="adj" fmla="val 12000"/>
            </a:avLst>
          </a:prstGeom>
          <a:solidFill>
            <a:srgbClr val="F4F8FA"/>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82312" y="1746504"/>
            <a:ext cx="2962656" cy="31089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1" i="0">
                <a:solidFill>
                  <a:srgbClr val="022169"/>
                </a:solidFill>
                <a:latin typeface="EB Garamond"/>
              </a:rPr>
              <a:t>FRONTIER AI</a:t>
            </a:r>
          </a:p>
        </p:txBody>
      </p:sp>
      <p:sp>
        <p:nvSpPr>
          <p:cNvPr id="11" name="TextBox 10"/>
          <p:cNvSpPr txBox="1"/>
          <p:nvPr/>
        </p:nvSpPr>
        <p:spPr>
          <a:xfrm>
            <a:off x="4709160" y="2167128"/>
            <a:ext cx="3108960" cy="658368"/>
          </a:xfrm>
          <a:prstGeom prst="rect">
            <a:avLst/>
          </a:prstGeom>
          <a:noFill/>
        </p:spPr>
        <p:txBody>
          <a:bodyPr wrap="square" lIns="27432" tIns="0" rIns="27432" bIns="0" anchor="ctr">
            <a:spAutoFit/>
          </a:bodyPr>
          <a:lstStyle/>
          <a:p>
            <a:pPr algn="ctr">
              <a:lnSpc>
                <a:spcPct val="100000"/>
              </a:lnSpc>
              <a:spcBef>
                <a:spcPts val="0"/>
              </a:spcBef>
              <a:spcAft>
                <a:spcPts val="0"/>
              </a:spcAft>
            </a:pPr>
            <a:r>
              <a:rPr sz="3700" b="1" i="0">
                <a:solidFill>
                  <a:srgbClr val="0072CE"/>
                </a:solidFill>
                <a:latin typeface="EB Garamond"/>
              </a:rPr>
              <a:t>$1.00T</a:t>
            </a:r>
          </a:p>
        </p:txBody>
      </p:sp>
      <p:sp>
        <p:nvSpPr>
          <p:cNvPr id="12" name="TextBox 11"/>
          <p:cNvSpPr txBox="1"/>
          <p:nvPr/>
        </p:nvSpPr>
        <p:spPr>
          <a:xfrm>
            <a:off x="4745736" y="2953512"/>
            <a:ext cx="3035808"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600" b="0" i="0">
                <a:solidFill>
                  <a:srgbClr val="1F2A37"/>
                </a:solidFill>
                <a:latin typeface="EB Garamond"/>
              </a:rPr>
              <a:t>OpenAI, Anthropic, xAI</a:t>
            </a:r>
          </a:p>
        </p:txBody>
      </p:sp>
      <p:sp>
        <p:nvSpPr>
          <p:cNvPr id="13" name="TextBox 12"/>
          <p:cNvSpPr txBox="1"/>
          <p:nvPr/>
        </p:nvSpPr>
        <p:spPr>
          <a:xfrm>
            <a:off x="4782312" y="3410712"/>
            <a:ext cx="2962656" cy="576072"/>
          </a:xfrm>
          <a:prstGeom prst="rect">
            <a:avLst/>
          </a:prstGeom>
          <a:noFill/>
        </p:spPr>
        <p:txBody>
          <a:bodyPr wrap="square" lIns="27432" tIns="0" rIns="27432" bIns="0" anchor="ctr">
            <a:spAutoFit/>
          </a:bodyPr>
          <a:lstStyle/>
          <a:p>
            <a:pPr algn="ctr">
              <a:lnSpc>
                <a:spcPct val="100000"/>
              </a:lnSpc>
              <a:spcBef>
                <a:spcPts val="0"/>
              </a:spcBef>
              <a:spcAft>
                <a:spcPts val="0"/>
              </a:spcAft>
            </a:pPr>
            <a:r>
              <a:rPr sz="1400" b="0" i="0">
                <a:solidFill>
                  <a:srgbClr val="5F6973"/>
                </a:solidFill>
                <a:latin typeface="EB Garamond"/>
              </a:rPr>
              <a:t>Talent, infrastructure, and customer advantages persist</a:t>
            </a:r>
          </a:p>
        </p:txBody>
      </p:sp>
      <p:sp>
        <p:nvSpPr>
          <p:cNvPr id="14" name="Rounded Rectangle 13"/>
          <p:cNvSpPr/>
          <p:nvPr/>
        </p:nvSpPr>
        <p:spPr>
          <a:xfrm>
            <a:off x="8001000" y="1636776"/>
            <a:ext cx="3310128" cy="2523744"/>
          </a:xfrm>
          <a:prstGeom prst="roundRect">
            <a:avLst>
              <a:gd name="adj" fmla="val 12000"/>
            </a:avLst>
          </a:prstGeom>
          <a:solidFill>
            <a:srgbClr val="F4F8FA"/>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47304" y="1746504"/>
            <a:ext cx="3017520" cy="31089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1" i="0">
                <a:solidFill>
                  <a:srgbClr val="022169"/>
                </a:solidFill>
                <a:latin typeface="EB Garamond"/>
              </a:rPr>
              <a:t>SPACEX CORE</a:t>
            </a:r>
          </a:p>
        </p:txBody>
      </p:sp>
      <p:sp>
        <p:nvSpPr>
          <p:cNvPr id="16" name="TextBox 15"/>
          <p:cNvSpPr txBox="1"/>
          <p:nvPr/>
        </p:nvSpPr>
        <p:spPr>
          <a:xfrm>
            <a:off x="8074152" y="2167128"/>
            <a:ext cx="3163824" cy="658368"/>
          </a:xfrm>
          <a:prstGeom prst="rect">
            <a:avLst/>
          </a:prstGeom>
          <a:noFill/>
        </p:spPr>
        <p:txBody>
          <a:bodyPr wrap="square" lIns="27432" tIns="0" rIns="27432" bIns="0" anchor="ctr">
            <a:spAutoFit/>
          </a:bodyPr>
          <a:lstStyle/>
          <a:p>
            <a:pPr algn="ctr">
              <a:lnSpc>
                <a:spcPct val="100000"/>
              </a:lnSpc>
              <a:spcBef>
                <a:spcPts val="0"/>
              </a:spcBef>
              <a:spcAft>
                <a:spcPts val="0"/>
              </a:spcAft>
            </a:pPr>
            <a:r>
              <a:rPr sz="3700" b="1" i="0">
                <a:solidFill>
                  <a:srgbClr val="0072CE"/>
                </a:solidFill>
                <a:latin typeface="EB Garamond"/>
              </a:rPr>
              <a:t>$1.68T</a:t>
            </a:r>
          </a:p>
        </p:txBody>
      </p:sp>
      <p:sp>
        <p:nvSpPr>
          <p:cNvPr id="17" name="TextBox 16"/>
          <p:cNvSpPr txBox="1"/>
          <p:nvPr/>
        </p:nvSpPr>
        <p:spPr>
          <a:xfrm>
            <a:off x="8110727" y="2953512"/>
            <a:ext cx="3090672"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600" b="0" i="0">
                <a:solidFill>
                  <a:srgbClr val="1F2A37"/>
                </a:solidFill>
                <a:latin typeface="EB Garamond"/>
              </a:rPr>
              <a:t>Launch and connectivity</a:t>
            </a:r>
          </a:p>
        </p:txBody>
      </p:sp>
      <p:sp>
        <p:nvSpPr>
          <p:cNvPr id="18" name="TextBox 17"/>
          <p:cNvSpPr txBox="1"/>
          <p:nvPr/>
        </p:nvSpPr>
        <p:spPr>
          <a:xfrm>
            <a:off x="8147304" y="3410712"/>
            <a:ext cx="3017520" cy="576072"/>
          </a:xfrm>
          <a:prstGeom prst="rect">
            <a:avLst/>
          </a:prstGeom>
          <a:noFill/>
        </p:spPr>
        <p:txBody>
          <a:bodyPr wrap="square" lIns="27432" tIns="0" rIns="27432" bIns="0" anchor="ctr">
            <a:spAutoFit/>
          </a:bodyPr>
          <a:lstStyle/>
          <a:p>
            <a:pPr algn="ctr">
              <a:lnSpc>
                <a:spcPct val="100000"/>
              </a:lnSpc>
              <a:spcBef>
                <a:spcPts val="0"/>
              </a:spcBef>
              <a:spcAft>
                <a:spcPts val="0"/>
              </a:spcAft>
            </a:pPr>
            <a:r>
              <a:rPr sz="1400" b="0" i="0">
                <a:solidFill>
                  <a:srgbClr val="5F6973"/>
                </a:solidFill>
                <a:latin typeface="EB Garamond"/>
              </a:rPr>
              <a:t>Morgan Stanley: 52× 2028E EBITDA
(very generous multiple)</a:t>
            </a:r>
          </a:p>
        </p:txBody>
      </p:sp>
      <p:sp>
        <p:nvSpPr>
          <p:cNvPr id="19" name="TextBox 18"/>
          <p:cNvSpPr txBox="1"/>
          <p:nvPr/>
        </p:nvSpPr>
        <p:spPr>
          <a:xfrm>
            <a:off x="868680" y="4352544"/>
            <a:ext cx="9966960" cy="274320"/>
          </a:xfrm>
          <a:prstGeom prst="rect">
            <a:avLst/>
          </a:prstGeom>
          <a:noFill/>
        </p:spPr>
        <p:txBody>
          <a:bodyPr wrap="square" lIns="27432" tIns="0" rIns="27432" bIns="0" anchor="ctr">
            <a:spAutoFit/>
          </a:bodyPr>
          <a:lstStyle/>
          <a:p>
            <a:pPr algn="l">
              <a:lnSpc>
                <a:spcPct val="100000"/>
              </a:lnSpc>
              <a:spcBef>
                <a:spcPts val="0"/>
              </a:spcBef>
              <a:spcAft>
                <a:spcPts val="0"/>
              </a:spcAft>
            </a:pPr>
            <a:r>
              <a:rPr sz="1700" b="1" i="0">
                <a:solidFill>
                  <a:srgbClr val="022169"/>
                </a:solidFill>
                <a:latin typeface="EB Garamond"/>
              </a:rPr>
              <a:t>Valuation of selected four-company basket</a:t>
            </a:r>
          </a:p>
        </p:txBody>
      </p:sp>
      <p:sp>
        <p:nvSpPr>
          <p:cNvPr id="20" name="Rectangle 19"/>
          <p:cNvSpPr/>
          <p:nvPr/>
        </p:nvSpPr>
        <p:spPr>
          <a:xfrm>
            <a:off x="886968" y="4764024"/>
            <a:ext cx="5478601" cy="393192"/>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365569" y="4764024"/>
            <a:ext cx="4936415" cy="393192"/>
          </a:xfrm>
          <a:prstGeom prst="rect">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6968" y="5212080"/>
            <a:ext cx="5120640" cy="292608"/>
          </a:xfrm>
          <a:prstGeom prst="rect">
            <a:avLst/>
          </a:prstGeom>
          <a:noFill/>
        </p:spPr>
        <p:txBody>
          <a:bodyPr wrap="square" lIns="27432" tIns="0" rIns="27432" bIns="0" anchor="ctr">
            <a:spAutoFit/>
          </a:bodyPr>
          <a:lstStyle/>
          <a:p>
            <a:pPr algn="l">
              <a:lnSpc>
                <a:spcPct val="100000"/>
              </a:lnSpc>
              <a:spcBef>
                <a:spcPts val="0"/>
              </a:spcBef>
              <a:spcAft>
                <a:spcPts val="0"/>
              </a:spcAft>
            </a:pPr>
            <a:r>
              <a:rPr sz="1600" b="1" i="0">
                <a:solidFill>
                  <a:srgbClr val="0072CE"/>
                </a:solidFill>
                <a:latin typeface="EB Garamond"/>
              </a:rPr>
              <a:t>Scenario value  $5.26T</a:t>
            </a:r>
          </a:p>
        </p:txBody>
      </p:sp>
      <p:sp>
        <p:nvSpPr>
          <p:cNvPr id="23" name="TextBox 22"/>
          <p:cNvSpPr txBox="1"/>
          <p:nvPr/>
        </p:nvSpPr>
        <p:spPr>
          <a:xfrm>
            <a:off x="6419088" y="5212080"/>
            <a:ext cx="4937760" cy="292608"/>
          </a:xfrm>
          <a:prstGeom prst="rect">
            <a:avLst/>
          </a:prstGeom>
          <a:noFill/>
        </p:spPr>
        <p:txBody>
          <a:bodyPr wrap="square" lIns="27432" tIns="0" rIns="27432" bIns="0" anchor="ctr">
            <a:spAutoFit/>
          </a:bodyPr>
          <a:lstStyle/>
          <a:p>
            <a:pPr algn="r">
              <a:lnSpc>
                <a:spcPct val="100000"/>
              </a:lnSpc>
              <a:spcBef>
                <a:spcPts val="0"/>
              </a:spcBef>
              <a:spcAft>
                <a:spcPts val="0"/>
              </a:spcAft>
            </a:pPr>
            <a:r>
              <a:rPr sz="1600" b="1" i="0">
                <a:solidFill>
                  <a:srgbClr val="022169"/>
                </a:solidFill>
                <a:latin typeface="EB Garamond"/>
              </a:rPr>
              <a:t>Potential repricing  $4.74T</a:t>
            </a:r>
          </a:p>
        </p:txBody>
      </p:sp>
      <p:sp>
        <p:nvSpPr>
          <p:cNvPr id="24" name="Rounded Rectangle 23"/>
          <p:cNvSpPr/>
          <p:nvPr/>
        </p:nvSpPr>
        <p:spPr>
          <a:xfrm>
            <a:off x="850392" y="5632704"/>
            <a:ext cx="10515600" cy="475488"/>
          </a:xfrm>
          <a:prstGeom prst="roundRect">
            <a:avLst>
              <a:gd name="adj" fmla="val 12000"/>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1832" y="5660136"/>
            <a:ext cx="10287000"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800" b="1" i="0">
                <a:solidFill>
                  <a:srgbClr val="FFFFFF"/>
                </a:solidFill>
                <a:latin typeface="EB Garamond"/>
              </a:rPr>
              <a:t>Illustrative valuation at risk:  $4.74T   (47.4% of the $9.99T basket)</a:t>
            </a:r>
          </a:p>
        </p:txBody>
      </p:sp>
      <p:sp>
        <p:nvSpPr>
          <p:cNvPr id="26" name="TextBox 25"/>
          <p:cNvSpPr txBox="1"/>
          <p:nvPr/>
        </p:nvSpPr>
        <p:spPr>
          <a:xfrm>
            <a:off x="448056" y="6245352"/>
            <a:ext cx="11247120" cy="210312"/>
          </a:xfrm>
          <a:prstGeom prst="rect">
            <a:avLst/>
          </a:prstGeom>
          <a:noFill/>
        </p:spPr>
        <p:txBody>
          <a:bodyPr wrap="square" lIns="27432" tIns="0" rIns="27432" bIns="0" anchor="ctr">
            <a:spAutoFit/>
          </a:bodyPr>
          <a:lstStyle/>
          <a:p>
            <a:pPr algn="l">
              <a:lnSpc>
                <a:spcPct val="100000"/>
              </a:lnSpc>
              <a:spcBef>
                <a:spcPts val="0"/>
              </a:spcBef>
              <a:spcAft>
                <a:spcPts val="0"/>
              </a:spcAft>
            </a:pPr>
            <a:r>
              <a:rPr sz="880" b="0" i="0">
                <a:solidFill>
                  <a:srgbClr val="5F6973"/>
                </a:solidFill>
                <a:latin typeface="EB Garamond"/>
              </a:rPr>
              <a:t>Sources: Nvidia cap $5.094T (Oct. 23, YCharts); FY2029 consensus $903.19B (MarketScreener); fitted return ≈−49.4% (out of sample); Morgan Stanley SpaceX core estimate.</a:t>
            </a:r>
          </a:p>
        </p:txBody>
      </p:sp>
      <p:sp>
        <p:nvSpPr>
          <p:cNvPr id="28" name="TextBox 27"/>
          <p:cNvSpPr txBox="1"/>
          <p:nvPr/>
        </p:nvSpPr>
        <p:spPr>
          <a:xfrm>
            <a:off x="11347704" y="6574536"/>
            <a:ext cx="411480" cy="146304"/>
          </a:xfrm>
          <a:prstGeom prst="rect">
            <a:avLst/>
          </a:prstGeom>
          <a:noFill/>
        </p:spPr>
        <p:txBody>
          <a:bodyPr wrap="square" lIns="27432" tIns="0" rIns="27432" bIns="0" anchor="ctr">
            <a:spAutoFit/>
          </a:bodyPr>
          <a:lstStyle/>
          <a:p>
            <a:r>
              <a:rPr sz="900">
                <a:solidFill>
                  <a:srgbClr val="5F6973"/>
                </a:solidFill>
                <a:latin typeface="Aptos"/>
              </a:rPr>
              <a:t>23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68680" y="219456"/>
            <a:ext cx="10698480" cy="448056"/>
          </a:xfrm>
          <a:prstGeom prst="rect">
            <a:avLst/>
          </a:prstGeom>
          <a:noFill/>
        </p:spPr>
        <p:txBody>
          <a:bodyPr wrap="square" lIns="27432" tIns="0" rIns="27432" bIns="0" anchor="ctr">
            <a:spAutoFit/>
          </a:bodyPr>
          <a:lstStyle/>
          <a:p>
            <a:pPr algn="l">
              <a:lnSpc>
                <a:spcPct val="100000"/>
              </a:lnSpc>
              <a:spcBef>
                <a:spcPts val="0"/>
              </a:spcBef>
              <a:spcAft>
                <a:spcPts val="0"/>
              </a:spcAft>
            </a:pPr>
            <a:r>
              <a:rPr sz="2600" b="1" i="0">
                <a:solidFill>
                  <a:srgbClr val="022169"/>
                </a:solidFill>
                <a:latin typeface="EB Garamond"/>
              </a:rPr>
              <a:t>Extreme bear: flat FY2029 implies $8.02T at risk</a:t>
            </a:r>
          </a:p>
        </p:txBody>
      </p:sp>
      <p:sp>
        <p:nvSpPr>
          <p:cNvPr id="3" name="TextBox 2"/>
          <p:cNvSpPr txBox="1"/>
          <p:nvPr/>
        </p:nvSpPr>
        <p:spPr>
          <a:xfrm>
            <a:off x="905256" y="886968"/>
            <a:ext cx="10561320" cy="585216"/>
          </a:xfrm>
          <a:prstGeom prst="rect">
            <a:avLst/>
          </a:prstGeom>
          <a:noFill/>
        </p:spPr>
        <p:txBody>
          <a:bodyPr wrap="square" lIns="27432" tIns="0" rIns="27432" bIns="0" anchor="ctr">
            <a:spAutoFit/>
          </a:bodyPr>
          <a:lstStyle/>
          <a:p>
            <a:pPr algn="l">
              <a:lnSpc>
                <a:spcPct val="100000"/>
              </a:lnSpc>
              <a:spcBef>
                <a:spcPts val="0"/>
              </a:spcBef>
              <a:spcAft>
                <a:spcPts val="0"/>
              </a:spcAft>
            </a:pPr>
            <a:r>
              <a:rPr sz="1700" b="0" i="0">
                <a:solidFill>
                  <a:srgbClr val="1F2A37"/>
                </a:solidFill>
                <a:latin typeface="EB Garamond"/>
              </a:rPr>
              <a:t>Nvidia reaches FY2028 consensus, then revenue stalls at $692B in FY2029 rather than rising to $903B (+30.5%).</a:t>
            </a:r>
          </a:p>
        </p:txBody>
      </p:sp>
      <p:sp>
        <p:nvSpPr>
          <p:cNvPr id="4" name="Rounded Rectangle 3"/>
          <p:cNvSpPr/>
          <p:nvPr/>
        </p:nvSpPr>
        <p:spPr>
          <a:xfrm>
            <a:off x="850392" y="1636776"/>
            <a:ext cx="3685032" cy="2523744"/>
          </a:xfrm>
          <a:prstGeom prst="roundRect">
            <a:avLst>
              <a:gd name="adj" fmla="val 12000"/>
            </a:avLst>
          </a:prstGeom>
          <a:solidFill>
            <a:srgbClr val="F4F8FA"/>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96696" y="1746504"/>
            <a:ext cx="3392424" cy="31089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1" i="0">
                <a:solidFill>
                  <a:srgbClr val="022169"/>
                </a:solidFill>
                <a:latin typeface="EB Garamond"/>
              </a:rPr>
              <a:t>NVIDIA</a:t>
            </a:r>
          </a:p>
        </p:txBody>
      </p:sp>
      <p:sp>
        <p:nvSpPr>
          <p:cNvPr id="6" name="TextBox 5"/>
          <p:cNvSpPr txBox="1"/>
          <p:nvPr/>
        </p:nvSpPr>
        <p:spPr>
          <a:xfrm>
            <a:off x="923544" y="2167128"/>
            <a:ext cx="3538728" cy="658368"/>
          </a:xfrm>
          <a:prstGeom prst="rect">
            <a:avLst/>
          </a:prstGeom>
          <a:noFill/>
        </p:spPr>
        <p:txBody>
          <a:bodyPr wrap="square" lIns="27432" tIns="0" rIns="27432" bIns="0" anchor="ctr">
            <a:spAutoFit/>
          </a:bodyPr>
          <a:lstStyle/>
          <a:p>
            <a:pPr algn="ctr">
              <a:lnSpc>
                <a:spcPct val="100000"/>
              </a:lnSpc>
              <a:spcBef>
                <a:spcPts val="0"/>
              </a:spcBef>
              <a:spcAft>
                <a:spcPts val="0"/>
              </a:spcAft>
            </a:pPr>
            <a:r>
              <a:rPr sz="3700" b="1" i="0">
                <a:solidFill>
                  <a:srgbClr val="0072CE"/>
                </a:solidFill>
                <a:latin typeface="EB Garamond"/>
              </a:rPr>
              <a:t>$0.98T</a:t>
            </a:r>
          </a:p>
        </p:txBody>
      </p:sp>
      <p:sp>
        <p:nvSpPr>
          <p:cNvPr id="7" name="TextBox 6"/>
          <p:cNvSpPr txBox="1"/>
          <p:nvPr/>
        </p:nvSpPr>
        <p:spPr>
          <a:xfrm>
            <a:off x="960120" y="2953512"/>
            <a:ext cx="3465576"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0" i="0">
                <a:solidFill>
                  <a:srgbClr val="1F2A37"/>
                </a:solidFill>
                <a:latin typeface="EB Garamond"/>
              </a:rPr>
              <a:t>FY2029 sales $692B  |  -23.4% vs consensus</a:t>
            </a:r>
          </a:p>
        </p:txBody>
      </p:sp>
      <p:sp>
        <p:nvSpPr>
          <p:cNvPr id="8" name="TextBox 7"/>
          <p:cNvSpPr txBox="1"/>
          <p:nvPr/>
        </p:nvSpPr>
        <p:spPr>
          <a:xfrm>
            <a:off x="996696" y="3410712"/>
            <a:ext cx="3392424" cy="576072"/>
          </a:xfrm>
          <a:prstGeom prst="rect">
            <a:avLst/>
          </a:prstGeom>
          <a:noFill/>
        </p:spPr>
        <p:txBody>
          <a:bodyPr wrap="square" lIns="27432" tIns="0" rIns="27432" bIns="0" anchor="ctr">
            <a:spAutoFit/>
          </a:bodyPr>
          <a:lstStyle/>
          <a:p>
            <a:pPr algn="ctr">
              <a:lnSpc>
                <a:spcPct val="100000"/>
              </a:lnSpc>
              <a:spcBef>
                <a:spcPts val="0"/>
              </a:spcBef>
              <a:spcAft>
                <a:spcPts val="0"/>
              </a:spcAft>
            </a:pPr>
            <a:r>
              <a:rPr sz="1400" b="0" i="0">
                <a:solidFill>
                  <a:srgbClr val="5F6973"/>
                </a:solidFill>
                <a:latin typeface="EB Garamond"/>
              </a:rPr>
              <a:t>Historical EPS regression mechanically implies a ~81% equity haircut (out of sample).</a:t>
            </a:r>
          </a:p>
        </p:txBody>
      </p:sp>
      <p:sp>
        <p:nvSpPr>
          <p:cNvPr id="9" name="Rounded Rectangle 8"/>
          <p:cNvSpPr/>
          <p:nvPr/>
        </p:nvSpPr>
        <p:spPr>
          <a:xfrm>
            <a:off x="4636008" y="1636776"/>
            <a:ext cx="3255264" cy="2523744"/>
          </a:xfrm>
          <a:prstGeom prst="roundRect">
            <a:avLst>
              <a:gd name="adj" fmla="val 12000"/>
            </a:avLst>
          </a:prstGeom>
          <a:solidFill>
            <a:srgbClr val="F4F8FA"/>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782312" y="1746504"/>
            <a:ext cx="2962656" cy="31089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1" i="0">
                <a:solidFill>
                  <a:srgbClr val="022169"/>
                </a:solidFill>
                <a:latin typeface="EB Garamond"/>
              </a:rPr>
              <a:t>FRONTIER AI</a:t>
            </a:r>
          </a:p>
        </p:txBody>
      </p:sp>
      <p:sp>
        <p:nvSpPr>
          <p:cNvPr id="11" name="TextBox 10"/>
          <p:cNvSpPr txBox="1"/>
          <p:nvPr/>
        </p:nvSpPr>
        <p:spPr>
          <a:xfrm>
            <a:off x="4709160" y="2167128"/>
            <a:ext cx="3108960" cy="658368"/>
          </a:xfrm>
          <a:prstGeom prst="rect">
            <a:avLst/>
          </a:prstGeom>
          <a:noFill/>
        </p:spPr>
        <p:txBody>
          <a:bodyPr wrap="square" lIns="27432" tIns="0" rIns="27432" bIns="0" anchor="ctr">
            <a:spAutoFit/>
          </a:bodyPr>
          <a:lstStyle/>
          <a:p>
            <a:pPr algn="ctr">
              <a:lnSpc>
                <a:spcPct val="100000"/>
              </a:lnSpc>
              <a:spcBef>
                <a:spcPts val="0"/>
              </a:spcBef>
              <a:spcAft>
                <a:spcPts val="0"/>
              </a:spcAft>
            </a:pPr>
            <a:r>
              <a:rPr sz="3700" b="1" i="0">
                <a:solidFill>
                  <a:srgbClr val="0072CE"/>
                </a:solidFill>
                <a:latin typeface="EB Garamond"/>
              </a:rPr>
              <a:t>$0</a:t>
            </a:r>
          </a:p>
        </p:txBody>
      </p:sp>
      <p:sp>
        <p:nvSpPr>
          <p:cNvPr id="12" name="TextBox 11"/>
          <p:cNvSpPr txBox="1"/>
          <p:nvPr/>
        </p:nvSpPr>
        <p:spPr>
          <a:xfrm>
            <a:off x="4745736" y="2953512"/>
            <a:ext cx="3035808"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600" b="0" i="0">
                <a:solidFill>
                  <a:srgbClr val="1F2A37"/>
                </a:solidFill>
                <a:latin typeface="EB Garamond"/>
              </a:rPr>
              <a:t>OpenAI, Anthropic, xAI</a:t>
            </a:r>
          </a:p>
        </p:txBody>
      </p:sp>
      <p:sp>
        <p:nvSpPr>
          <p:cNvPr id="13" name="TextBox 12"/>
          <p:cNvSpPr txBox="1"/>
          <p:nvPr/>
        </p:nvSpPr>
        <p:spPr>
          <a:xfrm>
            <a:off x="4782312" y="3410712"/>
            <a:ext cx="2962656" cy="576072"/>
          </a:xfrm>
          <a:prstGeom prst="rect">
            <a:avLst/>
          </a:prstGeom>
          <a:noFill/>
        </p:spPr>
        <p:txBody>
          <a:bodyPr wrap="square" lIns="27432" tIns="0" rIns="27432" bIns="0" anchor="ctr">
            <a:spAutoFit/>
          </a:bodyPr>
          <a:lstStyle/>
          <a:p>
            <a:pPr algn="ctr">
              <a:lnSpc>
                <a:spcPct val="100000"/>
              </a:lnSpc>
              <a:spcBef>
                <a:spcPts val="0"/>
              </a:spcBef>
              <a:spcAft>
                <a:spcPts val="0"/>
              </a:spcAft>
            </a:pPr>
            <a:r>
              <a:rPr sz="1400" b="0" i="0">
                <a:solidFill>
                  <a:srgbClr val="5F6973"/>
                </a:solidFill>
                <a:latin typeface="EB Garamond"/>
              </a:rPr>
              <a:t>Zero residual equity value after commoditization</a:t>
            </a:r>
          </a:p>
        </p:txBody>
      </p:sp>
      <p:sp>
        <p:nvSpPr>
          <p:cNvPr id="14" name="Rounded Rectangle 13"/>
          <p:cNvSpPr/>
          <p:nvPr/>
        </p:nvSpPr>
        <p:spPr>
          <a:xfrm>
            <a:off x="8001000" y="1636776"/>
            <a:ext cx="3310128" cy="2523744"/>
          </a:xfrm>
          <a:prstGeom prst="roundRect">
            <a:avLst>
              <a:gd name="adj" fmla="val 12000"/>
            </a:avLst>
          </a:prstGeom>
          <a:solidFill>
            <a:srgbClr val="F4F8FA"/>
          </a:solidFill>
          <a:ln w="13970">
            <a:solidFill>
              <a:srgbClr val="B9D9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47304" y="1746504"/>
            <a:ext cx="3017520" cy="310896"/>
          </a:xfrm>
          <a:prstGeom prst="rect">
            <a:avLst/>
          </a:prstGeom>
          <a:noFill/>
        </p:spPr>
        <p:txBody>
          <a:bodyPr wrap="square" lIns="27432" tIns="0" rIns="27432" bIns="0" anchor="ctr">
            <a:spAutoFit/>
          </a:bodyPr>
          <a:lstStyle/>
          <a:p>
            <a:pPr algn="ctr">
              <a:lnSpc>
                <a:spcPct val="100000"/>
              </a:lnSpc>
              <a:spcBef>
                <a:spcPts val="0"/>
              </a:spcBef>
              <a:spcAft>
                <a:spcPts val="0"/>
              </a:spcAft>
            </a:pPr>
            <a:r>
              <a:rPr sz="1500" b="1" i="0">
                <a:solidFill>
                  <a:srgbClr val="022169"/>
                </a:solidFill>
                <a:latin typeface="EB Garamond"/>
              </a:rPr>
              <a:t>SPACEX CORE</a:t>
            </a:r>
          </a:p>
        </p:txBody>
      </p:sp>
      <p:sp>
        <p:nvSpPr>
          <p:cNvPr id="16" name="TextBox 15"/>
          <p:cNvSpPr txBox="1"/>
          <p:nvPr/>
        </p:nvSpPr>
        <p:spPr>
          <a:xfrm>
            <a:off x="8074152" y="2167128"/>
            <a:ext cx="3163824" cy="658368"/>
          </a:xfrm>
          <a:prstGeom prst="rect">
            <a:avLst/>
          </a:prstGeom>
          <a:noFill/>
        </p:spPr>
        <p:txBody>
          <a:bodyPr wrap="square" lIns="27432" tIns="0" rIns="27432" bIns="0" anchor="ctr">
            <a:spAutoFit/>
          </a:bodyPr>
          <a:lstStyle/>
          <a:p>
            <a:pPr algn="ctr">
              <a:lnSpc>
                <a:spcPct val="100000"/>
              </a:lnSpc>
              <a:spcBef>
                <a:spcPts val="0"/>
              </a:spcBef>
              <a:spcAft>
                <a:spcPts val="0"/>
              </a:spcAft>
            </a:pPr>
            <a:r>
              <a:rPr sz="3700" b="1" i="0">
                <a:solidFill>
                  <a:srgbClr val="0072CE"/>
                </a:solidFill>
                <a:latin typeface="EB Garamond"/>
              </a:rPr>
              <a:t>$1.00T</a:t>
            </a:r>
          </a:p>
        </p:txBody>
      </p:sp>
      <p:sp>
        <p:nvSpPr>
          <p:cNvPr id="17" name="TextBox 16"/>
          <p:cNvSpPr txBox="1"/>
          <p:nvPr/>
        </p:nvSpPr>
        <p:spPr>
          <a:xfrm>
            <a:off x="8110727" y="2953512"/>
            <a:ext cx="3090672"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600" b="0" i="0">
                <a:solidFill>
                  <a:srgbClr val="1F2A37"/>
                </a:solidFill>
                <a:latin typeface="EB Garamond"/>
              </a:rPr>
              <a:t>Launch and connectivity</a:t>
            </a:r>
          </a:p>
        </p:txBody>
      </p:sp>
      <p:sp>
        <p:nvSpPr>
          <p:cNvPr id="18" name="TextBox 17"/>
          <p:cNvSpPr txBox="1"/>
          <p:nvPr/>
        </p:nvSpPr>
        <p:spPr>
          <a:xfrm>
            <a:off x="8147304" y="3410712"/>
            <a:ext cx="3017520" cy="576072"/>
          </a:xfrm>
          <a:prstGeom prst="rect">
            <a:avLst/>
          </a:prstGeom>
          <a:noFill/>
        </p:spPr>
        <p:txBody>
          <a:bodyPr wrap="square" lIns="27432" tIns="0" rIns="27432" bIns="0" anchor="ctr">
            <a:spAutoFit/>
          </a:bodyPr>
          <a:lstStyle/>
          <a:p>
            <a:pPr algn="ctr">
              <a:lnSpc>
                <a:spcPct val="100000"/>
              </a:lnSpc>
              <a:spcBef>
                <a:spcPts val="0"/>
              </a:spcBef>
              <a:spcAft>
                <a:spcPts val="0"/>
              </a:spcAft>
            </a:pPr>
            <a:r>
              <a:rPr sz="1400" b="0" i="0">
                <a:solidFill>
                  <a:srgbClr val="5F6973"/>
                </a:solidFill>
                <a:latin typeface="EB Garamond"/>
              </a:rPr>
              <a:t>Reuters Feb. 2026 pre-xAI value
(transaction benchmark)</a:t>
            </a:r>
          </a:p>
        </p:txBody>
      </p:sp>
      <p:sp>
        <p:nvSpPr>
          <p:cNvPr id="19" name="TextBox 18"/>
          <p:cNvSpPr txBox="1"/>
          <p:nvPr/>
        </p:nvSpPr>
        <p:spPr>
          <a:xfrm>
            <a:off x="868680" y="4352544"/>
            <a:ext cx="9966960" cy="274320"/>
          </a:xfrm>
          <a:prstGeom prst="rect">
            <a:avLst/>
          </a:prstGeom>
          <a:noFill/>
        </p:spPr>
        <p:txBody>
          <a:bodyPr wrap="square" lIns="27432" tIns="0" rIns="27432" bIns="0" anchor="ctr">
            <a:spAutoFit/>
          </a:bodyPr>
          <a:lstStyle/>
          <a:p>
            <a:pPr algn="l">
              <a:lnSpc>
                <a:spcPct val="100000"/>
              </a:lnSpc>
              <a:spcBef>
                <a:spcPts val="0"/>
              </a:spcBef>
              <a:spcAft>
                <a:spcPts val="0"/>
              </a:spcAft>
            </a:pPr>
            <a:r>
              <a:rPr sz="1700" b="1" i="0">
                <a:solidFill>
                  <a:srgbClr val="022169"/>
                </a:solidFill>
                <a:latin typeface="EB Garamond"/>
              </a:rPr>
              <a:t>Valuation of selected four-company basket</a:t>
            </a:r>
          </a:p>
        </p:txBody>
      </p:sp>
      <p:sp>
        <p:nvSpPr>
          <p:cNvPr id="20" name="Rectangle 19"/>
          <p:cNvSpPr/>
          <p:nvPr/>
        </p:nvSpPr>
        <p:spPr>
          <a:xfrm>
            <a:off x="886968" y="4764024"/>
            <a:ext cx="2059951" cy="393192"/>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2946919" y="4764024"/>
            <a:ext cx="8355065" cy="393192"/>
          </a:xfrm>
          <a:prstGeom prst="rect">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86968" y="5212080"/>
            <a:ext cx="5120640" cy="292608"/>
          </a:xfrm>
          <a:prstGeom prst="rect">
            <a:avLst/>
          </a:prstGeom>
          <a:noFill/>
        </p:spPr>
        <p:txBody>
          <a:bodyPr wrap="square" lIns="27432" tIns="0" rIns="27432" bIns="0" anchor="ctr">
            <a:spAutoFit/>
          </a:bodyPr>
          <a:lstStyle/>
          <a:p>
            <a:pPr algn="l">
              <a:lnSpc>
                <a:spcPct val="100000"/>
              </a:lnSpc>
              <a:spcBef>
                <a:spcPts val="0"/>
              </a:spcBef>
              <a:spcAft>
                <a:spcPts val="0"/>
              </a:spcAft>
            </a:pPr>
            <a:r>
              <a:rPr sz="1600" b="1" i="0">
                <a:solidFill>
                  <a:srgbClr val="0072CE"/>
                </a:solidFill>
                <a:latin typeface="EB Garamond"/>
              </a:rPr>
              <a:t>Scenario value  $1.98T</a:t>
            </a:r>
          </a:p>
        </p:txBody>
      </p:sp>
      <p:sp>
        <p:nvSpPr>
          <p:cNvPr id="23" name="TextBox 22"/>
          <p:cNvSpPr txBox="1"/>
          <p:nvPr/>
        </p:nvSpPr>
        <p:spPr>
          <a:xfrm>
            <a:off x="6419088" y="5212080"/>
            <a:ext cx="4937760" cy="292608"/>
          </a:xfrm>
          <a:prstGeom prst="rect">
            <a:avLst/>
          </a:prstGeom>
          <a:noFill/>
        </p:spPr>
        <p:txBody>
          <a:bodyPr wrap="square" lIns="27432" tIns="0" rIns="27432" bIns="0" anchor="ctr">
            <a:spAutoFit/>
          </a:bodyPr>
          <a:lstStyle/>
          <a:p>
            <a:pPr algn="r">
              <a:lnSpc>
                <a:spcPct val="100000"/>
              </a:lnSpc>
              <a:spcBef>
                <a:spcPts val="0"/>
              </a:spcBef>
              <a:spcAft>
                <a:spcPts val="0"/>
              </a:spcAft>
            </a:pPr>
            <a:r>
              <a:rPr sz="1600" b="1" i="0">
                <a:solidFill>
                  <a:srgbClr val="022169"/>
                </a:solidFill>
                <a:latin typeface="EB Garamond"/>
              </a:rPr>
              <a:t>Potential repricing  $8.02T</a:t>
            </a:r>
          </a:p>
        </p:txBody>
      </p:sp>
      <p:sp>
        <p:nvSpPr>
          <p:cNvPr id="24" name="Rounded Rectangle 23"/>
          <p:cNvSpPr/>
          <p:nvPr/>
        </p:nvSpPr>
        <p:spPr>
          <a:xfrm>
            <a:off x="850392" y="5632704"/>
            <a:ext cx="10515600" cy="475488"/>
          </a:xfrm>
          <a:prstGeom prst="roundRect">
            <a:avLst>
              <a:gd name="adj" fmla="val 12000"/>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41832" y="5660136"/>
            <a:ext cx="10287000" cy="402336"/>
          </a:xfrm>
          <a:prstGeom prst="rect">
            <a:avLst/>
          </a:prstGeom>
          <a:noFill/>
        </p:spPr>
        <p:txBody>
          <a:bodyPr wrap="square" lIns="27432" tIns="0" rIns="27432" bIns="0" anchor="ctr">
            <a:spAutoFit/>
          </a:bodyPr>
          <a:lstStyle/>
          <a:p>
            <a:pPr algn="ctr">
              <a:lnSpc>
                <a:spcPct val="100000"/>
              </a:lnSpc>
              <a:spcBef>
                <a:spcPts val="0"/>
              </a:spcBef>
              <a:spcAft>
                <a:spcPts val="0"/>
              </a:spcAft>
            </a:pPr>
            <a:r>
              <a:rPr sz="1800" b="1" i="0">
                <a:solidFill>
                  <a:srgbClr val="FFFFFF"/>
                </a:solidFill>
                <a:latin typeface="EB Garamond"/>
              </a:rPr>
              <a:t>Illustrative valuation at risk:  $8.02T   (80.2% of the $9.99T basket)</a:t>
            </a:r>
          </a:p>
        </p:txBody>
      </p:sp>
      <p:sp>
        <p:nvSpPr>
          <p:cNvPr id="26" name="TextBox 25"/>
          <p:cNvSpPr txBox="1"/>
          <p:nvPr/>
        </p:nvSpPr>
        <p:spPr>
          <a:xfrm>
            <a:off x="448056" y="6245352"/>
            <a:ext cx="11247120" cy="210312"/>
          </a:xfrm>
          <a:prstGeom prst="rect">
            <a:avLst/>
          </a:prstGeom>
          <a:noFill/>
        </p:spPr>
        <p:txBody>
          <a:bodyPr wrap="square" lIns="27432" tIns="0" rIns="27432" bIns="0" anchor="ctr">
            <a:spAutoFit/>
          </a:bodyPr>
          <a:lstStyle/>
          <a:p>
            <a:pPr algn="l">
              <a:lnSpc>
                <a:spcPct val="100000"/>
              </a:lnSpc>
              <a:spcBef>
                <a:spcPts val="0"/>
              </a:spcBef>
              <a:spcAft>
                <a:spcPts val="0"/>
              </a:spcAft>
            </a:pPr>
            <a:r>
              <a:rPr sz="880" b="0" i="0">
                <a:solidFill>
                  <a:srgbClr val="5F6973"/>
                </a:solidFill>
                <a:latin typeface="EB Garamond"/>
              </a:rPr>
              <a:t>Sources: Nvidia cap $5.094T (Oct. 23, YCharts); FY2029 consensus $903.19B (MarketScreener); fitted return ≈−80.8% (out of sample); Reuters pre-xAI SpaceX benchmark.</a:t>
            </a:r>
          </a:p>
        </p:txBody>
      </p:sp>
      <p:sp>
        <p:nvSpPr>
          <p:cNvPr id="28" name="TextBox 27"/>
          <p:cNvSpPr txBox="1"/>
          <p:nvPr/>
        </p:nvSpPr>
        <p:spPr>
          <a:xfrm>
            <a:off x="11347704" y="6574536"/>
            <a:ext cx="411480" cy="146304"/>
          </a:xfrm>
          <a:prstGeom prst="rect">
            <a:avLst/>
          </a:prstGeom>
          <a:noFill/>
        </p:spPr>
        <p:txBody>
          <a:bodyPr wrap="square" lIns="27432" tIns="0" rIns="27432" bIns="0" anchor="ctr">
            <a:spAutoFit/>
          </a:bodyPr>
          <a:lstStyle/>
          <a:p>
            <a:r>
              <a:rPr sz="900">
                <a:solidFill>
                  <a:srgbClr val="5F6973"/>
                </a:solidFill>
                <a:latin typeface="Aptos"/>
              </a:rPr>
              <a:t>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“They can pivot” does not defend the present valuation</a:t>
            </a:r>
            <a:endParaRPr lang="en-US" sz="2600" dirty="0"/>
          </a:p>
        </p:txBody>
      </p:sp>
      <p:sp>
        <p:nvSpPr>
          <p:cNvPr id="3" name="Text 1"/>
          <p:cNvSpPr/>
          <p:nvPr/>
        </p:nvSpPr>
        <p:spPr>
          <a:xfrm>
            <a:off x="841248" y="1325880"/>
            <a:ext cx="6583680" cy="3291840"/>
          </a:xfrm>
          <a:prstGeom prst="rect">
            <a:avLst/>
          </a:prstGeom>
          <a:noFill/>
          <a:ln/>
        </p:spPr>
        <p:txBody>
          <a:bodyPr wrap="square" lIns="381" tIns="381" rIns="381" bIns="381" rtlCol="0" anchor="t">
            <a:normAutofit/>
          </a:bodyPr>
          <a:lstStyle/>
          <a:p>
            <a:pPr marL="215900" indent="-215900">
              <a:buSzPct val="100000"/>
              <a:buChar char="•"/>
            </a:pPr>
            <a:r>
              <a:rPr lang="en-US" sz="1900" dirty="0">
                <a:solidFill>
                  <a:srgbClr val="2F3437"/>
                </a:solidFill>
                <a:latin typeface="EB Garamond" pitchFamily="34" charset="0"/>
                <a:ea typeface="EB Garamond" pitchFamily="34" charset="-122"/>
                <a:cs typeface="EB Garamond" pitchFamily="34" charset="-120"/>
              </a:rPr>
              <a:t>If the current moat is expected to disappear before the major productivity rents arrive, the valuation can no longer be justified by that moat.</a:t>
            </a:r>
            <a:endParaRPr lang="en-US" sz="1900" dirty="0"/>
          </a:p>
          <a:p>
            <a:pPr marL="215900" indent="-215900">
              <a:buSzPct val="100000"/>
              <a:buChar char="•"/>
            </a:pPr>
            <a:r>
              <a:rPr lang="en-US" sz="1900" dirty="0">
                <a:solidFill>
                  <a:srgbClr val="2F3437"/>
                </a:solidFill>
                <a:latin typeface="EB Garamond" pitchFamily="34" charset="0"/>
                <a:ea typeface="EB Garamond" pitchFamily="34" charset="-122"/>
                <a:cs typeface="EB Garamond" pitchFamily="34" charset="-120"/>
              </a:rPr>
              <a:t>A future pivot is an option on management finding a new rent-generating mechanism. It is not evidence that the current one persists.</a:t>
            </a:r>
            <a:endParaRPr lang="en-US" sz="1900" dirty="0"/>
          </a:p>
          <a:p>
            <a:pPr marL="215900" indent="-215900">
              <a:buSzPct val="100000"/>
              <a:buChar char="•"/>
            </a:pPr>
            <a:r>
              <a:rPr lang="en-US" sz="1900" dirty="0">
                <a:solidFill>
                  <a:srgbClr val="2F3437"/>
                </a:solidFill>
                <a:latin typeface="EB Garamond" pitchFamily="34" charset="0"/>
                <a:ea typeface="EB Garamond" pitchFamily="34" charset="-122"/>
                <a:cs typeface="EB Garamond" pitchFamily="34" charset="-120"/>
              </a:rPr>
              <a:t>Once the future moat is unspecified, the basis for assigning these particular firms trillions of dollars of the eventual AI surplus becomes little better than assigning extraordinary option value to any capable incumbent.</a:t>
            </a:r>
            <a:endParaRPr lang="en-US" sz="1900" dirty="0"/>
          </a:p>
        </p:txBody>
      </p:sp>
      <p:pic>
        <p:nvPicPr>
          <p:cNvPr id="26" name="Picture 25" descr="image(20261022-093706).png"/>
          <p:cNvPicPr>
            <a:picLocks noChangeAspect="1"/>
          </p:cNvPicPr>
          <p:nvPr/>
        </p:nvPicPr>
        <p:blipFill>
          <a:blip r:embed="rId3"/>
          <a:stretch>
            <a:fillRect/>
          </a:stretch>
        </p:blipFill>
        <p:spPr>
          <a:xfrm>
            <a:off x="7909560" y="1600200"/>
            <a:ext cx="3246120" cy="2331720"/>
          </a:xfrm>
          <a:prstGeom prst="rect">
            <a:avLst/>
          </a:prstGeom>
        </p:spPr>
      </p:pic>
      <p:sp>
        <p:nvSpPr>
          <p:cNvPr id="6" name="Text 4"/>
          <p:cNvSpPr/>
          <p:nvPr/>
        </p:nvSpPr>
        <p:spPr>
          <a:xfrm>
            <a:off x="8183880" y="4343400"/>
            <a:ext cx="2697480" cy="274320"/>
          </a:xfrm>
          <a:prstGeom prst="rect">
            <a:avLst/>
          </a:prstGeom>
          <a:noFill/>
          <a:ln/>
        </p:spPr>
        <p:txBody>
          <a:bodyPr wrap="square" lIns="0" tIns="0" rIns="0" bIns="0" rtlCol="0" anchor="ctr"/>
          <a:lstStyle/>
          <a:p>
            <a:pPr marL="0" indent="0" algn="ctr">
              <a:buNone/>
            </a:pPr>
            <a:r>
              <a:rPr lang="en-US" sz="1600" b="1" dirty="0">
                <a:solidFill>
                  <a:srgbClr val="0072CE"/>
                </a:solidFill>
                <a:latin typeface="EB Garamond" pitchFamily="34" charset="0"/>
                <a:ea typeface="EB Garamond" pitchFamily="34" charset="-122"/>
                <a:cs typeface="EB Garamond" pitchFamily="34" charset="-120"/>
              </a:rPr>
              <a:t>Reductio</a:t>
            </a:r>
            <a:endParaRPr lang="en-US" sz="1600" dirty="0"/>
          </a:p>
        </p:txBody>
      </p:sp>
      <p:sp>
        <p:nvSpPr>
          <p:cNvPr id="7" name="Text 5"/>
          <p:cNvSpPr/>
          <p:nvPr/>
        </p:nvSpPr>
        <p:spPr>
          <a:xfrm>
            <a:off x="7818120" y="4663440"/>
            <a:ext cx="3383280" cy="960120"/>
          </a:xfrm>
          <a:prstGeom prst="rect">
            <a:avLst/>
          </a:prstGeom>
          <a:noFill/>
          <a:ln/>
        </p:spPr>
        <p:txBody>
          <a:bodyPr wrap="square" lIns="0" tIns="0" rIns="0" bIns="0" rtlCol="0" anchor="ctr">
            <a:normAutofit/>
          </a:bodyPr>
          <a:lstStyle/>
          <a:p>
            <a:pPr marL="0" indent="0" algn="ctr">
              <a:buNone/>
            </a:pPr>
            <a:r>
              <a:rPr lang="en-US" sz="1650" i="1" dirty="0">
                <a:solidFill>
                  <a:srgbClr val="022169"/>
                </a:solidFill>
                <a:latin typeface="EB Garamond" pitchFamily="34" charset="0"/>
                <a:ea typeface="EB Garamond" pitchFamily="34" charset="-122"/>
                <a:cs typeface="EB Garamond" pitchFamily="34" charset="-120"/>
              </a:rPr>
              <a:t>We would not value Kroger at $5T because competent management might discover the dominant business model of 2035.</a:t>
            </a:r>
            <a:endParaRPr lang="en-US" sz="1650" dirty="0"/>
          </a:p>
        </p:txBody>
      </p:sp>
      <p:sp>
        <p:nvSpPr>
          <p:cNvPr id="8" name="Text 6"/>
          <p:cNvSpPr/>
          <p:nvPr/>
        </p:nvSpPr>
        <p:spPr>
          <a:xfrm>
            <a:off x="914400" y="5166360"/>
            <a:ext cx="6629400" cy="676656"/>
          </a:xfrm>
          <a:prstGeom prst="rect">
            <a:avLst/>
          </a:prstGeom>
          <a:noFill/>
          <a:ln/>
        </p:spPr>
        <p:txBody>
          <a:bodyPr wrap="square" lIns="0" tIns="0" rIns="0" bIns="0" rtlCol="0" anchor="ctr">
            <a:normAutofit/>
          </a:bodyPr>
          <a:lstStyle/>
          <a:p>
            <a:pPr marL="0" indent="0" algn="ctr">
              <a:buNone/>
            </a:pPr>
            <a:r>
              <a:rPr lang="en-US" sz="2000" b="1" dirty="0">
                <a:solidFill>
                  <a:srgbClr val="0072CE"/>
                </a:solidFill>
                <a:latin typeface="EB Garamond" pitchFamily="34" charset="0"/>
                <a:ea typeface="EB Garamond" pitchFamily="34" charset="-122"/>
                <a:cs typeface="EB Garamond" pitchFamily="34" charset="-120"/>
              </a:rPr>
              <a:t>If today’s premium is attached to advantages that do not survive the valuation horizon, that is the capital misallocation.</a:t>
            </a:r>
            <a:endParaRPr lang="en-US" sz="2000" dirty="0"/>
          </a:p>
        </p:txBody>
      </p:sp>
      <p:sp>
        <p:nvSpPr>
          <p:cNvPr id="25" name="Slide Number Placeholder 0"/>
          <p:cNvSpPr>
            <a:spLocks noGrp="1"/>
          </p:cNvSpPr>
          <p:nvPr>
            <p:ph type="sldNum" sz="quarter" idx="4294967295"/>
          </p:nvPr>
        </p:nvSpPr>
        <p:spPr>
          <a:xfrm>
            <a:off x="11780838" y="6492875"/>
            <a:ext cx="411162" cy="163513"/>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25</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2000" cy="155448"/>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96112" y="228600"/>
            <a:ext cx="10424160" cy="457200"/>
          </a:xfrm>
          <a:prstGeom prst="rect">
            <a:avLst/>
          </a:prstGeom>
          <a:noFill/>
        </p:spPr>
        <p:txBody>
          <a:bodyPr wrap="square" anchor="ctr">
            <a:spAutoFit/>
          </a:bodyPr>
          <a:lstStyle/>
          <a:p>
            <a:pPr algn="l"/>
            <a:r>
              <a:rPr sz="2600" b="1">
                <a:solidFill>
                  <a:srgbClr val="022169"/>
                </a:solidFill>
                <a:latin typeface="EB Garamond"/>
              </a:rPr>
              <a:t>Bubble kernels vs crash footprints</a:t>
            </a:r>
          </a:p>
        </p:txBody>
      </p:sp>
      <p:sp>
        <p:nvSpPr>
          <p:cNvPr id="6" name="Rectangle 5"/>
          <p:cNvSpPr/>
          <p:nvPr/>
        </p:nvSpPr>
        <p:spPr>
          <a:xfrm>
            <a:off x="795528" y="658368"/>
            <a:ext cx="10881360" cy="18288"/>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96112" y="786384"/>
            <a:ext cx="10241280" cy="384048"/>
          </a:xfrm>
          <a:prstGeom prst="rect">
            <a:avLst/>
          </a:prstGeom>
          <a:noFill/>
        </p:spPr>
        <p:txBody>
          <a:bodyPr wrap="square" anchor="ctr">
            <a:spAutoFit/>
          </a:bodyPr>
          <a:lstStyle/>
          <a:p>
            <a:pPr algn="l"/>
            <a:r>
              <a:rPr sz="1600" b="0">
                <a:solidFill>
                  <a:srgbClr val="5F6973"/>
                </a:solidFill>
                <a:latin typeface="EB Garamond"/>
              </a:rPr>
              <a:t>Compare historical misvaluation estimates with an illustrative AI valuation-repricing stress range.</a:t>
            </a:r>
          </a:p>
        </p:txBody>
      </p:sp>
      <p:sp>
        <p:nvSpPr>
          <p:cNvPr id="8" name="TextBox 7"/>
          <p:cNvSpPr txBox="1"/>
          <p:nvPr/>
        </p:nvSpPr>
        <p:spPr>
          <a:xfrm>
            <a:off x="868680" y="1225296"/>
            <a:ext cx="4892040" cy="310896"/>
          </a:xfrm>
          <a:prstGeom prst="rect">
            <a:avLst/>
          </a:prstGeom>
          <a:noFill/>
        </p:spPr>
        <p:txBody>
          <a:bodyPr wrap="square" anchor="ctr">
            <a:spAutoFit/>
          </a:bodyPr>
          <a:lstStyle/>
          <a:p>
            <a:pPr algn="ctr"/>
            <a:r>
              <a:rPr sz="1500" b="1">
                <a:solidFill>
                  <a:srgbClr val="022169"/>
                </a:solidFill>
                <a:latin typeface="EB Garamond"/>
              </a:rPr>
              <a:t>Misvaluation / scenario repricing</a:t>
            </a:r>
          </a:p>
        </p:txBody>
      </p:sp>
      <p:sp>
        <p:nvSpPr>
          <p:cNvPr id="9" name="TextBox 8"/>
          <p:cNvSpPr txBox="1"/>
          <p:nvPr/>
        </p:nvSpPr>
        <p:spPr>
          <a:xfrm>
            <a:off x="6400800" y="1225296"/>
            <a:ext cx="4892040" cy="310896"/>
          </a:xfrm>
          <a:prstGeom prst="rect">
            <a:avLst/>
          </a:prstGeom>
          <a:noFill/>
        </p:spPr>
        <p:txBody>
          <a:bodyPr wrap="square" anchor="ctr">
            <a:spAutoFit/>
          </a:bodyPr>
          <a:lstStyle/>
          <a:p>
            <a:pPr algn="ctr"/>
            <a:r>
              <a:rPr sz="1500" b="1">
                <a:solidFill>
                  <a:srgbClr val="022169"/>
                </a:solidFill>
                <a:latin typeface="EB Garamond"/>
              </a:rPr>
              <a:t>Temporary destruction during the crash</a:t>
            </a:r>
          </a:p>
        </p:txBody>
      </p:sp>
      <p:sp>
        <p:nvSpPr>
          <p:cNvPr id="10" name="Straight Connector 9"/>
          <p:cNvSpPr/>
          <p:nvPr/>
        </p:nvSpPr>
        <p:spPr>
          <a:xfrm>
            <a:off x="960120" y="4672583"/>
            <a:ext cx="4572000" cy="914"/>
          </a:xfrm>
          <a:prstGeom prst="lineInv">
            <a:avLst/>
          </a:prstGeom>
          <a:ln>
            <a:solidFill>
              <a:srgbClr val="5F69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Straight Connector 10"/>
          <p:cNvSpPr/>
          <p:nvPr/>
        </p:nvSpPr>
        <p:spPr>
          <a:xfrm>
            <a:off x="960120" y="1673352"/>
            <a:ext cx="914" cy="2999232"/>
          </a:xfrm>
          <a:prstGeom prst="lineInv">
            <a:avLst/>
          </a:prstGeom>
          <a:ln>
            <a:solidFill>
              <a:srgbClr val="5F69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14400" y="1508760"/>
            <a:ext cx="594360" cy="164592"/>
          </a:xfrm>
          <a:prstGeom prst="rect">
            <a:avLst/>
          </a:prstGeom>
          <a:noFill/>
        </p:spPr>
        <p:txBody>
          <a:bodyPr wrap="square" anchor="ctr">
            <a:spAutoFit/>
          </a:bodyPr>
          <a:lstStyle/>
          <a:p>
            <a:pPr algn="l"/>
            <a:r>
              <a:rPr sz="900" b="0">
                <a:solidFill>
                  <a:srgbClr val="5F6973"/>
                </a:solidFill>
                <a:latin typeface="EB Garamond"/>
              </a:rPr>
              <a:t>$11T</a:t>
            </a:r>
          </a:p>
        </p:txBody>
      </p:sp>
      <p:sp>
        <p:nvSpPr>
          <p:cNvPr id="13" name="Rectangle 12"/>
          <p:cNvSpPr/>
          <p:nvPr/>
        </p:nvSpPr>
        <p:spPr>
          <a:xfrm>
            <a:off x="1392936" y="3663751"/>
            <a:ext cx="658368" cy="1008832"/>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283208" y="3407719"/>
            <a:ext cx="877824" cy="201168"/>
          </a:xfrm>
          <a:prstGeom prst="rect">
            <a:avLst/>
          </a:prstGeom>
          <a:noFill/>
        </p:spPr>
        <p:txBody>
          <a:bodyPr wrap="square" anchor="ctr">
            <a:spAutoFit/>
          </a:bodyPr>
          <a:lstStyle/>
          <a:p>
            <a:pPr algn="ctr"/>
            <a:r>
              <a:rPr sz="1150" b="1">
                <a:solidFill>
                  <a:srgbClr val="022169"/>
                </a:solidFill>
                <a:latin typeface="EB Garamond"/>
              </a:rPr>
              <a:t>~$3.7T</a:t>
            </a:r>
          </a:p>
        </p:txBody>
      </p:sp>
      <p:sp>
        <p:nvSpPr>
          <p:cNvPr id="15" name="TextBox 14"/>
          <p:cNvSpPr txBox="1"/>
          <p:nvPr/>
        </p:nvSpPr>
        <p:spPr>
          <a:xfrm>
            <a:off x="1036320" y="4718303"/>
            <a:ext cx="1371600" cy="475488"/>
          </a:xfrm>
          <a:prstGeom prst="rect">
            <a:avLst/>
          </a:prstGeom>
          <a:noFill/>
        </p:spPr>
        <p:txBody>
          <a:bodyPr wrap="square" anchor="ctr">
            <a:spAutoFit/>
          </a:bodyPr>
          <a:lstStyle/>
          <a:p>
            <a:pPr algn="ctr"/>
            <a:r>
              <a:rPr sz="1030" b="1">
                <a:solidFill>
                  <a:srgbClr val="1F2A37"/>
                </a:solidFill>
                <a:latin typeface="EB Garamond"/>
              </a:rPr>
              <a:t>Dot-com
misvaluation</a:t>
            </a:r>
          </a:p>
        </p:txBody>
      </p:sp>
      <p:sp>
        <p:nvSpPr>
          <p:cNvPr id="16" name="Rectangle 15"/>
          <p:cNvSpPr/>
          <p:nvPr/>
        </p:nvSpPr>
        <p:spPr>
          <a:xfrm>
            <a:off x="2916936" y="3009373"/>
            <a:ext cx="658368" cy="1663210"/>
          </a:xfrm>
          <a:prstGeom prst="rect">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2807208" y="2753341"/>
            <a:ext cx="877824" cy="201168"/>
          </a:xfrm>
          <a:prstGeom prst="rect">
            <a:avLst/>
          </a:prstGeom>
          <a:noFill/>
        </p:spPr>
        <p:txBody>
          <a:bodyPr wrap="square" anchor="ctr">
            <a:spAutoFit/>
          </a:bodyPr>
          <a:lstStyle/>
          <a:p>
            <a:pPr algn="ctr"/>
            <a:r>
              <a:rPr sz="1150" b="1">
                <a:solidFill>
                  <a:srgbClr val="022169"/>
                </a:solidFill>
                <a:latin typeface="EB Garamond"/>
              </a:rPr>
              <a:t>~$6.1T</a:t>
            </a:r>
          </a:p>
        </p:txBody>
      </p:sp>
      <p:sp>
        <p:nvSpPr>
          <p:cNvPr id="18" name="TextBox 17"/>
          <p:cNvSpPr txBox="1"/>
          <p:nvPr/>
        </p:nvSpPr>
        <p:spPr>
          <a:xfrm>
            <a:off x="2560320" y="4718303"/>
            <a:ext cx="1371600" cy="475488"/>
          </a:xfrm>
          <a:prstGeom prst="rect">
            <a:avLst/>
          </a:prstGeom>
          <a:noFill/>
        </p:spPr>
        <p:txBody>
          <a:bodyPr wrap="square" anchor="ctr">
            <a:spAutoFit/>
          </a:bodyPr>
          <a:lstStyle/>
          <a:p>
            <a:pPr algn="ctr"/>
            <a:r>
              <a:rPr sz="1030" b="1">
                <a:solidFill>
                  <a:srgbClr val="1F2A37"/>
                </a:solidFill>
                <a:latin typeface="EB Garamond"/>
              </a:rPr>
              <a:t>2008 real-estate
misvaluation</a:t>
            </a:r>
          </a:p>
        </p:txBody>
      </p:sp>
      <p:sp>
        <p:nvSpPr>
          <p:cNvPr id="19" name="Rectangle 18"/>
          <p:cNvSpPr/>
          <p:nvPr/>
        </p:nvSpPr>
        <p:spPr>
          <a:xfrm>
            <a:off x="4440936" y="3381042"/>
            <a:ext cx="658368" cy="1291541"/>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142232" y="2230569"/>
            <a:ext cx="1252728" cy="201168"/>
          </a:xfrm>
          <a:prstGeom prst="rect">
            <a:avLst/>
          </a:prstGeom>
          <a:noFill/>
        </p:spPr>
        <p:txBody>
          <a:bodyPr wrap="square" anchor="ctr">
            <a:spAutoFit/>
          </a:bodyPr>
          <a:lstStyle/>
          <a:p>
            <a:pPr algn="ctr"/>
            <a:r>
              <a:rPr sz="1100" b="1">
                <a:solidFill>
                  <a:srgbClr val="022169"/>
                </a:solidFill>
                <a:latin typeface="EB Garamond"/>
              </a:rPr>
              <a:t>~$4.74–8.02T</a:t>
            </a:r>
          </a:p>
        </p:txBody>
      </p:sp>
      <p:sp>
        <p:nvSpPr>
          <p:cNvPr id="21" name="TextBox 20"/>
          <p:cNvSpPr txBox="1"/>
          <p:nvPr/>
        </p:nvSpPr>
        <p:spPr>
          <a:xfrm>
            <a:off x="4084320" y="4718303"/>
            <a:ext cx="1371600" cy="475488"/>
          </a:xfrm>
          <a:prstGeom prst="rect">
            <a:avLst/>
          </a:prstGeom>
          <a:noFill/>
        </p:spPr>
        <p:txBody>
          <a:bodyPr wrap="square" anchor="ctr">
            <a:spAutoFit/>
          </a:bodyPr>
          <a:lstStyle/>
          <a:p>
            <a:pPr algn="ctr"/>
            <a:r>
              <a:rPr sz="1030" b="1">
                <a:solidFill>
                  <a:srgbClr val="1F2A37"/>
                </a:solidFill>
                <a:latin typeface="EB Garamond"/>
              </a:rPr>
              <a:t>AI repricing
scenarios</a:t>
            </a:r>
          </a:p>
        </p:txBody>
      </p:sp>
      <p:sp>
        <p:nvSpPr>
          <p:cNvPr id="22" name="Straight Connector 21"/>
          <p:cNvSpPr/>
          <p:nvPr/>
        </p:nvSpPr>
        <p:spPr>
          <a:xfrm>
            <a:off x="6473952" y="4672583"/>
            <a:ext cx="4572000" cy="914"/>
          </a:xfrm>
          <a:prstGeom prst="lineInv">
            <a:avLst/>
          </a:prstGeom>
          <a:ln>
            <a:solidFill>
              <a:srgbClr val="5F69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Straight Connector 22"/>
          <p:cNvSpPr/>
          <p:nvPr/>
        </p:nvSpPr>
        <p:spPr>
          <a:xfrm>
            <a:off x="6473952" y="1673352"/>
            <a:ext cx="914" cy="2999232"/>
          </a:xfrm>
          <a:prstGeom prst="lineInv">
            <a:avLst/>
          </a:prstGeom>
          <a:ln>
            <a:solidFill>
              <a:srgbClr val="5F697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428232" y="1508760"/>
            <a:ext cx="594360" cy="164592"/>
          </a:xfrm>
          <a:prstGeom prst="rect">
            <a:avLst/>
          </a:prstGeom>
          <a:noFill/>
        </p:spPr>
        <p:txBody>
          <a:bodyPr wrap="square" anchor="ctr">
            <a:spAutoFit/>
          </a:bodyPr>
          <a:lstStyle/>
          <a:p>
            <a:pPr algn="l"/>
            <a:r>
              <a:rPr sz="900" b="0">
                <a:solidFill>
                  <a:srgbClr val="5F6973"/>
                </a:solidFill>
                <a:latin typeface="EB Garamond"/>
              </a:rPr>
              <a:t>$130T</a:t>
            </a:r>
          </a:p>
        </p:txBody>
      </p:sp>
      <p:sp>
        <p:nvSpPr>
          <p:cNvPr id="25" name="Rectangle 24"/>
          <p:cNvSpPr/>
          <p:nvPr/>
        </p:nvSpPr>
        <p:spPr>
          <a:xfrm>
            <a:off x="6906767" y="4478787"/>
            <a:ext cx="658368" cy="193796"/>
          </a:xfrm>
          <a:prstGeom prst="rect">
            <a:avLst/>
          </a:prstGeom>
          <a:solidFill>
            <a:srgbClr val="0072C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797039" y="4222755"/>
            <a:ext cx="877824" cy="201168"/>
          </a:xfrm>
          <a:prstGeom prst="rect">
            <a:avLst/>
          </a:prstGeom>
          <a:noFill/>
        </p:spPr>
        <p:txBody>
          <a:bodyPr wrap="square" anchor="ctr">
            <a:spAutoFit/>
          </a:bodyPr>
          <a:lstStyle/>
          <a:p>
            <a:pPr algn="ctr"/>
            <a:r>
              <a:rPr sz="1150" b="1">
                <a:solidFill>
                  <a:srgbClr val="022169"/>
                </a:solidFill>
                <a:latin typeface="EB Garamond"/>
              </a:rPr>
              <a:t>~$8.4T</a:t>
            </a:r>
          </a:p>
        </p:txBody>
      </p:sp>
      <p:sp>
        <p:nvSpPr>
          <p:cNvPr id="27" name="TextBox 26"/>
          <p:cNvSpPr txBox="1"/>
          <p:nvPr/>
        </p:nvSpPr>
        <p:spPr>
          <a:xfrm>
            <a:off x="6550152" y="4718303"/>
            <a:ext cx="1371600" cy="475488"/>
          </a:xfrm>
          <a:prstGeom prst="rect">
            <a:avLst/>
          </a:prstGeom>
          <a:noFill/>
        </p:spPr>
        <p:txBody>
          <a:bodyPr wrap="square" anchor="ctr">
            <a:spAutoFit/>
          </a:bodyPr>
          <a:lstStyle/>
          <a:p>
            <a:pPr algn="ctr"/>
            <a:r>
              <a:rPr sz="1030" b="1">
                <a:solidFill>
                  <a:srgbClr val="1F2A37"/>
                </a:solidFill>
                <a:latin typeface="EB Garamond"/>
              </a:rPr>
              <a:t>Dot-com
crash losses</a:t>
            </a:r>
          </a:p>
        </p:txBody>
      </p:sp>
      <p:sp>
        <p:nvSpPr>
          <p:cNvPr id="28" name="Rectangle 27"/>
          <p:cNvSpPr/>
          <p:nvPr/>
        </p:nvSpPr>
        <p:spPr>
          <a:xfrm>
            <a:off x="8430768" y="3519033"/>
            <a:ext cx="658368" cy="1153550"/>
          </a:xfrm>
          <a:prstGeom prst="rect">
            <a:avLst/>
          </a:prstGeom>
          <a:solidFill>
            <a:srgbClr val="0221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321040" y="3263001"/>
            <a:ext cx="877824" cy="201168"/>
          </a:xfrm>
          <a:prstGeom prst="rect">
            <a:avLst/>
          </a:prstGeom>
          <a:noFill/>
        </p:spPr>
        <p:txBody>
          <a:bodyPr wrap="square" anchor="ctr">
            <a:spAutoFit/>
          </a:bodyPr>
          <a:lstStyle/>
          <a:p>
            <a:pPr algn="ctr"/>
            <a:r>
              <a:rPr sz="1150" b="1">
                <a:solidFill>
                  <a:srgbClr val="022169"/>
                </a:solidFill>
                <a:latin typeface="EB Garamond"/>
              </a:rPr>
              <a:t>~$50T</a:t>
            </a:r>
          </a:p>
        </p:txBody>
      </p:sp>
      <p:sp>
        <p:nvSpPr>
          <p:cNvPr id="30" name="TextBox 29"/>
          <p:cNvSpPr txBox="1"/>
          <p:nvPr/>
        </p:nvSpPr>
        <p:spPr>
          <a:xfrm>
            <a:off x="8074152" y="4718303"/>
            <a:ext cx="1371600" cy="475488"/>
          </a:xfrm>
          <a:prstGeom prst="rect">
            <a:avLst/>
          </a:prstGeom>
          <a:noFill/>
        </p:spPr>
        <p:txBody>
          <a:bodyPr wrap="square" anchor="ctr">
            <a:spAutoFit/>
          </a:bodyPr>
          <a:lstStyle/>
          <a:p>
            <a:pPr algn="ctr"/>
            <a:r>
              <a:rPr sz="1030" b="1">
                <a:solidFill>
                  <a:srgbClr val="1F2A37"/>
                </a:solidFill>
                <a:latin typeface="EB Garamond"/>
              </a:rPr>
              <a:t>2008 crisis
losses</a:t>
            </a:r>
          </a:p>
        </p:txBody>
      </p:sp>
      <p:sp>
        <p:nvSpPr>
          <p:cNvPr id="31" name="TextBox 30"/>
          <p:cNvSpPr txBox="1"/>
          <p:nvPr/>
        </p:nvSpPr>
        <p:spPr>
          <a:xfrm>
            <a:off x="9534144" y="1636776"/>
            <a:ext cx="1499616" cy="3218687"/>
          </a:xfrm>
          <a:prstGeom prst="rect">
            <a:avLst/>
          </a:prstGeom>
          <a:noFill/>
        </p:spPr>
        <p:txBody>
          <a:bodyPr wrap="square" anchor="ctr">
            <a:spAutoFit/>
          </a:bodyPr>
          <a:lstStyle/>
          <a:p>
            <a:pPr algn="ctr"/>
            <a:r>
              <a:rPr sz="10600" b="1" dirty="0">
                <a:solidFill>
                  <a:srgbClr val="022169"/>
                </a:solidFill>
                <a:latin typeface="EB Garamond"/>
              </a:rPr>
              <a:t>?</a:t>
            </a:r>
          </a:p>
        </p:txBody>
      </p:sp>
      <p:sp>
        <p:nvSpPr>
          <p:cNvPr id="32" name="TextBox 31"/>
          <p:cNvSpPr txBox="1"/>
          <p:nvPr/>
        </p:nvSpPr>
        <p:spPr>
          <a:xfrm>
            <a:off x="9781031" y="4718303"/>
            <a:ext cx="1005840" cy="475488"/>
          </a:xfrm>
          <a:prstGeom prst="rect">
            <a:avLst/>
          </a:prstGeom>
          <a:noFill/>
        </p:spPr>
        <p:txBody>
          <a:bodyPr wrap="square" anchor="ctr">
            <a:spAutoFit/>
          </a:bodyPr>
          <a:lstStyle/>
          <a:p>
            <a:pPr algn="ctr"/>
            <a:r>
              <a:rPr sz="1400" b="1">
                <a:solidFill>
                  <a:srgbClr val="022169"/>
                </a:solidFill>
                <a:latin typeface="EB Garamond"/>
              </a:rPr>
              <a:t>AI</a:t>
            </a:r>
          </a:p>
        </p:txBody>
      </p:sp>
      <p:sp>
        <p:nvSpPr>
          <p:cNvPr id="35" name="TextBox 34"/>
          <p:cNvSpPr txBox="1"/>
          <p:nvPr/>
        </p:nvSpPr>
        <p:spPr>
          <a:xfrm>
            <a:off x="502920" y="6044184"/>
            <a:ext cx="10835640" cy="356616"/>
          </a:xfrm>
          <a:prstGeom prst="rect">
            <a:avLst/>
          </a:prstGeom>
          <a:noFill/>
        </p:spPr>
        <p:txBody>
          <a:bodyPr wrap="square" anchor="ctr">
            <a:spAutoFit/>
          </a:bodyPr>
          <a:lstStyle/>
          <a:p>
            <a:pPr algn="l"/>
            <a:r>
              <a:rPr sz="690" b="0">
                <a:solidFill>
                  <a:srgbClr val="5F6973"/>
                </a:solidFill>
                <a:latin typeface="EB Garamond"/>
              </a:rPr>
              <a:t>Historical dollar figures are nominal and use differing asset universes. AI $4.74T–$8.02T is an illustrative marked-to-market repricing, NOT a fundamental misvaluation estimate or calibrated forecast. Scenario uses Oct. 23 Nvidia cap (YCharts), FY2029 revenue consensus (MarketScreener), and a positive-EPS-only fitted reaction line.</a:t>
            </a:r>
          </a:p>
        </p:txBody>
      </p:sp>
      <p:sp>
        <p:nvSpPr>
          <p:cNvPr id="36" name="TextBox 35"/>
          <p:cNvSpPr txBox="1"/>
          <p:nvPr/>
        </p:nvSpPr>
        <p:spPr>
          <a:xfrm>
            <a:off x="11338560" y="6395112"/>
            <a:ext cx="411480" cy="230832"/>
          </a:xfrm>
          <a:prstGeom prst="rect">
            <a:avLst/>
          </a:prstGeom>
          <a:noFill/>
        </p:spPr>
        <p:txBody>
          <a:bodyPr wrap="square" anchor="ctr">
            <a:spAutoFit/>
          </a:bodyPr>
          <a:lstStyle/>
          <a:p>
            <a:r>
              <a:rPr sz="900">
                <a:solidFill>
                  <a:srgbClr val="5F6973"/>
                </a:solidFill>
                <a:latin typeface="Aptos"/>
              </a:rPr>
              <a:t>26</a:t>
            </a:r>
          </a:p>
        </p:txBody>
      </p:sp>
      <p:sp>
        <p:nvSpPr>
          <p:cNvPr id="37" name="Rectangle 36"/>
          <p:cNvSpPr/>
          <p:nvPr/>
        </p:nvSpPr>
        <p:spPr>
          <a:xfrm>
            <a:off x="4443984" y="2486601"/>
            <a:ext cx="658368" cy="894440"/>
          </a:xfrm>
          <a:prstGeom prst="rect">
            <a:avLst/>
          </a:prstGeom>
          <a:solidFill>
            <a:srgbClr val="B9D9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12191695" cy="164592"/>
          </a:xfrm>
          <a:prstGeom prst="rect">
            <a:avLst/>
          </a:prstGeom>
          <a:solidFill>
            <a:srgbClr val="C6E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41832" y="265176"/>
            <a:ext cx="10698480" cy="402336"/>
          </a:xfrm>
          <a:prstGeom prst="rect">
            <a:avLst/>
          </a:prstGeom>
          <a:noFill/>
        </p:spPr>
        <p:txBody>
          <a:bodyPr wrap="square" lIns="0" tIns="0" rIns="0" bIns="0" anchor="ctr">
            <a:spAutoFit/>
          </a:bodyPr>
          <a:lstStyle/>
          <a:p>
            <a:pPr algn="l"/>
            <a:r>
              <a:rPr sz="2600" b="1">
                <a:solidFill>
                  <a:srgbClr val="042069"/>
                </a:solidFill>
                <a:latin typeface="EB Garamond"/>
              </a:rPr>
              <a:t>Estimating contagion: Nvidia</a:t>
            </a:r>
          </a:p>
        </p:txBody>
      </p:sp>
      <p:sp>
        <p:nvSpPr>
          <p:cNvPr id="6" name="Rectangle 5"/>
          <p:cNvSpPr/>
          <p:nvPr/>
        </p:nvSpPr>
        <p:spPr>
          <a:xfrm>
            <a:off x="768096" y="676656"/>
            <a:ext cx="10936224" cy="16459"/>
          </a:xfrm>
          <a:prstGeom prst="rect">
            <a:avLst/>
          </a:prstGeom>
          <a:solidFill>
            <a:srgbClr val="C6E1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41832" y="832104"/>
            <a:ext cx="10835640" cy="320040"/>
          </a:xfrm>
          <a:prstGeom prst="rect">
            <a:avLst/>
          </a:prstGeom>
          <a:noFill/>
        </p:spPr>
        <p:txBody>
          <a:bodyPr wrap="square" lIns="0" tIns="0" rIns="0" bIns="0" anchor="ctr">
            <a:spAutoFit/>
          </a:bodyPr>
          <a:lstStyle/>
          <a:p>
            <a:pPr algn="l"/>
            <a:r>
              <a:rPr sz="1700" b="0">
                <a:solidFill>
                  <a:srgbClr val="4C5968"/>
                </a:solidFill>
                <a:latin typeface="EB Garamond"/>
              </a:rPr>
              <a:t>Focus on Nvidia alone: how might a collapse propagate through the broader market?</a:t>
            </a:r>
          </a:p>
        </p:txBody>
      </p:sp>
      <p:sp>
        <p:nvSpPr>
          <p:cNvPr id="8" name="Rounded Rectangle 7"/>
          <p:cNvSpPr/>
          <p:nvPr/>
        </p:nvSpPr>
        <p:spPr>
          <a:xfrm>
            <a:off x="896112" y="1344167"/>
            <a:ext cx="6729984" cy="3357677"/>
          </a:xfrm>
          <a:prstGeom prst="roundRect">
            <a:avLst/>
          </a:prstGeom>
          <a:solidFill>
            <a:srgbClr val="F6FAFD"/>
          </a:solidFill>
          <a:ln w="12700">
            <a:solidFill>
              <a:srgbClr val="C4D8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133856" y="1481328"/>
            <a:ext cx="6108192" cy="292608"/>
          </a:xfrm>
          <a:prstGeom prst="rect">
            <a:avLst/>
          </a:prstGeom>
          <a:noFill/>
        </p:spPr>
        <p:txBody>
          <a:bodyPr wrap="square" lIns="0" tIns="0" rIns="0" bIns="0" anchor="ctr">
            <a:spAutoFit/>
          </a:bodyPr>
          <a:lstStyle/>
          <a:p>
            <a:pPr algn="l"/>
            <a:r>
              <a:rPr sz="1800" b="1">
                <a:solidFill>
                  <a:srgbClr val="042069"/>
                </a:solidFill>
                <a:latin typeface="EB Garamond"/>
              </a:rPr>
              <a:t>HISTORICAL WEEKLY RETURN RATIOS</a:t>
            </a:r>
          </a:p>
        </p:txBody>
      </p:sp>
      <p:sp>
        <p:nvSpPr>
          <p:cNvPr id="10" name="TextBox 9"/>
          <p:cNvSpPr txBox="1"/>
          <p:nvPr/>
        </p:nvSpPr>
        <p:spPr>
          <a:xfrm>
            <a:off x="1133856" y="1773936"/>
            <a:ext cx="6035040" cy="201168"/>
          </a:xfrm>
          <a:prstGeom prst="rect">
            <a:avLst/>
          </a:prstGeom>
          <a:noFill/>
        </p:spPr>
        <p:txBody>
          <a:bodyPr wrap="square" lIns="0" tIns="0" rIns="0" bIns="0" anchor="ctr">
            <a:spAutoFit/>
          </a:bodyPr>
          <a:lstStyle/>
          <a:p>
            <a:pPr algn="l"/>
            <a:r>
              <a:rPr sz="1250" b="0">
                <a:solidFill>
                  <a:srgbClr val="4C5968"/>
                </a:solidFill>
                <a:latin typeface="EB Garamond"/>
              </a:rPr>
              <a:t>Nasdaq Composite / Nvidia  |  Conditioned on absolute weekly NVDA moves</a:t>
            </a:r>
          </a:p>
        </p:txBody>
      </p:sp>
      <p:graphicFrame>
        <p:nvGraphicFramePr>
          <p:cNvPr id="11" name="Table 10"/>
          <p:cNvGraphicFramePr>
            <a:graphicFrameLocks noGrp="1"/>
          </p:cNvGraphicFramePr>
          <p:nvPr>
            <p:extLst>
              <p:ext uri="{D42A27DB-BD31-4B8C-83A1-F6EECF244321}">
                <p14:modId xmlns:p14="http://schemas.microsoft.com/office/powerpoint/2010/main" val="4094411141"/>
              </p:ext>
            </p:extLst>
          </p:nvPr>
        </p:nvGraphicFramePr>
        <p:xfrm>
          <a:off x="1097280" y="2038841"/>
          <a:ext cx="6190488" cy="19659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768096">
                  <a:extLst>
                    <a:ext uri="{9D8B030D-6E8A-4147-A177-3AD203B41FA5}">
                      <a16:colId xmlns:a16="http://schemas.microsoft.com/office/drawing/2014/main" val="20001"/>
                    </a:ext>
                  </a:extLst>
                </a:gridCol>
                <a:gridCol w="1133856">
                  <a:extLst>
                    <a:ext uri="{9D8B030D-6E8A-4147-A177-3AD203B41FA5}">
                      <a16:colId xmlns:a16="http://schemas.microsoft.com/office/drawing/2014/main" val="20002"/>
                    </a:ext>
                  </a:extLst>
                </a:gridCol>
                <a:gridCol w="1161288">
                  <a:extLst>
                    <a:ext uri="{9D8B030D-6E8A-4147-A177-3AD203B41FA5}">
                      <a16:colId xmlns:a16="http://schemas.microsoft.com/office/drawing/2014/main" val="20003"/>
                    </a:ext>
                  </a:extLst>
                </a:gridCol>
                <a:gridCol w="1115568">
                  <a:extLst>
                    <a:ext uri="{9D8B030D-6E8A-4147-A177-3AD203B41FA5}">
                      <a16:colId xmlns:a16="http://schemas.microsoft.com/office/drawing/2014/main" val="20004"/>
                    </a:ext>
                  </a:extLst>
                </a:gridCol>
              </a:tblGrid>
              <a:tr h="393192">
                <a:tc>
                  <a:txBody>
                    <a:bodyPr/>
                    <a:lstStyle/>
                    <a:p>
                      <a:pPr algn="l"/>
                      <a:r>
                        <a:rPr sz="1200" b="1">
                          <a:solidFill>
                            <a:srgbClr val="042069"/>
                          </a:solidFill>
                          <a:latin typeface="Aptos"/>
                        </a:rPr>
                        <a:t>NVDA weekly move</a:t>
                      </a:r>
                    </a:p>
                  </a:txBody>
                  <a:tcPr marR="27432" marT="9144" marB="9144">
                    <a:solidFill>
                      <a:srgbClr val="E8F1F9"/>
                    </a:solidFill>
                  </a:tcPr>
                </a:tc>
                <a:tc>
                  <a:txBody>
                    <a:bodyPr/>
                    <a:lstStyle/>
                    <a:p>
                      <a:pPr algn="ctr"/>
                      <a:r>
                        <a:rPr sz="1200" b="1">
                          <a:solidFill>
                            <a:srgbClr val="042069"/>
                          </a:solidFill>
                          <a:latin typeface="Aptos"/>
                        </a:rPr>
                        <a:t>Weeks</a:t>
                      </a:r>
                    </a:p>
                  </a:txBody>
                  <a:tcPr marL="27432" marR="27432" marT="9144" marB="9144">
                    <a:solidFill>
                      <a:srgbClr val="E8F1F9"/>
                    </a:solidFill>
                  </a:tcPr>
                </a:tc>
                <a:tc>
                  <a:txBody>
                    <a:bodyPr/>
                    <a:lstStyle/>
                    <a:p>
                      <a:pPr algn="ctr"/>
                      <a:r>
                        <a:rPr sz="1200" b="1">
                          <a:solidFill>
                            <a:srgbClr val="042069"/>
                          </a:solidFill>
                          <a:latin typeface="Aptos"/>
                        </a:rPr>
                        <a:t>P25</a:t>
                      </a:r>
                    </a:p>
                  </a:txBody>
                  <a:tcPr marL="27432" marR="27432" marT="9144" marB="9144">
                    <a:solidFill>
                      <a:srgbClr val="E8F1F9"/>
                    </a:solidFill>
                  </a:tcPr>
                </a:tc>
                <a:tc>
                  <a:txBody>
                    <a:bodyPr/>
                    <a:lstStyle/>
                    <a:p>
                      <a:pPr algn="ctr"/>
                      <a:r>
                        <a:rPr sz="1200" b="1">
                          <a:solidFill>
                            <a:srgbClr val="042069"/>
                          </a:solidFill>
                          <a:latin typeface="Aptos"/>
                        </a:rPr>
                        <a:t>Median</a:t>
                      </a:r>
                    </a:p>
                  </a:txBody>
                  <a:tcPr marL="27432" marR="27432" marT="9144" marB="9144">
                    <a:solidFill>
                      <a:srgbClr val="E8F1F9"/>
                    </a:solidFill>
                  </a:tcPr>
                </a:tc>
                <a:tc>
                  <a:txBody>
                    <a:bodyPr/>
                    <a:lstStyle/>
                    <a:p>
                      <a:pPr algn="ctr"/>
                      <a:r>
                        <a:rPr sz="1200" b="1">
                          <a:solidFill>
                            <a:srgbClr val="042069"/>
                          </a:solidFill>
                          <a:latin typeface="Aptos"/>
                        </a:rPr>
                        <a:t>P75</a:t>
                      </a:r>
                    </a:p>
                  </a:txBody>
                  <a:tcPr marL="27432" marR="27432" marT="9144" marB="9144">
                    <a:solidFill>
                      <a:srgbClr val="E8F1F9"/>
                    </a:solidFill>
                  </a:tcPr>
                </a:tc>
                <a:extLst>
                  <a:ext uri="{0D108BD9-81ED-4DB2-BD59-A6C34878D82A}">
                    <a16:rowId xmlns:a16="http://schemas.microsoft.com/office/drawing/2014/main" val="10000"/>
                  </a:ext>
                </a:extLst>
              </a:tr>
              <a:tr h="393192">
                <a:tc>
                  <a:txBody>
                    <a:bodyPr/>
                    <a:lstStyle/>
                    <a:p>
                      <a:pPr algn="l"/>
                      <a:r>
                        <a:rPr sz="1500" b="1">
                          <a:solidFill>
                            <a:srgbClr val="233140"/>
                          </a:solidFill>
                          <a:latin typeface="Aptos"/>
                        </a:rPr>
                        <a:t>&gt; 3%</a:t>
                      </a:r>
                    </a:p>
                  </a:txBody>
                  <a:tcPr marR="27432" marT="9144" marB="9144">
                    <a:solidFill>
                      <a:srgbClr val="FFFFFF"/>
                    </a:solidFill>
                  </a:tcPr>
                </a:tc>
                <a:tc>
                  <a:txBody>
                    <a:bodyPr/>
                    <a:lstStyle/>
                    <a:p>
                      <a:pPr algn="ctr"/>
                      <a:r>
                        <a:rPr sz="1500" b="0">
                          <a:solidFill>
                            <a:srgbClr val="233140"/>
                          </a:solidFill>
                          <a:latin typeface="Aptos"/>
                        </a:rPr>
                        <a:t>59</a:t>
                      </a:r>
                    </a:p>
                  </a:txBody>
                  <a:tcPr marL="27432" marR="27432" marT="9144" marB="9144">
                    <a:solidFill>
                      <a:srgbClr val="FFFFFF"/>
                    </a:solidFill>
                  </a:tcPr>
                </a:tc>
                <a:tc>
                  <a:txBody>
                    <a:bodyPr/>
                    <a:lstStyle/>
                    <a:p>
                      <a:pPr algn="ctr"/>
                      <a:r>
                        <a:rPr sz="1500" b="0">
                          <a:solidFill>
                            <a:srgbClr val="042069"/>
                          </a:solidFill>
                          <a:latin typeface="Aptos"/>
                        </a:rPr>
                        <a:t>0.143×</a:t>
                      </a:r>
                    </a:p>
                  </a:txBody>
                  <a:tcPr marL="27432" marR="27432" marT="9144" marB="9144">
                    <a:solidFill>
                      <a:srgbClr val="FFFFFF"/>
                    </a:solidFill>
                  </a:tcPr>
                </a:tc>
                <a:tc>
                  <a:txBody>
                    <a:bodyPr/>
                    <a:lstStyle/>
                    <a:p>
                      <a:pPr algn="ctr"/>
                      <a:r>
                        <a:rPr sz="1500" b="0">
                          <a:solidFill>
                            <a:srgbClr val="042069"/>
                          </a:solidFill>
                          <a:latin typeface="Aptos"/>
                        </a:rPr>
                        <a:t>0.396×</a:t>
                      </a:r>
                    </a:p>
                  </a:txBody>
                  <a:tcPr marL="27432" marR="27432" marT="9144" marB="9144">
                    <a:solidFill>
                      <a:srgbClr val="FFFFFF"/>
                    </a:solidFill>
                  </a:tcPr>
                </a:tc>
                <a:tc>
                  <a:txBody>
                    <a:bodyPr/>
                    <a:lstStyle/>
                    <a:p>
                      <a:pPr algn="ctr"/>
                      <a:r>
                        <a:rPr sz="1500" b="0">
                          <a:solidFill>
                            <a:srgbClr val="042069"/>
                          </a:solidFill>
                          <a:latin typeface="Aptos"/>
                        </a:rPr>
                        <a:t>0.534×</a:t>
                      </a:r>
                    </a:p>
                  </a:txBody>
                  <a:tcPr marL="27432" marR="27432" marT="9144" marB="9144">
                    <a:solidFill>
                      <a:srgbClr val="FFFFFF"/>
                    </a:solidFill>
                  </a:tcPr>
                </a:tc>
                <a:extLst>
                  <a:ext uri="{0D108BD9-81ED-4DB2-BD59-A6C34878D82A}">
                    <a16:rowId xmlns:a16="http://schemas.microsoft.com/office/drawing/2014/main" val="10001"/>
                  </a:ext>
                </a:extLst>
              </a:tr>
              <a:tr h="393192">
                <a:tc>
                  <a:txBody>
                    <a:bodyPr/>
                    <a:lstStyle/>
                    <a:p>
                      <a:pPr algn="l"/>
                      <a:r>
                        <a:rPr sz="1500" b="1" dirty="0">
                          <a:solidFill>
                            <a:srgbClr val="233140"/>
                          </a:solidFill>
                          <a:latin typeface="Aptos"/>
                        </a:rPr>
                        <a:t>&gt; 5%</a:t>
                      </a:r>
                    </a:p>
                  </a:txBody>
                  <a:tcPr marR="27432" marT="9144" marB="9144">
                    <a:solidFill>
                      <a:srgbClr val="FFFFFF"/>
                    </a:solidFill>
                  </a:tcPr>
                </a:tc>
                <a:tc>
                  <a:txBody>
                    <a:bodyPr/>
                    <a:lstStyle/>
                    <a:p>
                      <a:pPr algn="ctr"/>
                      <a:r>
                        <a:rPr sz="1500" b="0">
                          <a:solidFill>
                            <a:srgbClr val="233140"/>
                          </a:solidFill>
                          <a:latin typeface="Aptos"/>
                        </a:rPr>
                        <a:t>35</a:t>
                      </a:r>
                    </a:p>
                  </a:txBody>
                  <a:tcPr marL="27432" marR="27432" marT="9144" marB="9144">
                    <a:solidFill>
                      <a:srgbClr val="FFFFFF"/>
                    </a:solidFill>
                  </a:tcPr>
                </a:tc>
                <a:tc>
                  <a:txBody>
                    <a:bodyPr/>
                    <a:lstStyle/>
                    <a:p>
                      <a:pPr algn="ctr"/>
                      <a:r>
                        <a:rPr sz="1500" b="0">
                          <a:solidFill>
                            <a:srgbClr val="042069"/>
                          </a:solidFill>
                          <a:latin typeface="Aptos"/>
                        </a:rPr>
                        <a:t>0.221×</a:t>
                      </a:r>
                    </a:p>
                  </a:txBody>
                  <a:tcPr marL="27432" marR="27432" marT="9144" marB="9144">
                    <a:solidFill>
                      <a:srgbClr val="FFFFFF"/>
                    </a:solidFill>
                  </a:tcPr>
                </a:tc>
                <a:tc>
                  <a:txBody>
                    <a:bodyPr/>
                    <a:lstStyle/>
                    <a:p>
                      <a:pPr algn="ctr"/>
                      <a:r>
                        <a:rPr sz="1500" b="0">
                          <a:solidFill>
                            <a:srgbClr val="042069"/>
                          </a:solidFill>
                          <a:latin typeface="Aptos"/>
                        </a:rPr>
                        <a:t>0.396×</a:t>
                      </a:r>
                    </a:p>
                  </a:txBody>
                  <a:tcPr marL="27432" marR="27432" marT="9144" marB="9144">
                    <a:solidFill>
                      <a:srgbClr val="FFFFFF"/>
                    </a:solidFill>
                  </a:tcPr>
                </a:tc>
                <a:tc>
                  <a:txBody>
                    <a:bodyPr/>
                    <a:lstStyle/>
                    <a:p>
                      <a:pPr algn="ctr"/>
                      <a:r>
                        <a:rPr sz="1500" b="0">
                          <a:solidFill>
                            <a:srgbClr val="042069"/>
                          </a:solidFill>
                          <a:latin typeface="Aptos"/>
                        </a:rPr>
                        <a:t>0.534×</a:t>
                      </a:r>
                    </a:p>
                  </a:txBody>
                  <a:tcPr marL="27432" marR="27432" marT="9144" marB="9144">
                    <a:solidFill>
                      <a:srgbClr val="FFFFFF"/>
                    </a:solidFill>
                  </a:tcPr>
                </a:tc>
                <a:extLst>
                  <a:ext uri="{0D108BD9-81ED-4DB2-BD59-A6C34878D82A}">
                    <a16:rowId xmlns:a16="http://schemas.microsoft.com/office/drawing/2014/main" val="10002"/>
                  </a:ext>
                </a:extLst>
              </a:tr>
              <a:tr h="393192">
                <a:tc>
                  <a:txBody>
                    <a:bodyPr/>
                    <a:lstStyle/>
                    <a:p>
                      <a:pPr algn="l"/>
                      <a:r>
                        <a:rPr sz="1500" b="1" dirty="0">
                          <a:solidFill>
                            <a:srgbClr val="233140"/>
                          </a:solidFill>
                          <a:latin typeface="Aptos"/>
                        </a:rPr>
                        <a:t>&gt; 8%</a:t>
                      </a:r>
                    </a:p>
                  </a:txBody>
                  <a:tcPr marR="27432" marT="9144" marB="9144">
                    <a:solidFill>
                      <a:srgbClr val="FFFFFF"/>
                    </a:solidFill>
                  </a:tcPr>
                </a:tc>
                <a:tc>
                  <a:txBody>
                    <a:bodyPr/>
                    <a:lstStyle/>
                    <a:p>
                      <a:pPr algn="ctr"/>
                      <a:r>
                        <a:rPr sz="1500" b="0">
                          <a:solidFill>
                            <a:srgbClr val="233140"/>
                          </a:solidFill>
                          <a:latin typeface="Aptos"/>
                        </a:rPr>
                        <a:t>15</a:t>
                      </a:r>
                    </a:p>
                  </a:txBody>
                  <a:tcPr marL="27432" marR="27432" marT="9144" marB="9144">
                    <a:solidFill>
                      <a:srgbClr val="FFFFFF"/>
                    </a:solidFill>
                  </a:tcPr>
                </a:tc>
                <a:tc>
                  <a:txBody>
                    <a:bodyPr/>
                    <a:lstStyle/>
                    <a:p>
                      <a:pPr algn="ctr"/>
                      <a:r>
                        <a:rPr sz="1500" b="0">
                          <a:solidFill>
                            <a:srgbClr val="042069"/>
                          </a:solidFill>
                          <a:latin typeface="Aptos"/>
                        </a:rPr>
                        <a:t>0.282×</a:t>
                      </a:r>
                    </a:p>
                  </a:txBody>
                  <a:tcPr marL="27432" marR="27432" marT="9144" marB="9144">
                    <a:solidFill>
                      <a:srgbClr val="FFFFFF"/>
                    </a:solidFill>
                  </a:tcPr>
                </a:tc>
                <a:tc>
                  <a:txBody>
                    <a:bodyPr/>
                    <a:lstStyle/>
                    <a:p>
                      <a:pPr algn="ctr"/>
                      <a:r>
                        <a:rPr sz="1500" b="0">
                          <a:solidFill>
                            <a:srgbClr val="042069"/>
                          </a:solidFill>
                          <a:latin typeface="Aptos"/>
                        </a:rPr>
                        <a:t>0.440×</a:t>
                      </a:r>
                    </a:p>
                  </a:txBody>
                  <a:tcPr marL="27432" marR="27432" marT="9144" marB="9144">
                    <a:solidFill>
                      <a:srgbClr val="FFFFFF"/>
                    </a:solidFill>
                  </a:tcPr>
                </a:tc>
                <a:tc>
                  <a:txBody>
                    <a:bodyPr/>
                    <a:lstStyle/>
                    <a:p>
                      <a:pPr algn="ctr"/>
                      <a:r>
                        <a:rPr sz="1500" b="0">
                          <a:solidFill>
                            <a:srgbClr val="042069"/>
                          </a:solidFill>
                          <a:latin typeface="Aptos"/>
                        </a:rPr>
                        <a:t>0.534×</a:t>
                      </a:r>
                    </a:p>
                  </a:txBody>
                  <a:tcPr marL="27432" marR="27432" marT="9144" marB="9144">
                    <a:solidFill>
                      <a:srgbClr val="FFFFFF"/>
                    </a:solidFill>
                  </a:tcPr>
                </a:tc>
                <a:extLst>
                  <a:ext uri="{0D108BD9-81ED-4DB2-BD59-A6C34878D82A}">
                    <a16:rowId xmlns:a16="http://schemas.microsoft.com/office/drawing/2014/main" val="10003"/>
                  </a:ext>
                </a:extLst>
              </a:tr>
              <a:tr h="393192">
                <a:tc>
                  <a:txBody>
                    <a:bodyPr/>
                    <a:lstStyle/>
                    <a:p>
                      <a:pPr algn="l"/>
                      <a:r>
                        <a:rPr sz="1500" b="1">
                          <a:solidFill>
                            <a:srgbClr val="233140"/>
                          </a:solidFill>
                          <a:latin typeface="Aptos"/>
                        </a:rPr>
                        <a:t>&gt; 10%</a:t>
                      </a:r>
                    </a:p>
                  </a:txBody>
                  <a:tcPr marR="27432" marT="9144" marB="9144">
                    <a:solidFill>
                      <a:srgbClr val="FFFFFF"/>
                    </a:solidFill>
                  </a:tcPr>
                </a:tc>
                <a:tc>
                  <a:txBody>
                    <a:bodyPr/>
                    <a:lstStyle/>
                    <a:p>
                      <a:pPr algn="ctr"/>
                      <a:r>
                        <a:rPr sz="1500" b="0">
                          <a:solidFill>
                            <a:srgbClr val="233140"/>
                          </a:solidFill>
                          <a:latin typeface="Aptos"/>
                        </a:rPr>
                        <a:t>5</a:t>
                      </a:r>
                    </a:p>
                  </a:txBody>
                  <a:tcPr marL="27432" marR="27432" marT="9144" marB="9144">
                    <a:solidFill>
                      <a:srgbClr val="FFFFFF"/>
                    </a:solidFill>
                  </a:tcPr>
                </a:tc>
                <a:tc>
                  <a:txBody>
                    <a:bodyPr/>
                    <a:lstStyle/>
                    <a:p>
                      <a:pPr algn="ctr"/>
                      <a:r>
                        <a:rPr sz="1500" b="0">
                          <a:solidFill>
                            <a:srgbClr val="042069"/>
                          </a:solidFill>
                          <a:latin typeface="Aptos"/>
                        </a:rPr>
                        <a:t>0.414×</a:t>
                      </a:r>
                    </a:p>
                  </a:txBody>
                  <a:tcPr marL="27432" marR="27432" marT="9144" marB="9144">
                    <a:solidFill>
                      <a:srgbClr val="FFFFFF"/>
                    </a:solidFill>
                  </a:tcPr>
                </a:tc>
                <a:tc>
                  <a:txBody>
                    <a:bodyPr/>
                    <a:lstStyle/>
                    <a:p>
                      <a:pPr algn="ctr"/>
                      <a:r>
                        <a:rPr sz="1500" b="0">
                          <a:solidFill>
                            <a:srgbClr val="042069"/>
                          </a:solidFill>
                          <a:latin typeface="Aptos"/>
                        </a:rPr>
                        <a:t>0.445×</a:t>
                      </a:r>
                    </a:p>
                  </a:txBody>
                  <a:tcPr marL="27432" marR="27432" marT="9144" marB="9144">
                    <a:solidFill>
                      <a:srgbClr val="FFFFFF"/>
                    </a:solidFill>
                  </a:tcPr>
                </a:tc>
                <a:tc>
                  <a:txBody>
                    <a:bodyPr/>
                    <a:lstStyle/>
                    <a:p>
                      <a:pPr algn="ctr"/>
                      <a:r>
                        <a:rPr sz="1500" b="0" dirty="0">
                          <a:solidFill>
                            <a:srgbClr val="042069"/>
                          </a:solidFill>
                          <a:latin typeface="Aptos"/>
                        </a:rPr>
                        <a:t>0.449×</a:t>
                      </a:r>
                    </a:p>
                  </a:txBody>
                  <a:tcPr marL="27432" marR="27432" marT="9144" marB="9144">
                    <a:solidFill>
                      <a:srgbClr val="FFFFFF"/>
                    </a:solidFill>
                  </a:tcPr>
                </a:tc>
                <a:extLst>
                  <a:ext uri="{0D108BD9-81ED-4DB2-BD59-A6C34878D82A}">
                    <a16:rowId xmlns:a16="http://schemas.microsoft.com/office/drawing/2014/main" val="10004"/>
                  </a:ext>
                </a:extLst>
              </a:tr>
            </a:tbl>
          </a:graphicData>
        </a:graphic>
      </p:graphicFrame>
      <p:sp>
        <p:nvSpPr>
          <p:cNvPr id="12" name="TextBox 11"/>
          <p:cNvSpPr txBox="1"/>
          <p:nvPr/>
        </p:nvSpPr>
        <p:spPr>
          <a:xfrm>
            <a:off x="1147203" y="4150254"/>
            <a:ext cx="6200000" cy="430000"/>
          </a:xfrm>
          <a:prstGeom prst="rect">
            <a:avLst/>
          </a:prstGeom>
          <a:noFill/>
        </p:spPr>
        <p:txBody>
          <a:bodyPr wrap="square" lIns="0" tIns="0" rIns="0" bIns="0" anchor="ctr">
            <a:noAutofit/>
          </a:bodyPr>
          <a:lstStyle/>
          <a:p>
            <a:pPr algn="l">
              <a:spcBef>
                <a:spcPts val="0"/>
              </a:spcBef>
              <a:spcAft>
                <a:spcPts val="0"/>
              </a:spcAft>
            </a:pPr>
            <a:r>
              <a:rPr sz="1350" b="1" dirty="0">
                <a:solidFill>
                  <a:srgbClr val="0C2B7A"/>
                </a:solidFill>
                <a:latin typeface="Aptos"/>
              </a:rPr>
              <a:t>• Oct. 2026 </a:t>
            </a:r>
            <a:r>
              <a:rPr lang="en-US" sz="1350" b="1" dirty="0">
                <a:solidFill>
                  <a:srgbClr val="0C2B7A"/>
                </a:solidFill>
                <a:latin typeface="Aptos"/>
              </a:rPr>
              <a:t>comparison</a:t>
            </a:r>
            <a:r>
              <a:rPr sz="1350" b="1" dirty="0">
                <a:solidFill>
                  <a:srgbClr val="0C2B7A"/>
                </a:solidFill>
                <a:latin typeface="Aptos"/>
              </a:rPr>
              <a:t>: </a:t>
            </a:r>
            <a:r>
              <a:rPr sz="1350" b="0" dirty="0">
                <a:solidFill>
                  <a:srgbClr val="0C2B7A"/>
                </a:solidFill>
                <a:latin typeface="Aptos"/>
              </a:rPr>
              <a:t>the recent Nvidia correction fell almost exactly in line with the trend — NVDA </a:t>
            </a:r>
            <a:r>
              <a:rPr sz="1350" b="1" dirty="0">
                <a:solidFill>
                  <a:srgbClr val="0C2B7A"/>
                </a:solidFill>
                <a:latin typeface="Aptos"/>
              </a:rPr>
              <a:t>−11.8%</a:t>
            </a:r>
            <a:r>
              <a:rPr sz="1350" b="0" dirty="0">
                <a:solidFill>
                  <a:srgbClr val="0C2B7A"/>
                </a:solidFill>
                <a:latin typeface="Aptos"/>
              </a:rPr>
              <a:t> (</a:t>
            </a:r>
            <a:r>
              <a:rPr sz="1350" b="1" dirty="0">
                <a:solidFill>
                  <a:srgbClr val="0C2B7A"/>
                </a:solidFill>
                <a:latin typeface="Aptos"/>
              </a:rPr>
              <a:t>−13.6% intraday</a:t>
            </a:r>
            <a:r>
              <a:rPr sz="1350" b="0" dirty="0">
                <a:solidFill>
                  <a:srgbClr val="0C2B7A"/>
                </a:solidFill>
                <a:latin typeface="Aptos"/>
              </a:rPr>
              <a:t>) vs. Nasdaq </a:t>
            </a:r>
            <a:r>
              <a:rPr sz="1350" b="1" dirty="0">
                <a:solidFill>
                  <a:srgbClr val="0C2B7A"/>
                </a:solidFill>
                <a:latin typeface="Aptos"/>
              </a:rPr>
              <a:t>−6.0%</a:t>
            </a:r>
            <a:r>
              <a:rPr sz="1350" b="0" dirty="0">
                <a:solidFill>
                  <a:srgbClr val="0C2B7A"/>
                </a:solidFill>
                <a:latin typeface="Aptos"/>
              </a:rPr>
              <a:t> (</a:t>
            </a:r>
            <a:r>
              <a:rPr sz="1350" b="1" dirty="0">
                <a:solidFill>
                  <a:srgbClr val="0C2B7A"/>
                </a:solidFill>
                <a:latin typeface="Aptos"/>
              </a:rPr>
              <a:t>−6.7% intraday</a:t>
            </a:r>
            <a:r>
              <a:rPr sz="1350" b="0" dirty="0">
                <a:solidFill>
                  <a:srgbClr val="0C2B7A"/>
                </a:solidFill>
                <a:latin typeface="Aptos"/>
              </a:rPr>
              <a:t>), implying </a:t>
            </a:r>
            <a:r>
              <a:rPr sz="1350" b="1" dirty="0">
                <a:solidFill>
                  <a:srgbClr val="0C2B7A"/>
                </a:solidFill>
                <a:latin typeface="Aptos"/>
              </a:rPr>
              <a:t>0.50× / 0.49×</a:t>
            </a:r>
          </a:p>
        </p:txBody>
      </p:sp>
      <p:sp>
        <p:nvSpPr>
          <p:cNvPr id="13" name="Rounded Rectangle 12"/>
          <p:cNvSpPr/>
          <p:nvPr/>
        </p:nvSpPr>
        <p:spPr>
          <a:xfrm>
            <a:off x="7726678" y="1344168"/>
            <a:ext cx="3730754" cy="3346704"/>
          </a:xfrm>
          <a:prstGeom prst="roundRect">
            <a:avLst/>
          </a:prstGeom>
          <a:solidFill>
            <a:srgbClr val="F6FAFD"/>
          </a:solidFill>
          <a:ln w="12700">
            <a:solidFill>
              <a:srgbClr val="C4D8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01000" y="1499616"/>
            <a:ext cx="2999232" cy="283464"/>
          </a:xfrm>
          <a:prstGeom prst="rect">
            <a:avLst/>
          </a:prstGeom>
          <a:noFill/>
        </p:spPr>
        <p:txBody>
          <a:bodyPr wrap="square" lIns="0" tIns="0" rIns="0" bIns="0" anchor="ctr">
            <a:spAutoFit/>
          </a:bodyPr>
          <a:lstStyle/>
          <a:p>
            <a:pPr algn="ctr"/>
            <a:r>
              <a:rPr sz="1750" b="1" dirty="0">
                <a:solidFill>
                  <a:srgbClr val="042069"/>
                </a:solidFill>
                <a:latin typeface="EB Garamond"/>
              </a:rPr>
              <a:t>ILLUSTRATIVE −50% NVDA SHOCK</a:t>
            </a:r>
          </a:p>
        </p:txBody>
      </p:sp>
      <p:sp>
        <p:nvSpPr>
          <p:cNvPr id="15" name="TextBox 14"/>
          <p:cNvSpPr txBox="1"/>
          <p:nvPr/>
        </p:nvSpPr>
        <p:spPr>
          <a:xfrm>
            <a:off x="7955279" y="1890979"/>
            <a:ext cx="3072384" cy="246888"/>
          </a:xfrm>
          <a:prstGeom prst="rect">
            <a:avLst/>
          </a:prstGeom>
          <a:noFill/>
        </p:spPr>
        <p:txBody>
          <a:bodyPr wrap="square" lIns="0" tIns="0" rIns="0" bIns="0" anchor="ctr">
            <a:spAutoFit/>
          </a:bodyPr>
          <a:lstStyle/>
          <a:p>
            <a:pPr algn="ctr"/>
            <a:r>
              <a:rPr sz="1220" b="0" dirty="0">
                <a:solidFill>
                  <a:srgbClr val="4C5968"/>
                </a:solidFill>
                <a:latin typeface="Aptos"/>
              </a:rPr>
              <a:t>Median ratio in the &gt;8% sample: 0.440×</a:t>
            </a:r>
          </a:p>
        </p:txBody>
      </p:sp>
      <p:sp>
        <p:nvSpPr>
          <p:cNvPr id="16" name="TextBox 15"/>
          <p:cNvSpPr txBox="1"/>
          <p:nvPr/>
        </p:nvSpPr>
        <p:spPr>
          <a:xfrm>
            <a:off x="7964424" y="2157984"/>
            <a:ext cx="3063240" cy="640080"/>
          </a:xfrm>
          <a:prstGeom prst="rect">
            <a:avLst/>
          </a:prstGeom>
          <a:noFill/>
        </p:spPr>
        <p:txBody>
          <a:bodyPr wrap="square" lIns="0" tIns="0" rIns="0" bIns="0" anchor="ctr">
            <a:spAutoFit/>
          </a:bodyPr>
          <a:lstStyle/>
          <a:p>
            <a:pPr algn="ctr"/>
            <a:r>
              <a:rPr sz="4200" b="1">
                <a:solidFill>
                  <a:srgbClr val="0071CC"/>
                </a:solidFill>
                <a:latin typeface="EB Garamond"/>
              </a:rPr>
              <a:t>−22.0%</a:t>
            </a:r>
          </a:p>
        </p:txBody>
      </p:sp>
      <p:sp>
        <p:nvSpPr>
          <p:cNvPr id="17" name="TextBox 16"/>
          <p:cNvSpPr txBox="1"/>
          <p:nvPr/>
        </p:nvSpPr>
        <p:spPr>
          <a:xfrm>
            <a:off x="7955279" y="2788920"/>
            <a:ext cx="3054096" cy="265176"/>
          </a:xfrm>
          <a:prstGeom prst="rect">
            <a:avLst/>
          </a:prstGeom>
          <a:noFill/>
        </p:spPr>
        <p:txBody>
          <a:bodyPr wrap="square" lIns="0" tIns="0" rIns="0" bIns="0" anchor="ctr">
            <a:spAutoFit/>
          </a:bodyPr>
          <a:lstStyle/>
          <a:p>
            <a:pPr algn="ctr"/>
            <a:r>
              <a:rPr sz="1550" b="1">
                <a:solidFill>
                  <a:srgbClr val="042069"/>
                </a:solidFill>
                <a:latin typeface="EB Garamond"/>
              </a:rPr>
              <a:t>Implied Nasdaq Composite move</a:t>
            </a:r>
          </a:p>
        </p:txBody>
      </p:sp>
      <p:sp>
        <p:nvSpPr>
          <p:cNvPr id="18" name="Rectangle 17"/>
          <p:cNvSpPr/>
          <p:nvPr/>
        </p:nvSpPr>
        <p:spPr>
          <a:xfrm>
            <a:off x="8083296" y="3172968"/>
            <a:ext cx="2825496" cy="11887"/>
          </a:xfrm>
          <a:prstGeom prst="rect">
            <a:avLst/>
          </a:prstGeom>
          <a:solidFill>
            <a:srgbClr val="C4D8E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964424" y="3346704"/>
            <a:ext cx="3072384" cy="484632"/>
          </a:xfrm>
          <a:prstGeom prst="rect">
            <a:avLst/>
          </a:prstGeom>
          <a:noFill/>
        </p:spPr>
        <p:txBody>
          <a:bodyPr wrap="square" lIns="0" tIns="0" rIns="0" bIns="0" anchor="ctr">
            <a:spAutoFit/>
          </a:bodyPr>
          <a:lstStyle/>
          <a:p>
            <a:pPr algn="ctr"/>
            <a:r>
              <a:rPr sz="2900" b="1">
                <a:solidFill>
                  <a:srgbClr val="042069"/>
                </a:solidFill>
                <a:latin typeface="EB Garamond"/>
              </a:rPr>
              <a:t>≈ $10.0T</a:t>
            </a:r>
          </a:p>
        </p:txBody>
      </p:sp>
      <p:sp>
        <p:nvSpPr>
          <p:cNvPr id="21" name="Rounded Rectangle 20"/>
          <p:cNvSpPr/>
          <p:nvPr/>
        </p:nvSpPr>
        <p:spPr>
          <a:xfrm>
            <a:off x="896112" y="4812504"/>
            <a:ext cx="10561320" cy="1235576"/>
          </a:xfrm>
          <a:prstGeom prst="roundRect">
            <a:avLst/>
          </a:prstGeom>
          <a:solidFill>
            <a:srgbClr val="F6FAFD"/>
          </a:solidFill>
          <a:ln w="12700">
            <a:solidFill>
              <a:srgbClr val="C4D8E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124712" y="4924290"/>
            <a:ext cx="9966960" cy="246888"/>
          </a:xfrm>
          <a:prstGeom prst="rect">
            <a:avLst/>
          </a:prstGeom>
          <a:noFill/>
        </p:spPr>
        <p:txBody>
          <a:bodyPr wrap="square" lIns="0" tIns="0" rIns="0" bIns="0" anchor="ctr">
            <a:spAutoFit/>
          </a:bodyPr>
          <a:lstStyle/>
          <a:p>
            <a:pPr algn="l"/>
            <a:r>
              <a:rPr sz="1650" b="1" dirty="0">
                <a:solidFill>
                  <a:srgbClr val="042069"/>
                </a:solidFill>
                <a:latin typeface="EB Garamond"/>
              </a:rPr>
              <a:t>EVEN TAIL-CONDITIONED RATIOS MAY UNDERSTATE A COLLAPSE</a:t>
            </a:r>
          </a:p>
        </p:txBody>
      </p:sp>
      <p:sp>
        <p:nvSpPr>
          <p:cNvPr id="30" name="TextBox 29"/>
          <p:cNvSpPr txBox="1"/>
          <p:nvPr/>
        </p:nvSpPr>
        <p:spPr>
          <a:xfrm>
            <a:off x="11457432" y="6501384"/>
            <a:ext cx="274320" cy="164592"/>
          </a:xfrm>
          <a:prstGeom prst="rect">
            <a:avLst/>
          </a:prstGeom>
          <a:noFill/>
        </p:spPr>
        <p:txBody>
          <a:bodyPr wrap="square" lIns="0" tIns="0" rIns="0" bIns="0" anchor="ctr">
            <a:spAutoFit/>
          </a:bodyPr>
          <a:lstStyle/>
          <a:p>
            <a:pPr algn="r"/>
            <a:r>
              <a:rPr sz="940" b="0">
                <a:solidFill>
                  <a:srgbClr val="4C5968"/>
                </a:solidFill>
                <a:latin typeface="Aptos"/>
              </a:rPr>
              <a:t>27</a:t>
            </a:r>
          </a:p>
        </p:txBody>
      </p:sp>
      <p:sp>
        <p:nvSpPr>
          <p:cNvPr id="31" name="TextBox 30"/>
          <p:cNvSpPr txBox="1"/>
          <p:nvPr/>
        </p:nvSpPr>
        <p:spPr>
          <a:xfrm>
            <a:off x="1115568" y="5193792"/>
            <a:ext cx="9875520" cy="667512"/>
          </a:xfrm>
          <a:prstGeom prst="rect">
            <a:avLst/>
          </a:prstGeom>
          <a:noFill/>
        </p:spPr>
        <p:txBody>
          <a:bodyPr wrap="square" lIns="9144" tIns="9144" rIns="9144" bIns="9144">
            <a:spAutoFit/>
          </a:bodyPr>
          <a:lstStyle/>
          <a:p>
            <a:pPr algn="l"/>
            <a:r>
              <a:rPr sz="1600" dirty="0">
                <a:solidFill>
                  <a:srgbClr val="233140"/>
                </a:solidFill>
                <a:latin typeface="EB Garamond"/>
              </a:rPr>
              <a:t>These quantiles already condition on large Nvidia moves, but a 50–80% collapse lies far beyond the observed weeks. It could trigger cascading forced sales, margin calls and liquidity spirals that the historical ratios do not adequately capture.</a:t>
            </a:r>
          </a:p>
        </p:txBody>
      </p:sp>
      <p:sp>
        <p:nvSpPr>
          <p:cNvPr id="32" name="TextBox 31"/>
          <p:cNvSpPr txBox="1"/>
          <p:nvPr/>
        </p:nvSpPr>
        <p:spPr>
          <a:xfrm>
            <a:off x="1133856" y="4287451"/>
            <a:ext cx="6163056" cy="201168"/>
          </a:xfrm>
          <a:prstGeom prst="rect">
            <a:avLst/>
          </a:prstGeom>
          <a:noFill/>
        </p:spPr>
        <p:txBody>
          <a:bodyPr wrap="none" lIns="0" tIns="0" rIns="0" bIns="0">
            <a:spAutoFit/>
          </a:bodyPr>
          <a:lstStyle/>
          <a:p>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822960" y="841248"/>
            <a:ext cx="10561320" cy="603504"/>
          </a:xfrm>
          <a:prstGeom prst="rect">
            <a:avLst/>
          </a:prstGeom>
          <a:noFill/>
          <a:ln/>
        </p:spPr>
        <p:txBody>
          <a:bodyPr wrap="square" lIns="0" tIns="0" rIns="0" bIns="0" rtlCol="0" anchor="ctr">
            <a:normAutofit/>
          </a:bodyPr>
          <a:lstStyle/>
          <a:p>
            <a:pPr marL="0" indent="0" algn="ctr">
              <a:buNone/>
            </a:pPr>
            <a:r>
              <a:rPr lang="en-US" sz="3000" b="1" dirty="0">
                <a:solidFill>
                  <a:srgbClr val="FFFFFF"/>
                </a:solidFill>
                <a:latin typeface="EB Garamond" pitchFamily="34" charset="0"/>
                <a:ea typeface="EB Garamond" pitchFamily="34" charset="-122"/>
                <a:cs typeface="EB Garamond" pitchFamily="34" charset="-120"/>
              </a:rPr>
              <a:t>Conclusion: The Odds Are Good, but the Goods Are Odd</a:t>
            </a:r>
            <a:endParaRPr lang="en-US" sz="3000" dirty="0"/>
          </a:p>
        </p:txBody>
      </p:sp>
      <p:sp>
        <p:nvSpPr>
          <p:cNvPr id="3" name="Text 1"/>
          <p:cNvSpPr/>
          <p:nvPr/>
        </p:nvSpPr>
        <p:spPr>
          <a:xfrm>
            <a:off x="1143000" y="1664208"/>
            <a:ext cx="9921240" cy="530352"/>
          </a:xfrm>
          <a:prstGeom prst="rect">
            <a:avLst/>
          </a:prstGeom>
          <a:noFill/>
          <a:ln/>
        </p:spPr>
        <p:txBody>
          <a:bodyPr wrap="square" lIns="0" tIns="0" rIns="0" bIns="0" rtlCol="0" anchor="ctr">
            <a:normAutofit/>
          </a:bodyPr>
          <a:lstStyle/>
          <a:p>
            <a:pPr marL="0" indent="0" algn="ctr">
              <a:buNone/>
            </a:pPr>
            <a:r>
              <a:rPr lang="en-US" sz="1800" dirty="0">
                <a:solidFill>
                  <a:srgbClr val="B9D9EB"/>
                </a:solidFill>
                <a:latin typeface="EB Garamond" pitchFamily="34" charset="0"/>
                <a:ea typeface="EB Garamond" pitchFamily="34" charset="-122"/>
                <a:cs typeface="EB Garamond" pitchFamily="34" charset="-120"/>
              </a:rPr>
              <a:t>To say there is no bubble and current valuations are broadly correct, the bull case effectively needs all three:</a:t>
            </a:r>
            <a:endParaRPr lang="en-US" sz="1800" dirty="0"/>
          </a:p>
        </p:txBody>
      </p:sp>
      <p:sp>
        <p:nvSpPr>
          <p:cNvPr id="4" name="Text 2"/>
          <p:cNvSpPr/>
          <p:nvPr/>
        </p:nvSpPr>
        <p:spPr>
          <a:xfrm>
            <a:off x="1188720" y="2514600"/>
            <a:ext cx="411480" cy="384048"/>
          </a:xfrm>
          <a:prstGeom prst="rect">
            <a:avLst/>
          </a:prstGeom>
          <a:noFill/>
          <a:ln/>
        </p:spPr>
        <p:txBody>
          <a:bodyPr wrap="square" lIns="0" tIns="0" rIns="0" bIns="0" rtlCol="0" anchor="ctr"/>
          <a:lstStyle/>
          <a:p>
            <a:pPr marL="0" indent="0" algn="ctr">
              <a:buNone/>
            </a:pPr>
            <a:r>
              <a:rPr lang="en-US" sz="2200" b="1" dirty="0">
                <a:solidFill>
                  <a:srgbClr val="B9D9EB"/>
                </a:solidFill>
                <a:latin typeface="EB Garamond" pitchFamily="34" charset="0"/>
                <a:ea typeface="EB Garamond" pitchFamily="34" charset="-122"/>
                <a:cs typeface="EB Garamond" pitchFamily="34" charset="-120"/>
              </a:rPr>
              <a:t>1</a:t>
            </a:r>
            <a:endParaRPr lang="en-US" sz="2200" dirty="0"/>
          </a:p>
        </p:txBody>
      </p:sp>
      <p:sp>
        <p:nvSpPr>
          <p:cNvPr id="5" name="Text 3"/>
          <p:cNvSpPr/>
          <p:nvPr/>
        </p:nvSpPr>
        <p:spPr>
          <a:xfrm>
            <a:off x="1783080" y="2514600"/>
            <a:ext cx="3749040" cy="384048"/>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EB Garamond" pitchFamily="34" charset="0"/>
                <a:ea typeface="EB Garamond" pitchFamily="34" charset="-122"/>
                <a:cs typeface="EB Garamond" pitchFamily="34" charset="-120"/>
              </a:rPr>
              <a:t>AI is transformative enough</a:t>
            </a:r>
            <a:endParaRPr lang="en-US" sz="2000" dirty="0"/>
          </a:p>
        </p:txBody>
      </p:sp>
      <p:sp>
        <p:nvSpPr>
          <p:cNvPr id="6" name="Text 4"/>
          <p:cNvSpPr/>
          <p:nvPr/>
        </p:nvSpPr>
        <p:spPr>
          <a:xfrm>
            <a:off x="1188720" y="3520440"/>
            <a:ext cx="411480" cy="384048"/>
          </a:xfrm>
          <a:prstGeom prst="rect">
            <a:avLst/>
          </a:prstGeom>
          <a:noFill/>
          <a:ln/>
        </p:spPr>
        <p:txBody>
          <a:bodyPr wrap="square" lIns="0" tIns="0" rIns="0" bIns="0" rtlCol="0" anchor="ctr"/>
          <a:lstStyle/>
          <a:p>
            <a:pPr marL="0" indent="0" algn="ctr">
              <a:buNone/>
            </a:pPr>
            <a:r>
              <a:rPr lang="en-US" sz="2200" b="1" dirty="0">
                <a:solidFill>
                  <a:srgbClr val="B9D9EB"/>
                </a:solidFill>
                <a:latin typeface="EB Garamond" pitchFamily="34" charset="0"/>
                <a:ea typeface="EB Garamond" pitchFamily="34" charset="-122"/>
                <a:cs typeface="EB Garamond" pitchFamily="34" charset="-120"/>
              </a:rPr>
              <a:t>2</a:t>
            </a:r>
            <a:endParaRPr lang="en-US" sz="2200" dirty="0"/>
          </a:p>
        </p:txBody>
      </p:sp>
      <p:sp>
        <p:nvSpPr>
          <p:cNvPr id="7" name="Text 5"/>
          <p:cNvSpPr/>
          <p:nvPr/>
        </p:nvSpPr>
        <p:spPr>
          <a:xfrm>
            <a:off x="1783080" y="3520440"/>
            <a:ext cx="3749040" cy="384048"/>
          </a:xfrm>
          <a:prstGeom prst="rect">
            <a:avLst/>
          </a:prstGeom>
          <a:noFill/>
          <a:ln/>
        </p:spPr>
        <p:txBody>
          <a:bodyPr wrap="square" lIns="0" tIns="0" rIns="0" bIns="0" rtlCol="0" anchor="ctr">
            <a:normAutofit fontScale="85000" lnSpcReduction="10000"/>
          </a:bodyPr>
          <a:lstStyle/>
          <a:p>
            <a:pPr marL="0" indent="0">
              <a:buNone/>
            </a:pPr>
            <a:r>
              <a:rPr lang="en-US" sz="2000" b="1" dirty="0">
                <a:solidFill>
                  <a:srgbClr val="FFFFFF"/>
                </a:solidFill>
                <a:latin typeface="EB Garamond" pitchFamily="34" charset="0"/>
                <a:ea typeface="EB Garamond" pitchFamily="34" charset="-122"/>
                <a:cs typeface="EB Garamond" pitchFamily="34" charset="-120"/>
              </a:rPr>
              <a:t>The buildout is not materially overdone</a:t>
            </a:r>
            <a:endParaRPr lang="en-US" sz="2000" dirty="0"/>
          </a:p>
        </p:txBody>
      </p:sp>
      <p:sp>
        <p:nvSpPr>
          <p:cNvPr id="8" name="Text 6"/>
          <p:cNvSpPr/>
          <p:nvPr/>
        </p:nvSpPr>
        <p:spPr>
          <a:xfrm>
            <a:off x="1188720" y="4526280"/>
            <a:ext cx="411480" cy="384048"/>
          </a:xfrm>
          <a:prstGeom prst="rect">
            <a:avLst/>
          </a:prstGeom>
          <a:noFill/>
          <a:ln/>
        </p:spPr>
        <p:txBody>
          <a:bodyPr wrap="square" lIns="0" tIns="0" rIns="0" bIns="0" rtlCol="0" anchor="ctr"/>
          <a:lstStyle/>
          <a:p>
            <a:pPr marL="0" indent="0" algn="ctr">
              <a:buNone/>
            </a:pPr>
            <a:r>
              <a:rPr lang="en-US" sz="2200" b="1" dirty="0">
                <a:solidFill>
                  <a:srgbClr val="B9D9EB"/>
                </a:solidFill>
                <a:latin typeface="EB Garamond" pitchFamily="34" charset="0"/>
                <a:ea typeface="EB Garamond" pitchFamily="34" charset="-122"/>
                <a:cs typeface="EB Garamond" pitchFamily="34" charset="-120"/>
              </a:rPr>
              <a:t>3</a:t>
            </a:r>
            <a:endParaRPr lang="en-US" sz="2200" dirty="0"/>
          </a:p>
        </p:txBody>
      </p:sp>
      <p:sp>
        <p:nvSpPr>
          <p:cNvPr id="9" name="Text 7"/>
          <p:cNvSpPr/>
          <p:nvPr/>
        </p:nvSpPr>
        <p:spPr>
          <a:xfrm>
            <a:off x="1783080" y="4526280"/>
            <a:ext cx="3749040" cy="384048"/>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EB Garamond" pitchFamily="34" charset="0"/>
                <a:ea typeface="EB Garamond" pitchFamily="34" charset="-122"/>
                <a:cs typeface="EB Garamond" pitchFamily="34" charset="-120"/>
              </a:rPr>
              <a:t>Today’s leaders retain the rents</a:t>
            </a:r>
            <a:endParaRPr lang="en-US" sz="2000" dirty="0"/>
          </a:p>
        </p:txBody>
      </p:sp>
      <p:sp>
        <p:nvSpPr>
          <p:cNvPr id="10" name="Text 8"/>
          <p:cNvSpPr/>
          <p:nvPr/>
        </p:nvSpPr>
        <p:spPr>
          <a:xfrm>
            <a:off x="5532120" y="2523744"/>
            <a:ext cx="5166360" cy="438912"/>
          </a:xfrm>
          <a:prstGeom prst="rect">
            <a:avLst/>
          </a:prstGeom>
          <a:noFill/>
          <a:ln/>
        </p:spPr>
        <p:txBody>
          <a:bodyPr wrap="square" lIns="0" tIns="0" rIns="0" bIns="0" rtlCol="0" anchor="ctr">
            <a:normAutofit/>
          </a:bodyPr>
          <a:lstStyle/>
          <a:p>
            <a:pPr marL="0" indent="0">
              <a:buNone/>
            </a:pPr>
            <a:r>
              <a:rPr lang="en-US" sz="1650" dirty="0">
                <a:solidFill>
                  <a:srgbClr val="B9D9EB"/>
                </a:solidFill>
                <a:latin typeface="EB Garamond" pitchFamily="34" charset="0"/>
                <a:ea typeface="EB Garamond" pitchFamily="34" charset="-122"/>
                <a:cs typeface="EB Garamond" pitchFamily="34" charset="-120"/>
              </a:rPr>
              <a:t>to justify a historically unprecedented buildout relative to GDP.</a:t>
            </a:r>
            <a:endParaRPr lang="en-US" sz="1650" dirty="0"/>
          </a:p>
        </p:txBody>
      </p:sp>
      <p:sp>
        <p:nvSpPr>
          <p:cNvPr id="11" name="Text 9"/>
          <p:cNvSpPr/>
          <p:nvPr/>
        </p:nvSpPr>
        <p:spPr>
          <a:xfrm>
            <a:off x="5532120" y="3482110"/>
            <a:ext cx="5166360" cy="438912"/>
          </a:xfrm>
          <a:prstGeom prst="rect">
            <a:avLst/>
          </a:prstGeom>
          <a:noFill/>
          <a:ln/>
        </p:spPr>
        <p:txBody>
          <a:bodyPr wrap="square" lIns="0" tIns="0" rIns="0" bIns="0" rtlCol="0" anchor="ctr">
            <a:normAutofit/>
          </a:bodyPr>
          <a:lstStyle/>
          <a:p>
            <a:pPr marL="0" indent="0">
              <a:buNone/>
            </a:pPr>
            <a:r>
              <a:rPr lang="en-US" sz="1650" dirty="0">
                <a:solidFill>
                  <a:srgbClr val="B9D9EB"/>
                </a:solidFill>
                <a:latin typeface="EB Garamond" pitchFamily="34" charset="0"/>
                <a:ea typeface="EB Garamond" pitchFamily="34" charset="-122"/>
                <a:cs typeface="EB Garamond" pitchFamily="34" charset="-120"/>
              </a:rPr>
              <a:t>despite repeated examples of real technologies overbooming.</a:t>
            </a:r>
            <a:endParaRPr lang="en-US" sz="1650" dirty="0"/>
          </a:p>
        </p:txBody>
      </p:sp>
      <p:sp>
        <p:nvSpPr>
          <p:cNvPr id="12" name="Text 10"/>
          <p:cNvSpPr/>
          <p:nvPr/>
        </p:nvSpPr>
        <p:spPr>
          <a:xfrm>
            <a:off x="5532120" y="4498848"/>
            <a:ext cx="5378050" cy="438912"/>
          </a:xfrm>
          <a:prstGeom prst="rect">
            <a:avLst/>
          </a:prstGeom>
          <a:noFill/>
          <a:ln/>
        </p:spPr>
        <p:txBody>
          <a:bodyPr wrap="square" lIns="0" tIns="0" rIns="0" bIns="0" rtlCol="0" anchor="ctr">
            <a:normAutofit fontScale="92500"/>
          </a:bodyPr>
          <a:lstStyle/>
          <a:p>
            <a:pPr marL="0" indent="0">
              <a:buNone/>
            </a:pPr>
            <a:r>
              <a:rPr lang="en-US" sz="1650" dirty="0">
                <a:solidFill>
                  <a:srgbClr val="B9D9EB"/>
                </a:solidFill>
                <a:latin typeface="EB Garamond" pitchFamily="34" charset="0"/>
                <a:ea typeface="EB Garamond" pitchFamily="34" charset="-122"/>
                <a:cs typeface="EB Garamond" pitchFamily="34" charset="-120"/>
              </a:rPr>
              <a:t>or identify durable new moats before the major productivity gains arrive.</a:t>
            </a:r>
            <a:endParaRPr lang="en-US" sz="1650" dirty="0"/>
          </a:p>
        </p:txBody>
      </p:sp>
      <p:sp>
        <p:nvSpPr>
          <p:cNvPr id="13" name="Shape 11"/>
          <p:cNvSpPr/>
          <p:nvPr/>
        </p:nvSpPr>
        <p:spPr>
          <a:xfrm>
            <a:off x="1143000" y="5623560"/>
            <a:ext cx="9921240" cy="0"/>
          </a:xfrm>
          <a:prstGeom prst="line">
            <a:avLst/>
          </a:prstGeom>
          <a:noFill/>
          <a:ln w="17780">
            <a:solidFill>
              <a:srgbClr val="6CACE4"/>
            </a:solidFill>
            <a:prstDash val="solid"/>
          </a:ln>
        </p:spPr>
        <p:txBody>
          <a:bodyPr/>
          <a:lstStyle/>
          <a:p>
            <a:endParaRPr/>
          </a:p>
        </p:txBody>
      </p:sp>
      <p:sp>
        <p:nvSpPr>
          <p:cNvPr id="14" name="Text 12"/>
          <p:cNvSpPr/>
          <p:nvPr/>
        </p:nvSpPr>
        <p:spPr>
          <a:xfrm>
            <a:off x="1097280" y="5852160"/>
            <a:ext cx="10012680" cy="475488"/>
          </a:xfrm>
          <a:prstGeom prst="rect">
            <a:avLst/>
          </a:prstGeom>
          <a:noFill/>
          <a:ln/>
        </p:spPr>
        <p:txBody>
          <a:bodyPr wrap="square" lIns="0" tIns="0" rIns="0" bIns="0" rtlCol="0" anchor="ctr">
            <a:normAutofit fontScale="92500"/>
          </a:bodyPr>
          <a:lstStyle/>
          <a:p>
            <a:pPr marL="0" indent="0" algn="ctr">
              <a:buNone/>
            </a:pPr>
            <a:r>
              <a:rPr lang="en-US" sz="2200" b="1" dirty="0">
                <a:solidFill>
                  <a:srgbClr val="FFFFFF"/>
                </a:solidFill>
                <a:latin typeface="EB Garamond" pitchFamily="34" charset="0"/>
                <a:ea typeface="EB Garamond" pitchFamily="34" charset="-122"/>
                <a:cs typeface="EB Garamond" pitchFamily="34" charset="-120"/>
              </a:rPr>
              <a:t>AI can transform the world and today’s presumed winners can still be badly overpriced.</a:t>
            </a:r>
            <a:endParaRPr lang="en-US" sz="2200" dirty="0"/>
          </a:p>
        </p:txBody>
      </p:sp>
      <p:sp>
        <p:nvSpPr>
          <p:cNvPr id="25" name="Slide Number Placeholder 0"/>
          <p:cNvSpPr>
            <a:spLocks noGrp="1"/>
          </p:cNvSpPr>
          <p:nvPr>
            <p:ph type="sldNum" sz="quarter" idx="4294967295"/>
          </p:nvPr>
        </p:nvSpPr>
        <p:spPr>
          <a:xfrm>
            <a:off x="11384280" y="6492240"/>
            <a:ext cx="411480" cy="164592"/>
          </a:xfrm>
          <a:prstGeom prst="rect">
            <a:avLst/>
          </a:prstGeom>
          <a:extLst>
            <a:ext uri="{C572A759-6A51-4108-AA02-DFA0A04FC94B}">
              <ma14:wrappingTextBoxFlag xmlns:ma14="http://schemas.microsoft.com/office/mac/drawingml/2011/main" xmlns="" val="0"/>
            </a:ext>
          </a:extLst>
        </p:spPr>
        <p:txBody>
          <a:bodyPr/>
          <a:lstStyle>
            <a:lvl1pPr>
              <a:defRPr sz="900">
                <a:solidFill>
                  <a:srgbClr val="B9D9EB"/>
                </a:solidFill>
                <a:latin typeface="EB Garamond"/>
                <a:ea typeface="EB Garamond"/>
                <a:cs typeface="EB Garamond"/>
              </a:defRPr>
            </a:lvl1pPr>
          </a:lstStyle>
          <a:p>
            <a:r>
              <a:rPr sz="900">
                <a:solidFill>
                  <a:srgbClr val="5F6973"/>
                </a:solidFill>
                <a:latin typeface="Aptos"/>
              </a:rPr>
              <a:t>28</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868680" y="228600"/>
            <a:ext cx="10698480" cy="438912"/>
          </a:xfrm>
          <a:prstGeom prst="rect">
            <a:avLst/>
          </a:prstGeom>
          <a:noFill/>
          <a:ln/>
        </p:spPr>
        <p:txBody>
          <a:bodyPr wrap="square" lIns="0" tIns="0" rIns="0" bIns="0" rtlCol="0" anchor="ctr">
            <a:normAutofit/>
          </a:bodyPr>
          <a:lstStyle/>
          <a:p>
            <a:pPr marL="0" indent="0">
              <a:buNone/>
            </a:pPr>
            <a:r>
              <a:rPr lang="en-US" sz="2600" b="1" dirty="0">
                <a:solidFill>
                  <a:srgbClr val="022169"/>
                </a:solidFill>
                <a:latin typeface="EB Garamond" pitchFamily="34" charset="0"/>
                <a:ea typeface="EB Garamond" pitchFamily="34" charset="-122"/>
                <a:cs typeface="EB Garamond" pitchFamily="34" charset="-120"/>
              </a:rPr>
              <a:t>Sources</a:t>
            </a:r>
            <a:endParaRPr lang="en-US" sz="2600" dirty="0"/>
          </a:p>
        </p:txBody>
      </p:sp>
      <p:sp>
        <p:nvSpPr>
          <p:cNvPr id="3" name="Text 1"/>
          <p:cNvSpPr/>
          <p:nvPr/>
        </p:nvSpPr>
        <p:spPr>
          <a:xfrm>
            <a:off x="822960" y="1280160"/>
            <a:ext cx="5212080" cy="4480560"/>
          </a:xfrm>
          <a:prstGeom prst="rect">
            <a:avLst/>
          </a:prstGeom>
          <a:noFill/>
          <a:ln/>
        </p:spPr>
        <p:txBody>
          <a:bodyPr wrap="square" lIns="381" tIns="381" rIns="381" bIns="381" rtlCol="0" anchor="t">
            <a:normAutofit/>
          </a:bodyPr>
          <a:lstStyle/>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Scale of buildout: Van Nieuwerburgh, “Financing the AI Buildout,” BPEA / NBER, 2026.</a:t>
            </a:r>
            <a:endParaRPr lang="en-US" sz="1550" dirty="0"/>
          </a:p>
          <a:p>
            <a:pPr marL="215900" indent="-215900">
              <a:buSzPct val="100000"/>
              <a:buChar char="•"/>
            </a:pPr>
            <a:endParaRPr lang="en-US" sz="1550" dirty="0">
              <a:solidFill>
                <a:srgbClr val="2F3437"/>
              </a:solidFill>
              <a:latin typeface="EB Garamond" pitchFamily="34" charset="0"/>
              <a:ea typeface="EB Garamond" pitchFamily="34" charset="-122"/>
              <a:cs typeface="EB Garamond" pitchFamily="34" charset="-120"/>
            </a:endParaRPr>
          </a:p>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VC concentration: PitchBook–NVCA Venture Monitor, Q1 2026.</a:t>
            </a:r>
            <a:endParaRPr lang="en-US" sz="1550" dirty="0"/>
          </a:p>
          <a:p>
            <a:pPr marL="215900" indent="-215900">
              <a:buSzPct val="100000"/>
              <a:buChar char="•"/>
            </a:pPr>
            <a:endParaRPr lang="en-US" sz="1550" dirty="0">
              <a:solidFill>
                <a:srgbClr val="2F3437"/>
              </a:solidFill>
              <a:latin typeface="EB Garamond" pitchFamily="34" charset="0"/>
              <a:ea typeface="EB Garamond" pitchFamily="34" charset="-122"/>
              <a:cs typeface="EB Garamond" pitchFamily="34" charset="-120"/>
            </a:endParaRPr>
          </a:p>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Productivity J-curve: Brynjolfsson, Rock &amp; Syverson.</a:t>
            </a:r>
            <a:endParaRPr lang="en-US" sz="1550" dirty="0"/>
          </a:p>
          <a:p>
            <a:pPr marL="215900" indent="-215900">
              <a:buSzPct val="100000"/>
              <a:buChar char="•"/>
            </a:pPr>
            <a:endParaRPr lang="en-US" sz="1550" dirty="0">
              <a:solidFill>
                <a:srgbClr val="2F3437"/>
              </a:solidFill>
              <a:latin typeface="EB Garamond" pitchFamily="34" charset="0"/>
              <a:ea typeface="EB Garamond" pitchFamily="34" charset="-122"/>
              <a:cs typeface="EB Garamond" pitchFamily="34" charset="-120"/>
            </a:endParaRPr>
          </a:p>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Nvidia substitution: TrendForce ASIC-server forecasts; hyperscaler custom-silicon shipment mix.</a:t>
            </a:r>
            <a:endParaRPr lang="en-US" sz="1550" dirty="0"/>
          </a:p>
          <a:p>
            <a:pPr marL="215900" indent="-215900">
              <a:buSzPct val="100000"/>
              <a:buChar char="•"/>
            </a:pPr>
            <a:endParaRPr lang="en-US" sz="1550" dirty="0">
              <a:solidFill>
                <a:srgbClr val="2F3437"/>
              </a:solidFill>
              <a:latin typeface="EB Garamond" pitchFamily="34" charset="0"/>
              <a:ea typeface="EB Garamond" pitchFamily="34" charset="-122"/>
              <a:cs typeface="EB Garamond" pitchFamily="34" charset="-120"/>
            </a:endParaRPr>
          </a:p>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Model convergence: Stanford AI Index 2025 and 2026 technical-performance chapters.</a:t>
            </a:r>
            <a:endParaRPr lang="en-US" sz="1550" dirty="0"/>
          </a:p>
        </p:txBody>
      </p:sp>
      <p:sp>
        <p:nvSpPr>
          <p:cNvPr id="4" name="Text 2"/>
          <p:cNvSpPr/>
          <p:nvPr/>
        </p:nvSpPr>
        <p:spPr>
          <a:xfrm>
            <a:off x="6263640" y="1280160"/>
            <a:ext cx="5074920" cy="4480560"/>
          </a:xfrm>
          <a:prstGeom prst="rect">
            <a:avLst/>
          </a:prstGeom>
          <a:noFill/>
          <a:ln/>
        </p:spPr>
        <p:txBody>
          <a:bodyPr wrap="square" lIns="381" tIns="381" rIns="381" bIns="381" rtlCol="0" anchor="t">
            <a:normAutofit/>
          </a:bodyPr>
          <a:lstStyle/>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Model pricing: official OpenAI, Anthropic, Alibaba Cloud pricing pages.</a:t>
            </a:r>
            <a:endParaRPr lang="en-US" sz="1550" dirty="0"/>
          </a:p>
          <a:p>
            <a:pPr marL="215900" indent="-215900">
              <a:buSzPct val="100000"/>
              <a:buChar char="•"/>
            </a:pPr>
            <a:endParaRPr lang="en-US" sz="1550" dirty="0">
              <a:solidFill>
                <a:srgbClr val="2F3437"/>
              </a:solidFill>
              <a:latin typeface="EB Garamond" pitchFamily="34" charset="0"/>
              <a:ea typeface="EB Garamond" pitchFamily="34" charset="-122"/>
              <a:cs typeface="EB Garamond" pitchFamily="34" charset="-120"/>
            </a:endParaRPr>
          </a:p>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Valuation basket / SpaceX core: public market caps; Morgan Stanley (Aug. 2026), $127/share at 52× 2028E EBITDA; Reuters (Feb. 2026), pre-xAI SpaceX transaction $1T.</a:t>
            </a:r>
            <a:endParaRPr lang="en-US" sz="1550" dirty="0"/>
          </a:p>
          <a:p>
            <a:pPr marL="215900" indent="-215900">
              <a:buSzPct val="100000"/>
              <a:buChar char="•"/>
            </a:pPr>
            <a:endParaRPr lang="en-US" sz="1550" dirty="0">
              <a:solidFill>
                <a:srgbClr val="2F3437"/>
              </a:solidFill>
              <a:latin typeface="EB Garamond" pitchFamily="34" charset="0"/>
              <a:ea typeface="EB Garamond" pitchFamily="34" charset="-122"/>
              <a:cs typeface="EB Garamond" pitchFamily="34" charset="-120"/>
            </a:endParaRPr>
          </a:p>
          <a:p>
            <a:pPr marL="215900" indent="-215900">
              <a:buSzPct val="100000"/>
              <a:buChar char="•"/>
            </a:pPr>
            <a:r>
              <a:rPr lang="en-US" sz="1550" dirty="0">
                <a:solidFill>
                  <a:srgbClr val="2F3437"/>
                </a:solidFill>
                <a:latin typeface="EB Garamond" pitchFamily="34" charset="0"/>
                <a:ea typeface="EB Garamond" pitchFamily="34" charset="-122"/>
                <a:cs typeface="EB Garamond" pitchFamily="34" charset="-120"/>
              </a:rPr>
              <a:t>Circular financing: BIS Bulletin 137; OpenAI / Amazon announcements; Nvidia / CoreWeave filings.</a:t>
            </a:r>
            <a:endParaRPr lang="en-US" sz="1550" dirty="0"/>
          </a:p>
        </p:txBody>
      </p:sp>
      <p:sp>
        <p:nvSpPr>
          <p:cNvPr id="25" name="Slide Number Placeholder 0"/>
          <p:cNvSpPr>
            <a:spLocks noGrp="1"/>
          </p:cNvSpPr>
          <p:nvPr>
            <p:ph type="sldNum" sz="quarter" idx="4294967295"/>
          </p:nvPr>
        </p:nvSpPr>
        <p:spPr>
          <a:xfrm>
            <a:off x="11780838" y="6492875"/>
            <a:ext cx="411162" cy="163513"/>
          </a:xfrm>
          <a:prstGeom prst="rect">
            <a:avLst/>
          </a:prstGeom>
          <a:extLst>
            <a:ext uri="{C572A759-6A51-4108-AA02-DFA0A04FC94B}">
              <ma14:wrappingTextBoxFlag xmlns:ma14="http://schemas.microsoft.com/office/mac/drawingml/2011/main" xmlns="" val="0"/>
            </a:ext>
          </a:extLst>
        </p:spPr>
        <p:txBody>
          <a:bodyPr/>
          <a:lstStyle>
            <a:lvl1pPr>
              <a:defRPr sz="900">
                <a:solidFill>
                  <a:srgbClr val="7A858D"/>
                </a:solidFill>
                <a:latin typeface="EB Garamond"/>
                <a:ea typeface="EB Garamond"/>
                <a:cs typeface="EB Garamond"/>
              </a:defRPr>
            </a:lvl1pPr>
          </a:lstStyle>
          <a:p>
            <a:r>
              <a:rPr sz="900">
                <a:solidFill>
                  <a:srgbClr val="5F6973"/>
                </a:solidFill>
                <a:latin typeface="Aptos"/>
              </a:rPr>
              <a:t>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EB Garamon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EB Garamond"/>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725</TotalTime>
  <Words>6627</Words>
  <Application>Microsoft Office PowerPoint</Application>
  <PresentationFormat>Widescreen</PresentationFormat>
  <Paragraphs>624</Paragraphs>
  <Slides>29</Slides>
  <Notes>25</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29</vt:i4>
      </vt:variant>
    </vt:vector>
  </HeadingPairs>
  <TitlesOfParts>
    <vt:vector size="38" baseType="lpstr">
      <vt:lpstr>Aptos</vt:lpstr>
      <vt:lpstr>Aptos Display</vt:lpstr>
      <vt:lpstr>Arial</vt:lpstr>
      <vt:lpstr>Calibri</vt:lpstr>
      <vt:lpstr>EB Garamond</vt:lpstr>
      <vt:lpstr>Georgia</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Columbia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Sunday Finance Seminar: The Case for an AI Bubble</dc:title>
  <dc:subject>Sunday Finance Seminar: The Case for an AI Bubble</dc:subject>
  <dc:creator>Timothy Sorochkin</dc:creator>
  <cp:lastModifiedBy>ts3812</cp:lastModifiedBy>
  <cp:revision>20</cp:revision>
  <dcterms:created xsi:type="dcterms:W3CDTF">2026-10-21T19:41:27Z</dcterms:created>
  <dcterms:modified xsi:type="dcterms:W3CDTF">2026-10-28T18:43:20Z</dcterms:modified>
</cp:coreProperties>
</file>